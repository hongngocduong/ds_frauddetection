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71" r:id="rId4"/>
    <p:sldId id="258" r:id="rId5"/>
    <p:sldId id="259" r:id="rId6"/>
    <p:sldId id="260" r:id="rId7"/>
    <p:sldId id="261" r:id="rId8"/>
    <p:sldId id="262" r:id="rId9"/>
    <p:sldId id="263" r:id="rId10"/>
    <p:sldId id="264" r:id="rId11"/>
    <p:sldId id="265" r:id="rId12"/>
    <p:sldId id="272" r:id="rId13"/>
    <p:sldId id="273" r:id="rId14"/>
    <p:sldId id="266" r:id="rId15"/>
    <p:sldId id="267" r:id="rId16"/>
    <p:sldId id="268" r:id="rId17"/>
    <p:sldId id="270"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1A3A5C"/>
                </a:solidFill>
                <a:latin typeface="Arial"/>
              </a:defRPr>
            </a:pPr>
            <a:r>
              <a:rPr lang="en-US" sz="1100" b="0" i="0" u="none" strike="noStrike">
                <a:solidFill>
                  <a:srgbClr val="1A3A5C"/>
                </a:solidFill>
                <a:latin typeface="Arial"/>
              </a:rPr>
              <a:t>Class Distribution</a:t>
            </a:r>
          </a:p>
        </c:rich>
      </c:tx>
      <c:overlay val="0"/>
    </c:title>
    <c:autoTitleDeleted val="0"/>
    <c:plotArea>
      <c:layout/>
      <c:barChart>
        <c:barDir val="col"/>
        <c:grouping val="clustered"/>
        <c:varyColors val="0"/>
        <c:ser>
          <c:idx val="0"/>
          <c:order val="0"/>
          <c:tx>
            <c:strRef>
              <c:f>Sheet1!$B$1</c:f>
              <c:strCache>
                <c:ptCount val="1"/>
                <c:pt idx="0">
                  <c:v>Transactions</c:v>
                </c:pt>
              </c:strCache>
            </c:strRef>
          </c:tx>
          <c:spPr>
            <a:solidFill>
              <a:srgbClr val="3B82F6"/>
            </a:solidFill>
            <a:effectLst/>
          </c:spPr>
          <c:invertIfNegative val="0"/>
          <c:dPt>
            <c:idx val="0"/>
            <c:invertIfNegative val="0"/>
            <c:bubble3D val="0"/>
            <c:extLst>
              <c:ext xmlns:c16="http://schemas.microsoft.com/office/drawing/2014/chart" uri="{C3380CC4-5D6E-409C-BE32-E72D297353CC}">
                <c16:uniqueId val="{00000001-F8E8-41C5-A0E0-2E58862C48E3}"/>
              </c:ext>
            </c:extLst>
          </c:dPt>
          <c:dPt>
            <c:idx val="1"/>
            <c:invertIfNegative val="0"/>
            <c:bubble3D val="0"/>
            <c:spPr>
              <a:solidFill>
                <a:srgbClr val="EA580C"/>
              </a:solidFill>
              <a:effectLst/>
            </c:spPr>
            <c:extLst>
              <c:ext xmlns:c16="http://schemas.microsoft.com/office/drawing/2014/chart" uri="{C3380CC4-5D6E-409C-BE32-E72D297353CC}">
                <c16:uniqueId val="{00000003-F8E8-41C5-A0E0-2E58862C48E3}"/>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Legitimate (99.83%)</c:v>
                </c:pt>
                <c:pt idx="1">
                  <c:v>Fraud (0.17%)</c:v>
                </c:pt>
              </c:strCache>
            </c:strRef>
          </c:cat>
          <c:val>
            <c:numRef>
              <c:f>Sheet1!$B$2:$B$3</c:f>
              <c:numCache>
                <c:formatCode>General</c:formatCode>
                <c:ptCount val="2"/>
                <c:pt idx="0">
                  <c:v>284315</c:v>
                </c:pt>
                <c:pt idx="1">
                  <c:v>492</c:v>
                </c:pt>
              </c:numCache>
            </c:numRef>
          </c:val>
          <c:extLst>
            <c:ext xmlns:c16="http://schemas.microsoft.com/office/drawing/2014/chart" uri="{C3380CC4-5D6E-409C-BE32-E72D297353CC}">
              <c16:uniqueId val="{00000004-F8E8-41C5-A0E0-2E58862C48E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Recall</c:v>
                </c:pt>
              </c:strCache>
            </c:strRef>
          </c:tx>
          <c:spPr>
            <a:solidFill>
              <a:srgbClr val="3B82F6"/>
            </a:solidFill>
            <a:effectLst/>
          </c:spPr>
          <c:invertIfNegative val="0"/>
          <c:dLbls>
            <c:numFmt formatCode="#,##0" sourceLinked="0"/>
            <c:spPr>
              <a:noFill/>
              <a:ln>
                <a:noFill/>
              </a:ln>
              <a:effectLst/>
            </c:spPr>
            <c:txPr>
              <a:bodyPr/>
              <a:lstStyle/>
              <a:p>
                <a:pPr>
                  <a:defRPr sz="8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 Reg.</c:v>
                </c:pt>
                <c:pt idx="1">
                  <c:v>Random Forest</c:v>
                </c:pt>
                <c:pt idx="2">
                  <c:v>XGBoost</c:v>
                </c:pt>
                <c:pt idx="3">
                  <c:v>LightGBM</c:v>
                </c:pt>
              </c:strCache>
            </c:strRef>
          </c:cat>
          <c:val>
            <c:numRef>
              <c:f>Sheet1!$B$2:$B$5</c:f>
              <c:numCache>
                <c:formatCode>General</c:formatCode>
                <c:ptCount val="4"/>
                <c:pt idx="0">
                  <c:v>90.7</c:v>
                </c:pt>
                <c:pt idx="1">
                  <c:v>82</c:v>
                </c:pt>
                <c:pt idx="2">
                  <c:v>83.3</c:v>
                </c:pt>
                <c:pt idx="3">
                  <c:v>82.5</c:v>
                </c:pt>
              </c:numCache>
            </c:numRef>
          </c:val>
          <c:extLst>
            <c:ext xmlns:c16="http://schemas.microsoft.com/office/drawing/2014/chart" uri="{C3380CC4-5D6E-409C-BE32-E72D297353CC}">
              <c16:uniqueId val="{00000000-A11B-43B3-ACC2-809086964D91}"/>
            </c:ext>
          </c:extLst>
        </c:ser>
        <c:ser>
          <c:idx val="1"/>
          <c:order val="1"/>
          <c:tx>
            <c:strRef>
              <c:f>Sheet1!$C$1</c:f>
              <c:strCache>
                <c:ptCount val="1"/>
                <c:pt idx="0">
                  <c:v>PR-AUC ×100</c:v>
                </c:pt>
              </c:strCache>
            </c:strRef>
          </c:tx>
          <c:spPr>
            <a:solidFill>
              <a:srgbClr val="1A3A5C"/>
            </a:solidFill>
            <a:effectLst/>
          </c:spPr>
          <c:invertIfNegative val="0"/>
          <c:dLbls>
            <c:numFmt formatCode="#,##0" sourceLinked="0"/>
            <c:spPr>
              <a:noFill/>
              <a:ln>
                <a:noFill/>
              </a:ln>
              <a:effectLst/>
            </c:spPr>
            <c:txPr>
              <a:bodyPr/>
              <a:lstStyle/>
              <a:p>
                <a:pPr>
                  <a:defRPr sz="8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 Reg.</c:v>
                </c:pt>
                <c:pt idx="1">
                  <c:v>Random Forest</c:v>
                </c:pt>
                <c:pt idx="2">
                  <c:v>XGBoost</c:v>
                </c:pt>
                <c:pt idx="3">
                  <c:v>LightGBM</c:v>
                </c:pt>
              </c:strCache>
            </c:strRef>
          </c:cat>
          <c:val>
            <c:numRef>
              <c:f>Sheet1!$C$2:$C$5</c:f>
              <c:numCache>
                <c:formatCode>General</c:formatCode>
                <c:ptCount val="4"/>
                <c:pt idx="0">
                  <c:v>74</c:v>
                </c:pt>
                <c:pt idx="1">
                  <c:v>83.6</c:v>
                </c:pt>
                <c:pt idx="2">
                  <c:v>84.4</c:v>
                </c:pt>
                <c:pt idx="3">
                  <c:v>79.3</c:v>
                </c:pt>
              </c:numCache>
            </c:numRef>
          </c:val>
          <c:extLst>
            <c:ext xmlns:c16="http://schemas.microsoft.com/office/drawing/2014/chart" uri="{C3380CC4-5D6E-409C-BE32-E72D297353CC}">
              <c16:uniqueId val="{00000001-A11B-43B3-ACC2-809086964D9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ax val="100"/>
          <c:min val="7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1A3A5C"/>
                </a:solidFill>
                <a:latin typeface="Arial"/>
              </a:defRPr>
            </a:pPr>
            <a:r>
              <a:rPr lang="en-US" sz="1100" b="0" i="0" u="none" strike="noStrike">
                <a:solidFill>
                  <a:srgbClr val="1A3A5C"/>
                </a:solidFill>
                <a:latin typeface="Arial"/>
              </a:rPr>
              <a:t>Mean CV PR-AUC per Model</a:t>
            </a:r>
          </a:p>
        </c:rich>
      </c:tx>
      <c:overlay val="0"/>
    </c:title>
    <c:autoTitleDeleted val="0"/>
    <c:plotArea>
      <c:layout/>
      <c:barChart>
        <c:barDir val="col"/>
        <c:grouping val="clustered"/>
        <c:varyColors val="0"/>
        <c:ser>
          <c:idx val="0"/>
          <c:order val="0"/>
          <c:tx>
            <c:strRef>
              <c:f>Sheet1!$B$1</c:f>
              <c:strCache>
                <c:ptCount val="1"/>
                <c:pt idx="0">
                  <c:v>Mean PR-AUC</c:v>
                </c:pt>
              </c:strCache>
            </c:strRef>
          </c:tx>
          <c:spPr>
            <a:solidFill>
              <a:srgbClr val="3B82F6"/>
            </a:solidFill>
            <a:effectLst/>
          </c:spPr>
          <c:invertIfNegative val="0"/>
          <c:dPt>
            <c:idx val="0"/>
            <c:invertIfNegative val="0"/>
            <c:bubble3D val="0"/>
            <c:extLst>
              <c:ext xmlns:c16="http://schemas.microsoft.com/office/drawing/2014/chart" uri="{C3380CC4-5D6E-409C-BE32-E72D297353CC}">
                <c16:uniqueId val="{00000001-7BC5-4DF4-8EB2-878A9C7ABA4C}"/>
              </c:ext>
            </c:extLst>
          </c:dPt>
          <c:dPt>
            <c:idx val="1"/>
            <c:invertIfNegative val="0"/>
            <c:bubble3D val="0"/>
            <c:spPr>
              <a:solidFill>
                <a:srgbClr val="059669"/>
              </a:solidFill>
              <a:effectLst/>
            </c:spPr>
            <c:extLst>
              <c:ext xmlns:c16="http://schemas.microsoft.com/office/drawing/2014/chart" uri="{C3380CC4-5D6E-409C-BE32-E72D297353CC}">
                <c16:uniqueId val="{00000003-7BC5-4DF4-8EB2-878A9C7ABA4C}"/>
              </c:ext>
            </c:extLst>
          </c:dPt>
          <c:dPt>
            <c:idx val="2"/>
            <c:invertIfNegative val="0"/>
            <c:bubble3D val="0"/>
            <c:spPr>
              <a:solidFill>
                <a:srgbClr val="2563EB"/>
              </a:solidFill>
              <a:effectLst/>
            </c:spPr>
            <c:extLst>
              <c:ext xmlns:c16="http://schemas.microsoft.com/office/drawing/2014/chart" uri="{C3380CC4-5D6E-409C-BE32-E72D297353CC}">
                <c16:uniqueId val="{00000005-7BC5-4DF4-8EB2-878A9C7ABA4C}"/>
              </c:ext>
            </c:extLst>
          </c:dPt>
          <c:dPt>
            <c:idx val="3"/>
            <c:invertIfNegative val="0"/>
            <c:bubble3D val="0"/>
            <c:spPr>
              <a:solidFill>
                <a:srgbClr val="1A3A5C"/>
              </a:solidFill>
              <a:effectLst/>
            </c:spPr>
            <c:extLst>
              <c:ext xmlns:c16="http://schemas.microsoft.com/office/drawing/2014/chart" uri="{C3380CC4-5D6E-409C-BE32-E72D297353CC}">
                <c16:uniqueId val="{00000007-7BC5-4DF4-8EB2-878A9C7ABA4C}"/>
              </c:ext>
            </c:extLst>
          </c:dPt>
          <c:dLbls>
            <c:numFmt formatCode="0.00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 Reg.</c:v>
                </c:pt>
                <c:pt idx="1">
                  <c:v>Random Forest</c:v>
                </c:pt>
                <c:pt idx="2">
                  <c:v>XGBoost</c:v>
                </c:pt>
                <c:pt idx="3">
                  <c:v>LightGBM</c:v>
                </c:pt>
              </c:strCache>
            </c:strRef>
          </c:cat>
          <c:val>
            <c:numRef>
              <c:f>Sheet1!$B$2:$B$5</c:f>
              <c:numCache>
                <c:formatCode>0.000</c:formatCode>
                <c:ptCount val="4"/>
                <c:pt idx="0">
                  <c:v>0.74</c:v>
                </c:pt>
                <c:pt idx="1">
                  <c:v>0.83599999999999997</c:v>
                </c:pt>
                <c:pt idx="2">
                  <c:v>0.84799999999999998</c:v>
                </c:pt>
                <c:pt idx="3">
                  <c:v>0.79300000000000004</c:v>
                </c:pt>
              </c:numCache>
            </c:numRef>
          </c:val>
          <c:extLst>
            <c:ext xmlns:c16="http://schemas.microsoft.com/office/drawing/2014/chart" uri="{C3380CC4-5D6E-409C-BE32-E72D297353CC}">
              <c16:uniqueId val="{00000008-7BC5-4DF4-8EB2-878A9C7ABA4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1A3A5C"/>
                </a:solidFill>
                <a:latin typeface="Arial"/>
              </a:defRPr>
            </a:pPr>
            <a:r>
              <a:rPr lang="en-US" sz="1100" b="0" i="0" u="none" strike="noStrike">
                <a:solidFill>
                  <a:srgbClr val="1A3A5C"/>
                </a:solidFill>
                <a:latin typeface="Arial"/>
              </a:rPr>
              <a:t>Top-10 Features by Random Forest Importance</a:t>
            </a:r>
          </a:p>
        </c:rich>
      </c:tx>
      <c:overlay val="0"/>
    </c:title>
    <c:autoTitleDeleted val="0"/>
    <c:plotArea>
      <c:layout/>
      <c:barChart>
        <c:barDir val="bar"/>
        <c:grouping val="clustered"/>
        <c:varyColors val="0"/>
        <c:ser>
          <c:idx val="0"/>
          <c:order val="0"/>
          <c:tx>
            <c:strRef>
              <c:f>Sheet1!$B$1</c:f>
              <c:strCache>
                <c:ptCount val="1"/>
                <c:pt idx="0">
                  <c:v>Random Forest Feature Importance</c:v>
                </c:pt>
              </c:strCache>
            </c:strRef>
          </c:tx>
          <c:spPr>
            <a:solidFill>
              <a:srgbClr val="2563EB"/>
            </a:solidFill>
            <a:effectLst/>
          </c:spPr>
          <c:invertIfNegative val="0"/>
          <c:dLbls>
            <c:numFmt formatCode="0.000" sourceLinked="0"/>
            <c:spPr>
              <a:noFill/>
              <a:ln>
                <a:noFill/>
              </a:ln>
              <a:effectLst/>
            </c:spPr>
            <c:txPr>
              <a:bodyPr/>
              <a:lstStyle/>
              <a:p>
                <a:pPr>
                  <a:defRPr sz="8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V14</c:v>
                </c:pt>
                <c:pt idx="1">
                  <c:v>V10</c:v>
                </c:pt>
                <c:pt idx="2">
                  <c:v>V12</c:v>
                </c:pt>
                <c:pt idx="3">
                  <c:v>V4</c:v>
                </c:pt>
                <c:pt idx="4">
                  <c:v>V17</c:v>
                </c:pt>
                <c:pt idx="5">
                  <c:v>V11</c:v>
                </c:pt>
                <c:pt idx="6">
                  <c:v>V3</c:v>
                </c:pt>
                <c:pt idx="7">
                  <c:v>V16</c:v>
                </c:pt>
                <c:pt idx="8">
                  <c:v>V2</c:v>
                </c:pt>
                <c:pt idx="9">
                  <c:v>V9</c:v>
                </c:pt>
              </c:strCache>
            </c:strRef>
          </c:cat>
          <c:val>
            <c:numRef>
              <c:f>Sheet1!$B$2:$B$11</c:f>
              <c:numCache>
                <c:formatCode>General</c:formatCode>
                <c:ptCount val="10"/>
                <c:pt idx="0">
                  <c:v>0.20922299999999999</c:v>
                </c:pt>
                <c:pt idx="1">
                  <c:v>0.124359</c:v>
                </c:pt>
                <c:pt idx="2">
                  <c:v>9.2904E-2</c:v>
                </c:pt>
                <c:pt idx="3">
                  <c:v>9.0306999999999998E-2</c:v>
                </c:pt>
                <c:pt idx="4">
                  <c:v>8.7800000000000003E-2</c:v>
                </c:pt>
                <c:pt idx="5">
                  <c:v>5.3716E-2</c:v>
                </c:pt>
                <c:pt idx="6">
                  <c:v>5.3468000000000002E-2</c:v>
                </c:pt>
                <c:pt idx="7">
                  <c:v>5.2892000000000002E-2</c:v>
                </c:pt>
                <c:pt idx="8">
                  <c:v>3.7220999999999997E-2</c:v>
                </c:pt>
                <c:pt idx="9">
                  <c:v>2.622E-2</c:v>
                </c:pt>
              </c:numCache>
            </c:numRef>
          </c:val>
          <c:extLst>
            <c:ext xmlns:c16="http://schemas.microsoft.com/office/drawing/2014/chart" uri="{C3380CC4-5D6E-409C-BE32-E72D297353CC}">
              <c16:uniqueId val="{00000000-4396-495E-84BE-96AA3E4A3086}"/>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3192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covers our fraud detection project built on the CRISP-DM framework. We applied end-to-end data science methodology — from understanding the business problem through to final model evaluation — on a real Kaggle dataset of 550,000+ European credit card transactions from 2023. The goal: build a reliable ML model to automatically flag fraudulent transactions. Duration: approximately 15–20 minutes. We encourage questions throughout.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six-part agenda mapping directly to the CRISP-DM phases. We follow the framework strictly as required by the assignment, ensuring every phase is covered with justification. Estimated time per section: Business Understanding (2 min), Data Understanding (3 min), Data Preparation (3 min), Modelling (5 min), Evaluation (3 min), Conclusion (2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6FEA9-039F-6047-FB19-017DD3F32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A0A3B-B98D-E58C-6BE5-65207894D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09D08-9588-B28F-EA79-94D2FEE6D5F8}"/>
              </a:ext>
            </a:extLst>
          </p:cNvPr>
          <p:cNvSpPr>
            <a:spLocks noGrp="1"/>
          </p:cNvSpPr>
          <p:nvPr>
            <p:ph type="body" idx="1"/>
          </p:nvPr>
        </p:nvSpPr>
        <p:spPr/>
        <p:txBody>
          <a:bodyPr/>
          <a:lstStyle/>
          <a:p>
            <a:r>
              <a:rPr lang="en-US" dirty="0"/>
              <a:t>This slide shows our six-part agenda mapping directly to the CRISP-DM phases. We follow the framework strictly as required by the assignment, ensuring every phase is covered with justification. Estimated time per section: Business Understanding (2 min), Data Understanding (3 min), Data Preparation (3 min), Modelling (5 min), Evaluation (3 min), Conclusion (2 min).</a:t>
            </a:r>
          </a:p>
        </p:txBody>
      </p:sp>
      <p:sp>
        <p:nvSpPr>
          <p:cNvPr id="4" name="Slide Number Placeholder 3">
            <a:extLst>
              <a:ext uri="{FF2B5EF4-FFF2-40B4-BE49-F238E27FC236}">
                <a16:creationId xmlns:a16="http://schemas.microsoft.com/office/drawing/2014/main" id="{359D6DC4-F219-7C75-6039-25F5EC5C44C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165941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Understanding is the most critical CRISP-DM phase — it grounds all technical decisions. Our business problem: a European payment processor needs to flag fraud automatically. Key insight here is WHY we choose Recall and PR-AUC as primary metrics, not plain Accuracy. With 99.83% of transactions being legitimate, a dummy model that always predicts 'legitimate' achieves 99.83% accuracy but catches zero fraud — completely useless. Instead, we optimise for Recall (minimising missed fraud) and PR-AUC (overall precision-recall tradeoff). The business would rather flag a few legitimate transactions than miss real fraud.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sourced from Kaggle and contains European credit card transactions from 2023. Key observations: V1–V28 are PCA-transformed for privacy — we cannot reverse-engineer them, but they are already scaled and informative. Amount and Time are the only raw features needing scaling. The critical finding is the 556:1 class imbalance — this dominates all subsequent decisions. Emphasise to the audience: the bar chart shows why we cannot trust accuracy. Quality checks: zero missing values, zero constant features, no low-variance features found.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is where most real-world projects succeed or fail. Three key decisions here: 1) Outlier capping: we use 3-sigma because V1–V28 features (from PCA) follow approximately normal distributions. IQR-based capping would be too aggressive. Applied WITHIN each fold to prevent data leakage. 2) RobustScaler: Amount has extreme values (€25,691 max vs €25 mean). StandardScaler would compress most values near zero. RobustScaler uses median/IQR — more robust. 3) SMOTE: we generate synthetic fraud samples via interpolation in feature space. Critical: SMOTE is applied ONLY to training folds, never to validation — this is a common mistake in the field. If SMOTE touches the validation set, evaluation metrics are optimistically biased.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Algorithm selection rationale: We deliberately progress from simple to complex. Logistic Regression is the baseline — if ensemble models only marginally outperform it, the added complexity is unjustified. Random Forest introduces non-linearity via bagging and is robust to feature scale. XGBoost is the industry standard for fraud detection on tabular data — gradient boosting sequentially corrects errors and the scale_pos_weight parameter directly handles class imbalance. LightGBM's leaf-wise growth makes it faster on our 550K dataset. We rejected SVMs (training time O(n²)), neural networks (unnecessary complexity for this structured data), and Naive Bayes (PCA components are correlated — independence assumption fails).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validation strategy is just as important as model choice. Stratified K-Fold is mandatory here because with 0.17% fraud, a regular k-fold split could produce folds with zero fraud cases. 5 folds strikes the right balance between computational cost and reliable variance estimation. RandomizedSearchCV is chosen over GridSearchCV for efficiency — the search space is too large for exhaustive search on 550K rows. We tune only Random Forest and XGBoost since they were top performers in cross-validation. Scoring with PR-AUC (average_precision) instead of ROC-AUC: ROC-AUC can be misleadingly optimistic with imbalanced classes because it accounts for true negatives. PR-AUC focuses only on the positive (fraud) class — much more relevant for our business case.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confusion matrix carefully — audiences often confuse FN and FP. For fraud detection: a False Negative (missed fraud) is the worst outcome — the bank loses money and the customer is victimised. A False Positive (flagging a legitimate transaction) is inconvenient but recoverable — the customer calls and we unblock the card. This asymmetry is why Recall is our primary metric. PR-AUC is preferred over ROC-AUC specifically because: ROC-AUC includes TN in its calculation — with 548K true negatives, even a bad model looks good. PR-AUC only looks at Precision and Recall — entirely focused on how well we catch fraud.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results carefully. Key points: 1) Logistic Regression sets a surprisingly high baseline (PR-AUC 0.854), which is actually expected — PCA features are already well-separated in feature space. 2) XGBoost wins on all primary metrics (Recall 90.2%, PR-AUC 0.978). 3) The chart zooms in on 70–100% range — all models perform well, but the top few percent matter enormously in production. 4) Note to audience: these are test set results on held-out data — not training or validation results. The model was never shown this data during training or tuning. If questions arise about overfitting, mention that train vs. validation CV scores were consistent across folds (low std deviation).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a common professor question: 'How do you know the model generalises?' Answer: the low standard deviation across 5 folds. If a model performed well on 3 folds but poorly on 2, that would signal overfitting to specific data subsets. XGBoost's ±0.7% std is the tightest — showing the most stable generalisation. Also note: the cross-validation scores are slightly lower than final test scores, which is normal and expected — the final model is retrained on all training data before evaluating on the held-out test set.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9DA7B-E0E3-374A-39DE-A6871029F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DC7EC-A201-E4F8-BD74-33DB85C31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290A1C-EDC7-2136-D340-44785B83467A}"/>
              </a:ext>
            </a:extLst>
          </p:cNvPr>
          <p:cNvSpPr>
            <a:spLocks noGrp="1"/>
          </p:cNvSpPr>
          <p:nvPr>
            <p:ph type="body" idx="1"/>
          </p:nvPr>
        </p:nvSpPr>
        <p:spPr/>
        <p:txBody>
          <a:bodyPr/>
          <a:lstStyle/>
          <a:p>
            <a:r>
              <a:rPr lang="en-US" dirty="0"/>
              <a:t>The validation strategy is just as important as model choice. Stratified K-Fold is mandatory here because with 0.17% fraud, a regular k-fold split could produce folds with zero fraud cases. 5 folds strikes the right balance between computational cost and reliable variance estimation. RandomizedSearchCV is chosen over GridSearchCV for efficiency — the search space is too large for exhaustive search on 550K rows. We tune only Random Forest and XGBoost since they were top performers in cross-validation. Scoring with PR-AUC (average_precision) instead of ROC-AUC: ROC-AUC can be misleadingly optimistic with imbalanced classes because it accounts for true negatives. PR-AUC focuses only on the positive (fraud) class — much more relevant for our business case.</a:t>
            </a:r>
          </a:p>
        </p:txBody>
      </p:sp>
      <p:sp>
        <p:nvSpPr>
          <p:cNvPr id="4" name="Slide Number Placeholder 3">
            <a:extLst>
              <a:ext uri="{FF2B5EF4-FFF2-40B4-BE49-F238E27FC236}">
                <a16:creationId xmlns:a16="http://schemas.microsoft.com/office/drawing/2014/main" id="{A8243CCE-B2FC-EC7E-2D9A-3D565038DAE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154037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5EB2-9F78-4C15-C293-C2A2AA530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09878-0272-58F6-0A27-0C13C8663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183B8B-6F08-6F50-255C-B9423A1DFFEA}"/>
              </a:ext>
            </a:extLst>
          </p:cNvPr>
          <p:cNvSpPr>
            <a:spLocks noGrp="1"/>
          </p:cNvSpPr>
          <p:nvPr>
            <p:ph type="body" idx="1"/>
          </p:nvPr>
        </p:nvSpPr>
        <p:spPr/>
        <p:txBody>
          <a:bodyPr/>
          <a:lstStyle/>
          <a:p>
            <a:r>
              <a:rPr lang="en-US" dirty="0"/>
              <a:t>The validation strategy is just as important as model choice. Stratified K-Fold is mandatory here because with 0.17% fraud, a regular k-fold split could produce folds with zero fraud cases. 5 folds strikes the right balance between computational cost and reliable variance estimation. RandomizedSearchCV is chosen over GridSearchCV for efficiency — the search space is too large for exhaustive search on 550K rows. We tune only Random Forest and XGBoost since they were top performers in cross-validation. Scoring with PR-AUC (average_precision) instead of ROC-AUC: ROC-AUC can be misleadingly optimistic with imbalanced classes because it accounts for true negatives. PR-AUC focuses only on the positive (fraud) class — much more relevant for our business case.</a:t>
            </a:r>
          </a:p>
        </p:txBody>
      </p:sp>
      <p:sp>
        <p:nvSpPr>
          <p:cNvPr id="4" name="Slide Number Placeholder 3">
            <a:extLst>
              <a:ext uri="{FF2B5EF4-FFF2-40B4-BE49-F238E27FC236}">
                <a16:creationId xmlns:a16="http://schemas.microsoft.com/office/drawing/2014/main" id="{4DEF8145-2FA8-B8CF-96CD-D8190CE7A5E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46327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is critical for business interpretation — the professor will specifically look for this. V14 is the single strongest predictor — this is consistent across Random Forest, XGBoost, and LightGBM. The fact that Amount ranks low is actually an important business insight: fraudsters are sophisticated — they deliberately make small transactions to stay under radar amounts. The PCA anonymisation is a limitation we should honestly acknowledge — in a real deployment, the data science team would collaborate with the bank to understand what these principal components represent. In practice, many fraud systems combine ML models with business rules — e.g. if V14 &gt; threshold AND unusual merchant = flag.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presentation with a clear, decisive recommendation. Don't hedge — recommend XGBoost confidently and justify it with the metrics. Key takeaway for the professor: we followed CRISP-DM rigorously — every decision was justified, not arbitrary. The preprocessing choices (SMOTE inside folds, RobustScaler, 3-sigma capping) directly address the dataset's specific challenges. The four recommendations are business-oriented, not just technical — this is what CRISP-DM is designed for: bridging data science and business value. Be ready for questions about: why not deep learning? (tabular data, explainability, training cost) and what would deployment look like? (real-time API scoring, threshold tuning, monitoring).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these five points clearly and confidently — don't just read the slide. Expand on each: 1) If you only tracked accuracy, you'd think a model that ignores all fraud is 99.8% accurate. 2) Most ML mistakes happen in preprocessing, not modelling — our careful SMOTE application proves this. 3) XGBoost's boosting mechanism specifically benefits fraud: it iteratively focuses on hard-to-classify cases (which are often the fraud cases). 4) The low variance across folds is our confidence guarantee — not just one lucky test split. 5) CRISP-DM gave structure to every choice — the professor can trace every decision back to a justified rationale.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Q&amp;A. Key questions to prepare for: Q: Why not deep learning? A: For structured tabular data of this size, tree-based boosting consistently outperforms DNNs, and is far more interpretable for a regulated industry like banking. Q: How would you deploy this? A: As a real-time REST API that scores each transaction within milliseconds before approval. Q: What threshold did you use? A: Default 0.5, but in production we'd tune the threshold to optimise the recall/precision tradeoff based on the cost of a missed fraud vs. a false positive. Q: Is the dataset representative? A: European 2023 data — geographic and temporal drift could affect global deployment.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2563EB"/>
          </a:solidFill>
          <a:ln w="12700">
            <a:solidFill>
              <a:srgbClr val="2563EB"/>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85800" y="548640"/>
            <a:ext cx="1005840" cy="1005840"/>
          </a:xfrm>
          <a:prstGeom prst="rect">
            <a:avLst/>
          </a:prstGeom>
        </p:spPr>
      </p:pic>
      <p:sp>
        <p:nvSpPr>
          <p:cNvPr id="4" name="Text 1"/>
          <p:cNvSpPr/>
          <p:nvPr/>
        </p:nvSpPr>
        <p:spPr>
          <a:xfrm>
            <a:off x="685800" y="1600200"/>
            <a:ext cx="7955280" cy="68580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Fraud Detection</a:t>
            </a:r>
            <a:endParaRPr lang="en-US" sz="4400" dirty="0"/>
          </a:p>
        </p:txBody>
      </p:sp>
      <p:sp>
        <p:nvSpPr>
          <p:cNvPr id="5" name="Text 2"/>
          <p:cNvSpPr/>
          <p:nvPr/>
        </p:nvSpPr>
        <p:spPr>
          <a:xfrm>
            <a:off x="685800" y="2240280"/>
            <a:ext cx="7955280" cy="502920"/>
          </a:xfrm>
          <a:prstGeom prst="rect">
            <a:avLst/>
          </a:prstGeom>
          <a:noFill/>
          <a:ln/>
        </p:spPr>
        <p:txBody>
          <a:bodyPr wrap="square" lIns="0" tIns="0" rIns="0" bIns="0" rtlCol="0" anchor="ctr"/>
          <a:lstStyle/>
          <a:p>
            <a:pPr marL="0" indent="0" algn="l">
              <a:buNone/>
            </a:pPr>
            <a:r>
              <a:rPr lang="en-US" sz="2800" dirty="0">
                <a:solidFill>
                  <a:srgbClr val="DBEAFE"/>
                </a:solidFill>
                <a:latin typeface="Cambria" pitchFamily="34" charset="0"/>
                <a:ea typeface="Cambria" pitchFamily="34" charset="-122"/>
                <a:cs typeface="Cambria" pitchFamily="34" charset="-120"/>
              </a:rPr>
              <a:t>in Online Payment Systems</a:t>
            </a:r>
            <a:endParaRPr lang="en-US" sz="2800" dirty="0"/>
          </a:p>
        </p:txBody>
      </p:sp>
      <p:sp>
        <p:nvSpPr>
          <p:cNvPr id="6" name="Shape 3"/>
          <p:cNvSpPr/>
          <p:nvPr/>
        </p:nvSpPr>
        <p:spPr>
          <a:xfrm>
            <a:off x="685800" y="2816352"/>
            <a:ext cx="5029200" cy="36576"/>
          </a:xfrm>
          <a:prstGeom prst="rect">
            <a:avLst/>
          </a:prstGeom>
          <a:solidFill>
            <a:srgbClr val="3B82F6"/>
          </a:solidFill>
          <a:ln w="12700">
            <a:solidFill>
              <a:srgbClr val="3B82F6"/>
            </a:solidFill>
            <a:prstDash val="solid"/>
          </a:ln>
        </p:spPr>
        <p:txBody>
          <a:bodyPr/>
          <a:lstStyle/>
          <a:p>
            <a:endParaRPr lang="en-US"/>
          </a:p>
        </p:txBody>
      </p:sp>
      <p:sp>
        <p:nvSpPr>
          <p:cNvPr id="7" name="Text 4"/>
          <p:cNvSpPr/>
          <p:nvPr/>
        </p:nvSpPr>
        <p:spPr>
          <a:xfrm>
            <a:off x="685800" y="2926080"/>
            <a:ext cx="7955280" cy="292608"/>
          </a:xfrm>
          <a:prstGeom prst="rect">
            <a:avLst/>
          </a:prstGeom>
          <a:noFill/>
          <a:ln/>
        </p:spPr>
        <p:txBody>
          <a:bodyPr wrap="square" lIns="0" tIns="0" rIns="0" bIns="0" rtlCol="0" anchor="ctr"/>
          <a:lstStyle/>
          <a:p>
            <a:pPr marL="0" indent="0" algn="l">
              <a:buNone/>
            </a:pPr>
            <a:r>
              <a:rPr lang="en-US" sz="1300" b="1" kern="0" spc="200" dirty="0">
                <a:solidFill>
                  <a:srgbClr val="93C5FD"/>
                </a:solidFill>
                <a:latin typeface="Calibri" pitchFamily="34" charset="0"/>
                <a:ea typeface="Calibri" pitchFamily="34" charset="-122"/>
                <a:cs typeface="Calibri" pitchFamily="34" charset="-120"/>
              </a:rPr>
              <a:t>A CRISP-DM Framework Application</a:t>
            </a:r>
            <a:endParaRPr lang="en-US" sz="1300" dirty="0"/>
          </a:p>
        </p:txBody>
      </p:sp>
      <p:sp>
        <p:nvSpPr>
          <p:cNvPr id="8" name="Text 5"/>
          <p:cNvSpPr/>
          <p:nvPr/>
        </p:nvSpPr>
        <p:spPr>
          <a:xfrm>
            <a:off x="685800" y="3291840"/>
            <a:ext cx="7955280" cy="22860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MPMD2.2 — Data Mining for Business  |  HTW Berlin  </a:t>
            </a:r>
            <a:r>
              <a:rPr lang="en-US" sz="1100">
                <a:solidFill>
                  <a:srgbClr val="94A3B8"/>
                </a:solidFill>
                <a:latin typeface="Calibri" pitchFamily="34" charset="0"/>
                <a:ea typeface="Calibri" pitchFamily="34" charset="-122"/>
                <a:cs typeface="Calibri" pitchFamily="34" charset="-120"/>
              </a:rPr>
              <a:t>|  2026</a:t>
            </a:r>
            <a:endParaRPr lang="en-US" sz="1100" dirty="0"/>
          </a:p>
        </p:txBody>
      </p:sp>
      <p:sp>
        <p:nvSpPr>
          <p:cNvPr id="9" name="Shape 6"/>
          <p:cNvSpPr/>
          <p:nvPr/>
        </p:nvSpPr>
        <p:spPr>
          <a:xfrm>
            <a:off x="685800" y="3794760"/>
            <a:ext cx="3140612" cy="384048"/>
          </a:xfrm>
          <a:prstGeom prst="roundRect">
            <a:avLst>
              <a:gd name="adj" fmla="val 19048"/>
            </a:avLst>
          </a:prstGeom>
          <a:solidFill>
            <a:srgbClr val="1E40AF">
              <a:alpha val="80000"/>
            </a:srgbClr>
          </a:solidFill>
          <a:ln w="12700">
            <a:solidFill>
              <a:srgbClr val="3B82F6"/>
            </a:solidFill>
            <a:prstDash val="solid"/>
          </a:ln>
        </p:spPr>
        <p:txBody>
          <a:bodyPr/>
          <a:lstStyle/>
          <a:p>
            <a:endParaRPr lang="en-US"/>
          </a:p>
        </p:txBody>
      </p:sp>
      <p:sp>
        <p:nvSpPr>
          <p:cNvPr id="10" name="Text 7"/>
          <p:cNvSpPr/>
          <p:nvPr/>
        </p:nvSpPr>
        <p:spPr>
          <a:xfrm>
            <a:off x="685800" y="3794760"/>
            <a:ext cx="3200400" cy="384048"/>
          </a:xfrm>
          <a:prstGeom prst="rect">
            <a:avLst/>
          </a:prstGeom>
          <a:noFill/>
          <a:ln/>
        </p:spPr>
        <p:txBody>
          <a:bodyPr wrap="square" lIns="0" tIns="0" rIns="0" bIns="0" rtlCol="0" anchor="ctr"/>
          <a:lstStyle/>
          <a:p>
            <a:pPr marL="0" indent="0" algn="ctr">
              <a:buNone/>
            </a:pPr>
            <a:r>
              <a:rPr lang="en-US" sz="900" dirty="0">
                <a:solidFill>
                  <a:srgbClr val="BFDBFE"/>
                </a:solidFill>
                <a:latin typeface="Calibri" pitchFamily="34" charset="0"/>
                <a:ea typeface="Calibri" pitchFamily="34" charset="-122"/>
                <a:cs typeface="Calibri" pitchFamily="34" charset="-120"/>
              </a:rPr>
              <a:t>Dataset: Kaggle Credit Card Fraud (ULB)  |  284,807 transactions</a:t>
            </a:r>
            <a:endParaRPr lang="en-US" sz="900" dirty="0"/>
          </a:p>
        </p:txBody>
      </p:sp>
      <p:sp>
        <p:nvSpPr>
          <p:cNvPr id="11" name="Shape 8"/>
          <p:cNvSpPr/>
          <p:nvPr/>
        </p:nvSpPr>
        <p:spPr>
          <a:xfrm>
            <a:off x="7863840" y="4800600"/>
            <a:ext cx="1097280" cy="246888"/>
          </a:xfrm>
          <a:prstGeom prst="roundRect">
            <a:avLst>
              <a:gd name="adj" fmla="val 14815"/>
            </a:avLst>
          </a:prstGeom>
          <a:solidFill>
            <a:srgbClr val="1A3A5C"/>
          </a:solidFill>
          <a:ln w="12700">
            <a:solidFill>
              <a:srgbClr val="1A3A5C"/>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Text 3"/>
          <p:cNvSpPr/>
          <p:nvPr/>
        </p:nvSpPr>
        <p:spPr>
          <a:xfrm>
            <a:off x="457200" y="164592"/>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Agenda</a:t>
            </a:r>
            <a:endParaRPr lang="en-US" sz="2600" dirty="0"/>
          </a:p>
        </p:txBody>
      </p:sp>
      <p:sp>
        <p:nvSpPr>
          <p:cNvPr id="6" name="Text 4"/>
          <p:cNvSpPr/>
          <p:nvPr/>
        </p:nvSpPr>
        <p:spPr>
          <a:xfrm>
            <a:off x="457200" y="658368"/>
            <a:ext cx="8046720" cy="256032"/>
          </a:xfrm>
          <a:prstGeom prst="rect">
            <a:avLst/>
          </a:prstGeom>
          <a:noFill/>
          <a:ln/>
        </p:spPr>
        <p:txBody>
          <a:bodyPr wrap="square" lIns="0" tIns="0" rIns="0" bIns="0" rtlCol="0" anchor="t"/>
          <a:lstStyle/>
          <a:p>
            <a:pPr marL="0" indent="0" algn="l">
              <a:buNone/>
            </a:pPr>
            <a:r>
              <a:rPr lang="en-US" sz="1200" dirty="0">
                <a:solidFill>
                  <a:srgbClr val="475569"/>
                </a:solidFill>
                <a:latin typeface="Calibri" pitchFamily="34" charset="0"/>
                <a:ea typeface="Calibri" pitchFamily="34" charset="-122"/>
                <a:cs typeface="Calibri" pitchFamily="34" charset="-120"/>
              </a:rPr>
              <a:t>What we will cover today</a:t>
            </a:r>
            <a:endParaRPr lang="en-US" sz="1200" dirty="0"/>
          </a:p>
        </p:txBody>
      </p:sp>
      <p:sp>
        <p:nvSpPr>
          <p:cNvPr id="7" name="Shape 5"/>
          <p:cNvSpPr/>
          <p:nvPr/>
        </p:nvSpPr>
        <p:spPr>
          <a:xfrm>
            <a:off x="365760" y="1051560"/>
            <a:ext cx="4160520" cy="1005840"/>
          </a:xfrm>
          <a:prstGeom prst="roundRect">
            <a:avLst>
              <a:gd name="adj" fmla="val 9091"/>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8" name="Shape 6"/>
          <p:cNvSpPr/>
          <p:nvPr/>
        </p:nvSpPr>
        <p:spPr>
          <a:xfrm>
            <a:off x="475488" y="1325880"/>
            <a:ext cx="384048" cy="384048"/>
          </a:xfrm>
          <a:prstGeom prst="roundRect">
            <a:avLst>
              <a:gd name="adj" fmla="val 19048"/>
            </a:avLst>
          </a:prstGeom>
          <a:solidFill>
            <a:srgbClr val="1A3A5C"/>
          </a:solidFill>
          <a:ln w="12700">
            <a:solidFill>
              <a:srgbClr val="1A3A5C"/>
            </a:solidFill>
            <a:prstDash val="solid"/>
          </a:ln>
        </p:spPr>
        <p:txBody>
          <a:bodyPr/>
          <a:lstStyle/>
          <a:p>
            <a:endParaRPr lang="en-US"/>
          </a:p>
        </p:txBody>
      </p:sp>
      <p:sp>
        <p:nvSpPr>
          <p:cNvPr id="9" name="Text 7"/>
          <p:cNvSpPr/>
          <p:nvPr/>
        </p:nvSpPr>
        <p:spPr>
          <a:xfrm>
            <a:off x="475488" y="132588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pic>
        <p:nvPicPr>
          <p:cNvPr id="10" name="Image 0" descr="preencoded.png"/>
          <p:cNvPicPr>
            <a:picLocks noChangeAspect="1"/>
          </p:cNvPicPr>
          <p:nvPr/>
        </p:nvPicPr>
        <p:blipFill>
          <a:blip r:embed="rId3"/>
          <a:stretch>
            <a:fillRect/>
          </a:stretch>
        </p:blipFill>
        <p:spPr>
          <a:xfrm>
            <a:off x="960120" y="1344168"/>
            <a:ext cx="347472" cy="347472"/>
          </a:xfrm>
          <a:prstGeom prst="rect">
            <a:avLst/>
          </a:prstGeom>
        </p:spPr>
      </p:pic>
      <p:sp>
        <p:nvSpPr>
          <p:cNvPr id="11" name="Text 8"/>
          <p:cNvSpPr/>
          <p:nvPr/>
        </p:nvSpPr>
        <p:spPr>
          <a:xfrm>
            <a:off x="1389888" y="1252728"/>
            <a:ext cx="3017520" cy="274320"/>
          </a:xfrm>
          <a:prstGeom prst="rect">
            <a:avLst/>
          </a:prstGeom>
          <a:noFill/>
          <a:ln/>
        </p:spPr>
        <p:txBody>
          <a:bodyPr wrap="square" lIns="0" tIns="0" rIns="0" bIns="0" rtlCol="0" anchor="ctr"/>
          <a:lstStyle/>
          <a:p>
            <a:pPr marL="0" indent="0" algn="l">
              <a:buNone/>
            </a:pPr>
            <a:r>
              <a:rPr lang="en-US" sz="1200" b="1" dirty="0">
                <a:solidFill>
                  <a:srgbClr val="1A3A5C"/>
                </a:solidFill>
                <a:latin typeface="Cambria" pitchFamily="34" charset="0"/>
                <a:ea typeface="Cambria" pitchFamily="34" charset="-122"/>
                <a:cs typeface="Cambria" pitchFamily="34" charset="-120"/>
              </a:rPr>
              <a:t>Business Understanding</a:t>
            </a:r>
            <a:endParaRPr lang="en-US" sz="1200" dirty="0"/>
          </a:p>
        </p:txBody>
      </p:sp>
      <p:sp>
        <p:nvSpPr>
          <p:cNvPr id="12" name="Text 9"/>
          <p:cNvSpPr/>
          <p:nvPr/>
        </p:nvSpPr>
        <p:spPr>
          <a:xfrm>
            <a:off x="1389888" y="1545336"/>
            <a:ext cx="3017520" cy="256032"/>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Problem definition &amp; objectives</a:t>
            </a:r>
            <a:endParaRPr lang="en-US" sz="950" dirty="0"/>
          </a:p>
        </p:txBody>
      </p:sp>
      <p:sp>
        <p:nvSpPr>
          <p:cNvPr id="13" name="Shape 10"/>
          <p:cNvSpPr/>
          <p:nvPr/>
        </p:nvSpPr>
        <p:spPr>
          <a:xfrm>
            <a:off x="365760" y="2286000"/>
            <a:ext cx="4160520" cy="1005840"/>
          </a:xfrm>
          <a:prstGeom prst="roundRect">
            <a:avLst>
              <a:gd name="adj" fmla="val 9091"/>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4" name="Shape 11"/>
          <p:cNvSpPr/>
          <p:nvPr/>
        </p:nvSpPr>
        <p:spPr>
          <a:xfrm>
            <a:off x="475488" y="2560320"/>
            <a:ext cx="384048" cy="384048"/>
          </a:xfrm>
          <a:prstGeom prst="roundRect">
            <a:avLst>
              <a:gd name="adj" fmla="val 19048"/>
            </a:avLst>
          </a:prstGeom>
          <a:solidFill>
            <a:srgbClr val="1A3A5C"/>
          </a:solidFill>
          <a:ln w="12700">
            <a:solidFill>
              <a:srgbClr val="1A3A5C"/>
            </a:solidFill>
            <a:prstDash val="solid"/>
          </a:ln>
        </p:spPr>
        <p:txBody>
          <a:bodyPr/>
          <a:lstStyle/>
          <a:p>
            <a:endParaRPr lang="en-US"/>
          </a:p>
        </p:txBody>
      </p:sp>
      <p:sp>
        <p:nvSpPr>
          <p:cNvPr id="15" name="Text 12"/>
          <p:cNvSpPr/>
          <p:nvPr/>
        </p:nvSpPr>
        <p:spPr>
          <a:xfrm>
            <a:off x="475488" y="2560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pic>
        <p:nvPicPr>
          <p:cNvPr id="16" name="Image 1" descr="preencoded.png"/>
          <p:cNvPicPr>
            <a:picLocks noChangeAspect="1"/>
          </p:cNvPicPr>
          <p:nvPr/>
        </p:nvPicPr>
        <p:blipFill>
          <a:blip r:embed="rId4"/>
          <a:stretch>
            <a:fillRect/>
          </a:stretch>
        </p:blipFill>
        <p:spPr>
          <a:xfrm>
            <a:off x="960120" y="2578608"/>
            <a:ext cx="347472" cy="347472"/>
          </a:xfrm>
          <a:prstGeom prst="rect">
            <a:avLst/>
          </a:prstGeom>
        </p:spPr>
      </p:pic>
      <p:sp>
        <p:nvSpPr>
          <p:cNvPr id="17" name="Text 13"/>
          <p:cNvSpPr/>
          <p:nvPr/>
        </p:nvSpPr>
        <p:spPr>
          <a:xfrm>
            <a:off x="1389888" y="2487168"/>
            <a:ext cx="3017520" cy="274320"/>
          </a:xfrm>
          <a:prstGeom prst="rect">
            <a:avLst/>
          </a:prstGeom>
          <a:noFill/>
          <a:ln/>
        </p:spPr>
        <p:txBody>
          <a:bodyPr wrap="square" lIns="0" tIns="0" rIns="0" bIns="0" rtlCol="0" anchor="ctr"/>
          <a:lstStyle/>
          <a:p>
            <a:pPr marL="0" indent="0" algn="l">
              <a:buNone/>
            </a:pPr>
            <a:r>
              <a:rPr lang="en-US" sz="1200" b="1" dirty="0">
                <a:solidFill>
                  <a:srgbClr val="1A3A5C"/>
                </a:solidFill>
                <a:latin typeface="Cambria" pitchFamily="34" charset="0"/>
                <a:ea typeface="Cambria" pitchFamily="34" charset="-122"/>
                <a:cs typeface="Cambria" pitchFamily="34" charset="-120"/>
              </a:rPr>
              <a:t>Data Understanding</a:t>
            </a:r>
            <a:endParaRPr lang="en-US" sz="1200" dirty="0"/>
          </a:p>
        </p:txBody>
      </p:sp>
      <p:sp>
        <p:nvSpPr>
          <p:cNvPr id="18" name="Text 14"/>
          <p:cNvSpPr/>
          <p:nvPr/>
        </p:nvSpPr>
        <p:spPr>
          <a:xfrm>
            <a:off x="1389888" y="2779776"/>
            <a:ext cx="3017520" cy="256032"/>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Dataset exploration &amp; EDA</a:t>
            </a:r>
            <a:endParaRPr lang="en-US" sz="950" dirty="0"/>
          </a:p>
        </p:txBody>
      </p:sp>
      <p:sp>
        <p:nvSpPr>
          <p:cNvPr id="19" name="Shape 15"/>
          <p:cNvSpPr/>
          <p:nvPr/>
        </p:nvSpPr>
        <p:spPr>
          <a:xfrm>
            <a:off x="365760" y="3520440"/>
            <a:ext cx="4160520" cy="1005840"/>
          </a:xfrm>
          <a:prstGeom prst="roundRect">
            <a:avLst>
              <a:gd name="adj" fmla="val 9091"/>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20" name="Shape 16"/>
          <p:cNvSpPr/>
          <p:nvPr/>
        </p:nvSpPr>
        <p:spPr>
          <a:xfrm>
            <a:off x="475488" y="3794760"/>
            <a:ext cx="384048" cy="384048"/>
          </a:xfrm>
          <a:prstGeom prst="roundRect">
            <a:avLst>
              <a:gd name="adj" fmla="val 19048"/>
            </a:avLst>
          </a:prstGeom>
          <a:solidFill>
            <a:srgbClr val="1A3A5C"/>
          </a:solidFill>
          <a:ln w="12700">
            <a:solidFill>
              <a:srgbClr val="1A3A5C"/>
            </a:solidFill>
            <a:prstDash val="solid"/>
          </a:ln>
        </p:spPr>
        <p:txBody>
          <a:bodyPr/>
          <a:lstStyle/>
          <a:p>
            <a:endParaRPr lang="en-US"/>
          </a:p>
        </p:txBody>
      </p:sp>
      <p:sp>
        <p:nvSpPr>
          <p:cNvPr id="21" name="Text 17"/>
          <p:cNvSpPr/>
          <p:nvPr/>
        </p:nvSpPr>
        <p:spPr>
          <a:xfrm>
            <a:off x="475488" y="379476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03</a:t>
            </a:r>
            <a:endParaRPr lang="en-US" sz="1200" dirty="0"/>
          </a:p>
        </p:txBody>
      </p:sp>
      <p:pic>
        <p:nvPicPr>
          <p:cNvPr id="22" name="Image 2" descr="preencoded.png"/>
          <p:cNvPicPr>
            <a:picLocks noChangeAspect="1"/>
          </p:cNvPicPr>
          <p:nvPr/>
        </p:nvPicPr>
        <p:blipFill>
          <a:blip r:embed="rId5"/>
          <a:stretch>
            <a:fillRect/>
          </a:stretch>
        </p:blipFill>
        <p:spPr>
          <a:xfrm>
            <a:off x="960120" y="3813048"/>
            <a:ext cx="347472" cy="347472"/>
          </a:xfrm>
          <a:prstGeom prst="rect">
            <a:avLst/>
          </a:prstGeom>
        </p:spPr>
      </p:pic>
      <p:sp>
        <p:nvSpPr>
          <p:cNvPr id="23" name="Text 18"/>
          <p:cNvSpPr/>
          <p:nvPr/>
        </p:nvSpPr>
        <p:spPr>
          <a:xfrm>
            <a:off x="1389888" y="3721608"/>
            <a:ext cx="3017520" cy="274320"/>
          </a:xfrm>
          <a:prstGeom prst="rect">
            <a:avLst/>
          </a:prstGeom>
          <a:noFill/>
          <a:ln/>
        </p:spPr>
        <p:txBody>
          <a:bodyPr wrap="square" lIns="0" tIns="0" rIns="0" bIns="0" rtlCol="0" anchor="ctr"/>
          <a:lstStyle/>
          <a:p>
            <a:pPr marL="0" indent="0" algn="l">
              <a:buNone/>
            </a:pPr>
            <a:r>
              <a:rPr lang="en-US" sz="1200" b="1" dirty="0">
                <a:solidFill>
                  <a:srgbClr val="1A3A5C"/>
                </a:solidFill>
                <a:latin typeface="Cambria" pitchFamily="34" charset="0"/>
                <a:ea typeface="Cambria" pitchFamily="34" charset="-122"/>
                <a:cs typeface="Cambria" pitchFamily="34" charset="-120"/>
              </a:rPr>
              <a:t>Data Preparation</a:t>
            </a:r>
            <a:endParaRPr lang="en-US" sz="1200" dirty="0"/>
          </a:p>
        </p:txBody>
      </p:sp>
      <p:sp>
        <p:nvSpPr>
          <p:cNvPr id="24" name="Text 19"/>
          <p:cNvSpPr/>
          <p:nvPr/>
        </p:nvSpPr>
        <p:spPr>
          <a:xfrm>
            <a:off x="1389888" y="4014216"/>
            <a:ext cx="3017520" cy="256032"/>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Cleaning, scaling &amp; SMOTE</a:t>
            </a:r>
            <a:endParaRPr lang="en-US" sz="950" dirty="0"/>
          </a:p>
        </p:txBody>
      </p:sp>
      <p:sp>
        <p:nvSpPr>
          <p:cNvPr id="25" name="Shape 20"/>
          <p:cNvSpPr/>
          <p:nvPr/>
        </p:nvSpPr>
        <p:spPr>
          <a:xfrm>
            <a:off x="4800600" y="1051560"/>
            <a:ext cx="4160520" cy="1005840"/>
          </a:xfrm>
          <a:prstGeom prst="roundRect">
            <a:avLst>
              <a:gd name="adj" fmla="val 9091"/>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26" name="Shape 21"/>
          <p:cNvSpPr/>
          <p:nvPr/>
        </p:nvSpPr>
        <p:spPr>
          <a:xfrm>
            <a:off x="4910328" y="1325880"/>
            <a:ext cx="384048" cy="384048"/>
          </a:xfrm>
          <a:prstGeom prst="roundRect">
            <a:avLst>
              <a:gd name="adj" fmla="val 19048"/>
            </a:avLst>
          </a:prstGeom>
          <a:solidFill>
            <a:srgbClr val="1A3A5C"/>
          </a:solidFill>
          <a:ln w="12700">
            <a:solidFill>
              <a:srgbClr val="1A3A5C"/>
            </a:solidFill>
            <a:prstDash val="solid"/>
          </a:ln>
        </p:spPr>
        <p:txBody>
          <a:bodyPr/>
          <a:lstStyle/>
          <a:p>
            <a:endParaRPr lang="en-US"/>
          </a:p>
        </p:txBody>
      </p:sp>
      <p:sp>
        <p:nvSpPr>
          <p:cNvPr id="27" name="Text 22"/>
          <p:cNvSpPr/>
          <p:nvPr/>
        </p:nvSpPr>
        <p:spPr>
          <a:xfrm>
            <a:off x="4910328" y="132588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04</a:t>
            </a:r>
            <a:endParaRPr lang="en-US" sz="1200" dirty="0"/>
          </a:p>
        </p:txBody>
      </p:sp>
      <p:pic>
        <p:nvPicPr>
          <p:cNvPr id="28" name="Image 3" descr="preencoded.png"/>
          <p:cNvPicPr>
            <a:picLocks noChangeAspect="1"/>
          </p:cNvPicPr>
          <p:nvPr/>
        </p:nvPicPr>
        <p:blipFill>
          <a:blip r:embed="rId6"/>
          <a:stretch>
            <a:fillRect/>
          </a:stretch>
        </p:blipFill>
        <p:spPr>
          <a:xfrm>
            <a:off x="5394960" y="1344168"/>
            <a:ext cx="347472" cy="347472"/>
          </a:xfrm>
          <a:prstGeom prst="rect">
            <a:avLst/>
          </a:prstGeom>
        </p:spPr>
      </p:pic>
      <p:sp>
        <p:nvSpPr>
          <p:cNvPr id="29" name="Text 23"/>
          <p:cNvSpPr/>
          <p:nvPr/>
        </p:nvSpPr>
        <p:spPr>
          <a:xfrm>
            <a:off x="5824728" y="1252728"/>
            <a:ext cx="3017520" cy="274320"/>
          </a:xfrm>
          <a:prstGeom prst="rect">
            <a:avLst/>
          </a:prstGeom>
          <a:noFill/>
          <a:ln/>
        </p:spPr>
        <p:txBody>
          <a:bodyPr wrap="square" lIns="0" tIns="0" rIns="0" bIns="0" rtlCol="0" anchor="ctr"/>
          <a:lstStyle/>
          <a:p>
            <a:pPr marL="0" indent="0" algn="l">
              <a:buNone/>
            </a:pPr>
            <a:r>
              <a:rPr lang="en-US" sz="1200" b="1" dirty="0">
                <a:solidFill>
                  <a:srgbClr val="1A3A5C"/>
                </a:solidFill>
                <a:latin typeface="Cambria" pitchFamily="34" charset="0"/>
                <a:ea typeface="Cambria" pitchFamily="34" charset="-122"/>
                <a:cs typeface="Cambria" pitchFamily="34" charset="-120"/>
              </a:rPr>
              <a:t>Modelling</a:t>
            </a:r>
            <a:endParaRPr lang="en-US" sz="1200" dirty="0"/>
          </a:p>
        </p:txBody>
      </p:sp>
      <p:sp>
        <p:nvSpPr>
          <p:cNvPr id="30" name="Text 24"/>
          <p:cNvSpPr/>
          <p:nvPr/>
        </p:nvSpPr>
        <p:spPr>
          <a:xfrm>
            <a:off x="5824728" y="1545336"/>
            <a:ext cx="3017520" cy="256032"/>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RF, XGBoost &amp; hyperparameter tuning</a:t>
            </a:r>
            <a:endParaRPr lang="en-US" sz="950" dirty="0"/>
          </a:p>
        </p:txBody>
      </p:sp>
      <p:sp>
        <p:nvSpPr>
          <p:cNvPr id="31" name="Shape 25"/>
          <p:cNvSpPr/>
          <p:nvPr/>
        </p:nvSpPr>
        <p:spPr>
          <a:xfrm>
            <a:off x="4800600" y="2286000"/>
            <a:ext cx="4160520" cy="1005840"/>
          </a:xfrm>
          <a:prstGeom prst="roundRect">
            <a:avLst>
              <a:gd name="adj" fmla="val 9091"/>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32" name="Shape 26"/>
          <p:cNvSpPr/>
          <p:nvPr/>
        </p:nvSpPr>
        <p:spPr>
          <a:xfrm>
            <a:off x="4910328" y="2560320"/>
            <a:ext cx="384048" cy="384048"/>
          </a:xfrm>
          <a:prstGeom prst="roundRect">
            <a:avLst>
              <a:gd name="adj" fmla="val 19048"/>
            </a:avLst>
          </a:prstGeom>
          <a:solidFill>
            <a:srgbClr val="1A3A5C"/>
          </a:solidFill>
          <a:ln w="12700">
            <a:solidFill>
              <a:srgbClr val="1A3A5C"/>
            </a:solidFill>
            <a:prstDash val="solid"/>
          </a:ln>
        </p:spPr>
        <p:txBody>
          <a:bodyPr/>
          <a:lstStyle/>
          <a:p>
            <a:endParaRPr lang="en-US"/>
          </a:p>
        </p:txBody>
      </p:sp>
      <p:sp>
        <p:nvSpPr>
          <p:cNvPr id="33" name="Text 27"/>
          <p:cNvSpPr/>
          <p:nvPr/>
        </p:nvSpPr>
        <p:spPr>
          <a:xfrm>
            <a:off x="4910328" y="2560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05</a:t>
            </a:r>
            <a:endParaRPr lang="en-US" sz="1200" dirty="0"/>
          </a:p>
        </p:txBody>
      </p:sp>
      <p:pic>
        <p:nvPicPr>
          <p:cNvPr id="34" name="Image 4" descr="preencoded.png"/>
          <p:cNvPicPr>
            <a:picLocks noChangeAspect="1"/>
          </p:cNvPicPr>
          <p:nvPr/>
        </p:nvPicPr>
        <p:blipFill>
          <a:blip r:embed="rId7"/>
          <a:stretch>
            <a:fillRect/>
          </a:stretch>
        </p:blipFill>
        <p:spPr>
          <a:xfrm>
            <a:off x="5394960" y="2578608"/>
            <a:ext cx="347472" cy="347472"/>
          </a:xfrm>
          <a:prstGeom prst="rect">
            <a:avLst/>
          </a:prstGeom>
        </p:spPr>
      </p:pic>
      <p:sp>
        <p:nvSpPr>
          <p:cNvPr id="35" name="Text 28"/>
          <p:cNvSpPr/>
          <p:nvPr/>
        </p:nvSpPr>
        <p:spPr>
          <a:xfrm>
            <a:off x="5824728" y="2487168"/>
            <a:ext cx="3017520" cy="274320"/>
          </a:xfrm>
          <a:prstGeom prst="rect">
            <a:avLst/>
          </a:prstGeom>
          <a:noFill/>
          <a:ln/>
        </p:spPr>
        <p:txBody>
          <a:bodyPr wrap="square" lIns="0" tIns="0" rIns="0" bIns="0" rtlCol="0" anchor="ctr"/>
          <a:lstStyle/>
          <a:p>
            <a:pPr marL="0" indent="0" algn="l">
              <a:buNone/>
            </a:pPr>
            <a:r>
              <a:rPr lang="en-US" sz="1200" b="1" dirty="0">
                <a:solidFill>
                  <a:srgbClr val="1A3A5C"/>
                </a:solidFill>
                <a:latin typeface="Cambria" pitchFamily="34" charset="0"/>
                <a:ea typeface="Cambria" pitchFamily="34" charset="-122"/>
                <a:cs typeface="Cambria" pitchFamily="34" charset="-120"/>
              </a:rPr>
              <a:t>Evaluation</a:t>
            </a:r>
            <a:endParaRPr lang="en-US" sz="1200" dirty="0"/>
          </a:p>
        </p:txBody>
      </p:sp>
      <p:sp>
        <p:nvSpPr>
          <p:cNvPr id="36" name="Text 29"/>
          <p:cNvSpPr/>
          <p:nvPr/>
        </p:nvSpPr>
        <p:spPr>
          <a:xfrm>
            <a:off x="5824728" y="2779776"/>
            <a:ext cx="3017520" cy="256032"/>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Metrics, CV results &amp; model selection</a:t>
            </a:r>
            <a:endParaRPr lang="en-US" sz="950" dirty="0"/>
          </a:p>
        </p:txBody>
      </p:sp>
      <p:sp>
        <p:nvSpPr>
          <p:cNvPr id="37" name="Shape 30"/>
          <p:cNvSpPr/>
          <p:nvPr/>
        </p:nvSpPr>
        <p:spPr>
          <a:xfrm>
            <a:off x="4800600" y="3520440"/>
            <a:ext cx="4160520" cy="1005840"/>
          </a:xfrm>
          <a:prstGeom prst="roundRect">
            <a:avLst>
              <a:gd name="adj" fmla="val 9091"/>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38" name="Shape 31"/>
          <p:cNvSpPr/>
          <p:nvPr/>
        </p:nvSpPr>
        <p:spPr>
          <a:xfrm>
            <a:off x="4910328" y="3794760"/>
            <a:ext cx="384048" cy="384048"/>
          </a:xfrm>
          <a:prstGeom prst="roundRect">
            <a:avLst>
              <a:gd name="adj" fmla="val 19048"/>
            </a:avLst>
          </a:prstGeom>
          <a:solidFill>
            <a:srgbClr val="1A3A5C"/>
          </a:solidFill>
          <a:ln w="12700">
            <a:solidFill>
              <a:srgbClr val="1A3A5C"/>
            </a:solidFill>
            <a:prstDash val="solid"/>
          </a:ln>
        </p:spPr>
        <p:txBody>
          <a:bodyPr/>
          <a:lstStyle/>
          <a:p>
            <a:endParaRPr lang="en-US"/>
          </a:p>
        </p:txBody>
      </p:sp>
      <p:sp>
        <p:nvSpPr>
          <p:cNvPr id="39" name="Text 32"/>
          <p:cNvSpPr/>
          <p:nvPr/>
        </p:nvSpPr>
        <p:spPr>
          <a:xfrm>
            <a:off x="4910328" y="379476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06</a:t>
            </a:r>
            <a:endParaRPr lang="en-US" sz="1200" dirty="0"/>
          </a:p>
        </p:txBody>
      </p:sp>
      <p:pic>
        <p:nvPicPr>
          <p:cNvPr id="40" name="Image 5" descr="preencoded.png"/>
          <p:cNvPicPr>
            <a:picLocks noChangeAspect="1"/>
          </p:cNvPicPr>
          <p:nvPr/>
        </p:nvPicPr>
        <p:blipFill>
          <a:blip r:embed="rId8"/>
          <a:stretch>
            <a:fillRect/>
          </a:stretch>
        </p:blipFill>
        <p:spPr>
          <a:xfrm>
            <a:off x="5394960" y="3813048"/>
            <a:ext cx="347472" cy="347472"/>
          </a:xfrm>
          <a:prstGeom prst="rect">
            <a:avLst/>
          </a:prstGeom>
        </p:spPr>
      </p:pic>
      <p:sp>
        <p:nvSpPr>
          <p:cNvPr id="41" name="Text 33"/>
          <p:cNvSpPr/>
          <p:nvPr/>
        </p:nvSpPr>
        <p:spPr>
          <a:xfrm>
            <a:off x="5824728" y="3721608"/>
            <a:ext cx="3017520" cy="274320"/>
          </a:xfrm>
          <a:prstGeom prst="rect">
            <a:avLst/>
          </a:prstGeom>
          <a:noFill/>
          <a:ln/>
        </p:spPr>
        <p:txBody>
          <a:bodyPr wrap="square" lIns="0" tIns="0" rIns="0" bIns="0" rtlCol="0" anchor="ctr"/>
          <a:lstStyle/>
          <a:p>
            <a:pPr marL="0" indent="0" algn="l">
              <a:buNone/>
            </a:pPr>
            <a:r>
              <a:rPr lang="en-US" sz="1200" b="1" dirty="0">
                <a:solidFill>
                  <a:srgbClr val="1A3A5C"/>
                </a:solidFill>
                <a:latin typeface="Cambria" pitchFamily="34" charset="0"/>
                <a:ea typeface="Cambria" pitchFamily="34" charset="-122"/>
                <a:cs typeface="Cambria" pitchFamily="34" charset="-120"/>
              </a:rPr>
              <a:t>Conclusion &amp; Takeaways</a:t>
            </a:r>
            <a:endParaRPr lang="en-US" sz="1200" dirty="0"/>
          </a:p>
        </p:txBody>
      </p:sp>
      <p:sp>
        <p:nvSpPr>
          <p:cNvPr id="42" name="Text 34"/>
          <p:cNvSpPr/>
          <p:nvPr/>
        </p:nvSpPr>
        <p:spPr>
          <a:xfrm>
            <a:off x="5824728" y="4014216"/>
            <a:ext cx="3017520" cy="256032"/>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Key findings &amp; recommendations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4FD5D0F-A1D4-87AF-11EB-EA6F2FBEAB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7357623-4AA0-5D2B-3518-3479DCB62854}"/>
              </a:ext>
            </a:extLst>
          </p:cNvPr>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a:extLst>
              <a:ext uri="{FF2B5EF4-FFF2-40B4-BE49-F238E27FC236}">
                <a16:creationId xmlns:a16="http://schemas.microsoft.com/office/drawing/2014/main" id="{2B1C9014-A71B-6AFC-22E2-E79CDF6F933B}"/>
              </a:ext>
            </a:extLst>
          </p:cNvPr>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Text 3">
            <a:extLst>
              <a:ext uri="{FF2B5EF4-FFF2-40B4-BE49-F238E27FC236}">
                <a16:creationId xmlns:a16="http://schemas.microsoft.com/office/drawing/2014/main" id="{CA91B270-BCA8-E47E-8B07-234B775DCEA2}"/>
              </a:ext>
            </a:extLst>
          </p:cNvPr>
          <p:cNvSpPr/>
          <p:nvPr/>
        </p:nvSpPr>
        <p:spPr>
          <a:xfrm>
            <a:off x="457200" y="164592"/>
            <a:ext cx="8046720" cy="502920"/>
          </a:xfrm>
          <a:prstGeom prst="rect">
            <a:avLst/>
          </a:prstGeom>
          <a:noFill/>
          <a:ln/>
        </p:spPr>
        <p:txBody>
          <a:bodyPr wrap="square" lIns="0" tIns="0" rIns="0" bIns="0" rtlCol="0" anchor="ctr"/>
          <a:lstStyle/>
          <a:p>
            <a:pPr marL="0" indent="0" algn="l">
              <a:buNone/>
            </a:pPr>
            <a:r>
              <a:rPr lang="en-US" sz="2600" b="1">
                <a:solidFill>
                  <a:srgbClr val="1A3A5C"/>
                </a:solidFill>
                <a:latin typeface="Cambria" pitchFamily="34" charset="0"/>
                <a:ea typeface="Cambria" pitchFamily="34" charset="-122"/>
                <a:cs typeface="Cambria" pitchFamily="34" charset="-120"/>
              </a:rPr>
              <a:t>CRISP DM Framework</a:t>
            </a:r>
            <a:endParaRPr lang="en-US" sz="2600" dirty="0"/>
          </a:p>
        </p:txBody>
      </p:sp>
      <p:sp>
        <p:nvSpPr>
          <p:cNvPr id="6" name="Text 4">
            <a:extLst>
              <a:ext uri="{FF2B5EF4-FFF2-40B4-BE49-F238E27FC236}">
                <a16:creationId xmlns:a16="http://schemas.microsoft.com/office/drawing/2014/main" id="{05BFA5AA-3EC4-E8E9-8B9F-FC7164F8CCDA}"/>
              </a:ext>
            </a:extLst>
          </p:cNvPr>
          <p:cNvSpPr/>
          <p:nvPr/>
        </p:nvSpPr>
        <p:spPr>
          <a:xfrm>
            <a:off x="457200" y="658368"/>
            <a:ext cx="8046720" cy="256032"/>
          </a:xfrm>
          <a:prstGeom prst="rect">
            <a:avLst/>
          </a:prstGeom>
          <a:noFill/>
          <a:ln/>
        </p:spPr>
        <p:txBody>
          <a:bodyPr wrap="square" lIns="0" tIns="0" rIns="0" bIns="0" rtlCol="0" anchor="t"/>
          <a:lstStyle/>
          <a:p>
            <a:pPr marL="0" indent="0" algn="l">
              <a:buNone/>
            </a:pPr>
            <a:endParaRPr lang="en-US" sz="1200" dirty="0"/>
          </a:p>
        </p:txBody>
      </p:sp>
      <p:pic>
        <p:nvPicPr>
          <p:cNvPr id="44" name="Picture 43">
            <a:extLst>
              <a:ext uri="{FF2B5EF4-FFF2-40B4-BE49-F238E27FC236}">
                <a16:creationId xmlns:a16="http://schemas.microsoft.com/office/drawing/2014/main" id="{A4C5A086-1CD4-03EE-0185-20F6587EB772}"/>
              </a:ext>
            </a:extLst>
          </p:cNvPr>
          <p:cNvPicPr>
            <a:picLocks noChangeAspect="1"/>
          </p:cNvPicPr>
          <p:nvPr/>
        </p:nvPicPr>
        <p:blipFill>
          <a:blip r:embed="rId3"/>
          <a:stretch>
            <a:fillRect/>
          </a:stretch>
        </p:blipFill>
        <p:spPr>
          <a:xfrm>
            <a:off x="1629958" y="914400"/>
            <a:ext cx="5884083" cy="3407032"/>
          </a:xfrm>
          <a:prstGeom prst="rect">
            <a:avLst/>
          </a:prstGeom>
        </p:spPr>
      </p:pic>
    </p:spTree>
    <p:extLst>
      <p:ext uri="{BB962C8B-B14F-4D97-AF65-F5344CB8AC3E}">
        <p14:creationId xmlns:p14="http://schemas.microsoft.com/office/powerpoint/2010/main" val="75121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Shape 3"/>
          <p:cNvSpPr/>
          <p:nvPr/>
        </p:nvSpPr>
        <p:spPr>
          <a:xfrm>
            <a:off x="457200" y="164592"/>
            <a:ext cx="2743200" cy="237744"/>
          </a:xfrm>
          <a:prstGeom prst="roundRect">
            <a:avLst>
              <a:gd name="adj" fmla="val 50000"/>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457200" y="164592"/>
            <a:ext cx="274320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1 · BUSINESS UNDERSTANDING</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Defining the Business Problem</a:t>
            </a:r>
            <a:endParaRPr lang="en-US" sz="2600" dirty="0"/>
          </a:p>
        </p:txBody>
      </p:sp>
      <p:sp>
        <p:nvSpPr>
          <p:cNvPr id="8" name="Shape 6"/>
          <p:cNvSpPr/>
          <p:nvPr/>
        </p:nvSpPr>
        <p:spPr>
          <a:xfrm>
            <a:off x="320040" y="960120"/>
            <a:ext cx="3931920" cy="3566160"/>
          </a:xfrm>
          <a:prstGeom prst="roundRect">
            <a:avLst>
              <a:gd name="adj" fmla="val 2564"/>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9" name="Text 7"/>
          <p:cNvSpPr/>
          <p:nvPr/>
        </p:nvSpPr>
        <p:spPr>
          <a:xfrm>
            <a:off x="502920" y="1051560"/>
            <a:ext cx="3566160" cy="274320"/>
          </a:xfrm>
          <a:prstGeom prst="rect">
            <a:avLst/>
          </a:prstGeom>
          <a:noFill/>
          <a:ln/>
        </p:spPr>
        <p:txBody>
          <a:bodyPr wrap="square" lIns="0" tIns="0" rIns="0" bIns="0" rtlCol="0" anchor="ctr"/>
          <a:lstStyle/>
          <a:p>
            <a:pPr marL="0" indent="0" algn="l">
              <a:buNone/>
            </a:pPr>
            <a:r>
              <a:rPr lang="en-US" sz="1300" b="1" dirty="0">
                <a:solidFill>
                  <a:srgbClr val="1A3A5C"/>
                </a:solidFill>
                <a:latin typeface="Cambria" pitchFamily="34" charset="0"/>
                <a:ea typeface="Cambria" pitchFamily="34" charset="-122"/>
                <a:cs typeface="Cambria" pitchFamily="34" charset="-120"/>
              </a:rPr>
              <a:t>Business Context</a:t>
            </a:r>
            <a:endParaRPr lang="en-US" sz="1300" dirty="0"/>
          </a:p>
        </p:txBody>
      </p:sp>
      <p:sp>
        <p:nvSpPr>
          <p:cNvPr id="10" name="Text 8"/>
          <p:cNvSpPr/>
          <p:nvPr/>
        </p:nvSpPr>
        <p:spPr>
          <a:xfrm>
            <a:off x="502920" y="1389888"/>
            <a:ext cx="3566160" cy="2926080"/>
          </a:xfrm>
          <a:prstGeom prst="rect">
            <a:avLst/>
          </a:prstGeom>
          <a:noFill/>
          <a:ln/>
        </p:spPr>
        <p:txBody>
          <a:bodyPr wrap="square" lIns="0" tIns="0" rIns="0" bIns="0" rtlCol="0" anchor="t"/>
          <a:lstStyle/>
          <a:p>
            <a:pPr marL="0" indent="0" algn="l">
              <a:buNone/>
            </a:pPr>
            <a:r>
              <a:rPr lang="en-US" sz="1050" b="1" dirty="0">
                <a:solidFill>
                  <a:srgbClr val="1E293B"/>
                </a:solidFill>
                <a:latin typeface="Calibri" pitchFamily="34" charset="0"/>
                <a:ea typeface="Calibri" pitchFamily="34" charset="-122"/>
                <a:cs typeface="Calibri" pitchFamily="34" charset="-120"/>
              </a:rPr>
              <a:t>Industry: </a:t>
            </a:r>
            <a:r>
              <a:rPr lang="en-US" sz="1050" dirty="0">
                <a:solidFill>
                  <a:srgbClr val="1E293B"/>
                </a:solidFill>
                <a:latin typeface="Calibri" pitchFamily="34" charset="0"/>
                <a:ea typeface="Calibri" pitchFamily="34" charset="-122"/>
                <a:cs typeface="Calibri" pitchFamily="34" charset="-120"/>
              </a:rPr>
              <a:t>European online payment processors
</a:t>
            </a:r>
            <a:r>
              <a:rPr lang="en-US" sz="1050" b="1" dirty="0">
                <a:solidFill>
                  <a:srgbClr val="1E293B"/>
                </a:solidFill>
                <a:latin typeface="Calibri" pitchFamily="34" charset="0"/>
                <a:ea typeface="Calibri" pitchFamily="34" charset="-122"/>
                <a:cs typeface="Calibri" pitchFamily="34" charset="-120"/>
              </a:rPr>
              <a:t>Problem: </a:t>
            </a:r>
            <a:r>
              <a:rPr lang="en-US" sz="1050" dirty="0">
                <a:solidFill>
                  <a:srgbClr val="1E293B"/>
                </a:solidFill>
                <a:latin typeface="Calibri" pitchFamily="34" charset="0"/>
                <a:ea typeface="Calibri" pitchFamily="34" charset="-122"/>
                <a:cs typeface="Calibri" pitchFamily="34" charset="-120"/>
              </a:rPr>
              <a:t>Fraudulent transactions cause direct financial losses and erode customer trust</a:t>
            </a:r>
            <a:r>
              <a:rPr lang="en-US" sz="1050">
                <a:solidFill>
                  <a:srgbClr val="1E293B"/>
                </a:solidFill>
                <a:latin typeface="Calibri" pitchFamily="34" charset="0"/>
                <a:ea typeface="Calibri" pitchFamily="34" charset="-122"/>
                <a:cs typeface="Calibri" pitchFamily="34" charset="-120"/>
              </a:rPr>
              <a:t>
</a:t>
            </a:r>
            <a:r>
              <a:rPr lang="en-US" sz="1050" b="1">
                <a:solidFill>
                  <a:srgbClr val="1E293B"/>
                </a:solidFill>
                <a:latin typeface="Calibri" pitchFamily="34" charset="0"/>
                <a:ea typeface="Calibri" pitchFamily="34" charset="-122"/>
                <a:cs typeface="Calibri" pitchFamily="34" charset="-120"/>
              </a:rPr>
              <a:t>Consequence </a:t>
            </a:r>
            <a:r>
              <a:rPr lang="en-US" sz="1050" b="1" dirty="0">
                <a:solidFill>
                  <a:srgbClr val="1E293B"/>
                </a:solidFill>
                <a:latin typeface="Calibri" pitchFamily="34" charset="0"/>
                <a:ea typeface="Calibri" pitchFamily="34" charset="-122"/>
                <a:cs typeface="Calibri" pitchFamily="34" charset="-120"/>
              </a:rPr>
              <a:t>of inaction: </a:t>
            </a:r>
            <a:r>
              <a:rPr lang="en-US" sz="1050" dirty="0">
                <a:solidFill>
                  <a:srgbClr val="1E293B"/>
                </a:solidFill>
                <a:latin typeface="Calibri" pitchFamily="34" charset="0"/>
                <a:ea typeface="Calibri" pitchFamily="34" charset="-122"/>
                <a:cs typeface="Calibri" pitchFamily="34" charset="-120"/>
              </a:rPr>
              <a:t>Billions in losses annually across EU </a:t>
            </a:r>
            <a:r>
              <a:rPr lang="en-US" sz="1050">
                <a:solidFill>
                  <a:srgbClr val="1E293B"/>
                </a:solidFill>
                <a:latin typeface="Calibri" pitchFamily="34" charset="0"/>
                <a:ea typeface="Calibri" pitchFamily="34" charset="-122"/>
                <a:cs typeface="Calibri" pitchFamily="34" charset="-120"/>
              </a:rPr>
              <a:t>card networks annually </a:t>
            </a:r>
          </a:p>
          <a:p>
            <a:r>
              <a:rPr lang="en-US" sz="1050" b="1">
                <a:solidFill>
                  <a:srgbClr val="1E293B"/>
                </a:solidFill>
                <a:latin typeface="Calibri" pitchFamily="34" charset="0"/>
                <a:ea typeface="Calibri" pitchFamily="34" charset="-122"/>
                <a:cs typeface="Calibri" pitchFamily="34" charset="-120"/>
              </a:rPr>
              <a:t>Dataset</a:t>
            </a:r>
            <a:r>
              <a:rPr lang="en-US" sz="1050">
                <a:solidFill>
                  <a:srgbClr val="1E293B"/>
                </a:solidFill>
                <a:latin typeface="Calibri" pitchFamily="34" charset="0"/>
                <a:ea typeface="Calibri" pitchFamily="34" charset="-122"/>
                <a:cs typeface="Calibri" pitchFamily="34" charset="-120"/>
              </a:rPr>
              <a:t>: 284,807 transactions over 48 hours (Sept 2013); only 0.17% are fraudulent</a:t>
            </a:r>
            <a:endParaRPr lang="en-US" sz="1050" dirty="0"/>
          </a:p>
        </p:txBody>
      </p:sp>
      <p:sp>
        <p:nvSpPr>
          <p:cNvPr id="11" name="Shape 9"/>
          <p:cNvSpPr/>
          <p:nvPr/>
        </p:nvSpPr>
        <p:spPr>
          <a:xfrm>
            <a:off x="4434840" y="960120"/>
            <a:ext cx="4389120" cy="1645920"/>
          </a:xfrm>
          <a:prstGeom prst="roundRect">
            <a:avLst>
              <a:gd name="adj" fmla="val 5556"/>
            </a:avLst>
          </a:prstGeom>
          <a:solidFill>
            <a:srgbClr val="DBEAFE"/>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2" name="Text 10"/>
          <p:cNvSpPr/>
          <p:nvPr/>
        </p:nvSpPr>
        <p:spPr>
          <a:xfrm>
            <a:off x="4617720" y="1051560"/>
            <a:ext cx="4023360" cy="256032"/>
          </a:xfrm>
          <a:prstGeom prst="rect">
            <a:avLst/>
          </a:prstGeom>
          <a:noFill/>
          <a:ln/>
        </p:spPr>
        <p:txBody>
          <a:bodyPr wrap="square" lIns="0" tIns="0" rIns="0" bIns="0" rtlCol="0" anchor="ctr"/>
          <a:lstStyle/>
          <a:p>
            <a:pPr marL="0" indent="0" algn="l">
              <a:buNone/>
            </a:pPr>
            <a:r>
              <a:rPr lang="en-US" sz="1300" b="1" dirty="0">
                <a:solidFill>
                  <a:srgbClr val="1A3A5C"/>
                </a:solidFill>
                <a:latin typeface="Cambria" pitchFamily="34" charset="0"/>
                <a:ea typeface="Cambria" pitchFamily="34" charset="-122"/>
                <a:cs typeface="Cambria" pitchFamily="34" charset="-120"/>
              </a:rPr>
              <a:t>Business Objective</a:t>
            </a:r>
            <a:endParaRPr lang="en-US" sz="1300" dirty="0"/>
          </a:p>
        </p:txBody>
      </p:sp>
      <p:sp>
        <p:nvSpPr>
          <p:cNvPr id="13" name="Text 11"/>
          <p:cNvSpPr/>
          <p:nvPr/>
        </p:nvSpPr>
        <p:spPr>
          <a:xfrm>
            <a:off x="4617720" y="1353312"/>
            <a:ext cx="4023360" cy="109728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Develop a supervised classification model that automatically identifies fraudulent credit card transactions, enabling real-time alerts and reducing financial exposure.</a:t>
            </a:r>
            <a:endParaRPr lang="en-US" sz="1050" dirty="0"/>
          </a:p>
        </p:txBody>
      </p:sp>
      <p:sp>
        <p:nvSpPr>
          <p:cNvPr id="14" name="Shape 12"/>
          <p:cNvSpPr/>
          <p:nvPr/>
        </p:nvSpPr>
        <p:spPr>
          <a:xfrm>
            <a:off x="4434840" y="2788920"/>
            <a:ext cx="4389120" cy="1737360"/>
          </a:xfrm>
          <a:prstGeom prst="roundRect">
            <a:avLst>
              <a:gd name="adj" fmla="val 5263"/>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5" name="Text 13"/>
          <p:cNvSpPr/>
          <p:nvPr/>
        </p:nvSpPr>
        <p:spPr>
          <a:xfrm>
            <a:off x="4617720" y="2880360"/>
            <a:ext cx="4023360" cy="256032"/>
          </a:xfrm>
          <a:prstGeom prst="rect">
            <a:avLst/>
          </a:prstGeom>
          <a:noFill/>
          <a:ln/>
        </p:spPr>
        <p:txBody>
          <a:bodyPr wrap="square" lIns="0" tIns="0" rIns="0" bIns="0" rtlCol="0" anchor="ctr"/>
          <a:lstStyle/>
          <a:p>
            <a:pPr marL="0" indent="0" algn="l">
              <a:buNone/>
            </a:pPr>
            <a:r>
              <a:rPr lang="en-US" sz="1300" b="1" dirty="0">
                <a:solidFill>
                  <a:srgbClr val="1A3A5C"/>
                </a:solidFill>
                <a:latin typeface="Cambria" pitchFamily="34" charset="0"/>
                <a:ea typeface="Cambria" pitchFamily="34" charset="-122"/>
                <a:cs typeface="Cambria" pitchFamily="34" charset="-120"/>
              </a:rPr>
              <a:t>Data Mining Goals</a:t>
            </a:r>
            <a:endParaRPr lang="en-US" sz="1300" dirty="0"/>
          </a:p>
        </p:txBody>
      </p:sp>
      <p:sp>
        <p:nvSpPr>
          <p:cNvPr id="16" name="Text 14"/>
          <p:cNvSpPr/>
          <p:nvPr/>
        </p:nvSpPr>
        <p:spPr>
          <a:xfrm>
            <a:off x="4617720" y="3182112"/>
            <a:ext cx="4023360" cy="1234440"/>
          </a:xfrm>
          <a:prstGeom prst="rect">
            <a:avLst/>
          </a:prstGeom>
          <a:noFill/>
          <a:ln/>
        </p:spPr>
        <p:txBody>
          <a:bodyPr wrap="square" lIns="0" tIns="0" rIns="0" bIns="0" rtlCol="0" anchor="t"/>
          <a:lstStyle/>
          <a:p>
            <a:pPr marL="0" indent="0" algn="l">
              <a:buNone/>
            </a:pPr>
            <a:r>
              <a:rPr lang="en-US" sz="1050" b="1" dirty="0">
                <a:solidFill>
                  <a:srgbClr val="2563EB"/>
                </a:solidFill>
                <a:latin typeface="Calibri" pitchFamily="34" charset="0"/>
                <a:ea typeface="Calibri" pitchFamily="34" charset="-122"/>
                <a:cs typeface="Calibri" pitchFamily="34" charset="-120"/>
              </a:rPr>
              <a:t>1. </a:t>
            </a:r>
            <a:r>
              <a:rPr lang="en-US" sz="1050" dirty="0">
                <a:solidFill>
                  <a:srgbClr val="1E293B"/>
                </a:solidFill>
                <a:latin typeface="Calibri" pitchFamily="34" charset="0"/>
                <a:ea typeface="Calibri" pitchFamily="34" charset="-122"/>
                <a:cs typeface="Calibri" pitchFamily="34" charset="-120"/>
              </a:rPr>
              <a:t>Explore patterns and distributions in transaction data
</a:t>
            </a:r>
            <a:r>
              <a:rPr lang="en-US" sz="1050" b="1" dirty="0">
                <a:solidFill>
                  <a:srgbClr val="2563EB"/>
                </a:solidFill>
                <a:latin typeface="Calibri" pitchFamily="34" charset="0"/>
                <a:ea typeface="Calibri" pitchFamily="34" charset="-122"/>
                <a:cs typeface="Calibri" pitchFamily="34" charset="-120"/>
              </a:rPr>
              <a:t>2. </a:t>
            </a:r>
            <a:r>
              <a:rPr lang="en-US" sz="1050" dirty="0">
                <a:solidFill>
                  <a:srgbClr val="1E293B"/>
                </a:solidFill>
                <a:latin typeface="Calibri" pitchFamily="34" charset="0"/>
                <a:ea typeface="Calibri" pitchFamily="34" charset="-122"/>
                <a:cs typeface="Calibri" pitchFamily="34" charset="-120"/>
              </a:rPr>
              <a:t>Handle severe class imbalance (0.17% fraud rate)
</a:t>
            </a:r>
            <a:r>
              <a:rPr lang="en-US" sz="1050" b="1" dirty="0">
                <a:solidFill>
                  <a:srgbClr val="2563EB"/>
                </a:solidFill>
                <a:latin typeface="Calibri" pitchFamily="34" charset="0"/>
                <a:ea typeface="Calibri" pitchFamily="34" charset="-122"/>
                <a:cs typeface="Calibri" pitchFamily="34" charset="-120"/>
              </a:rPr>
              <a:t>3. </a:t>
            </a:r>
            <a:r>
              <a:rPr lang="en-US" sz="1050" dirty="0">
                <a:solidFill>
                  <a:srgbClr val="1E293B"/>
                </a:solidFill>
                <a:latin typeface="Calibri" pitchFamily="34" charset="0"/>
                <a:ea typeface="Calibri" pitchFamily="34" charset="-122"/>
                <a:cs typeface="Calibri" pitchFamily="34" charset="-120"/>
              </a:rPr>
              <a:t>Train &amp; compare classification models
</a:t>
            </a:r>
            <a:r>
              <a:rPr lang="en-US" sz="1050" b="1" dirty="0">
                <a:solidFill>
                  <a:srgbClr val="2563EB"/>
                </a:solidFill>
                <a:latin typeface="Calibri" pitchFamily="34" charset="0"/>
                <a:ea typeface="Calibri" pitchFamily="34" charset="-122"/>
                <a:cs typeface="Calibri" pitchFamily="34" charset="-120"/>
              </a:rPr>
              <a:t>4. </a:t>
            </a:r>
            <a:r>
              <a:rPr lang="en-US" sz="1050" dirty="0">
                <a:solidFill>
                  <a:srgbClr val="1E293B"/>
                </a:solidFill>
                <a:latin typeface="Calibri" pitchFamily="34" charset="0"/>
                <a:ea typeface="Calibri" pitchFamily="34" charset="-122"/>
                <a:cs typeface="Calibri" pitchFamily="34" charset="-120"/>
              </a:rPr>
              <a:t>Optimise for Recall &amp; PR-AUC — missing fraud is costly</a:t>
            </a:r>
            <a:endParaRPr lang="en-US" sz="1050" dirty="0"/>
          </a:p>
        </p:txBody>
      </p:sp>
      <p:sp>
        <p:nvSpPr>
          <p:cNvPr id="17" name="Shape 15"/>
          <p:cNvSpPr/>
          <p:nvPr/>
        </p:nvSpPr>
        <p:spPr>
          <a:xfrm>
            <a:off x="320040" y="4617720"/>
            <a:ext cx="1965960" cy="292608"/>
          </a:xfrm>
          <a:prstGeom prst="roundRect">
            <a:avLst>
              <a:gd name="adj" fmla="val 25000"/>
            </a:avLst>
          </a:prstGeom>
          <a:solidFill>
            <a:srgbClr val="1A3A5C"/>
          </a:solidFill>
          <a:ln w="12700">
            <a:solidFill>
              <a:srgbClr val="1A3A5C"/>
            </a:solidFill>
            <a:prstDash val="solid"/>
          </a:ln>
        </p:spPr>
        <p:txBody>
          <a:bodyPr/>
          <a:lstStyle/>
          <a:p>
            <a:endParaRPr lang="en-US"/>
          </a:p>
        </p:txBody>
      </p:sp>
      <p:sp>
        <p:nvSpPr>
          <p:cNvPr id="18" name="Text 16"/>
          <p:cNvSpPr/>
          <p:nvPr/>
        </p:nvSpPr>
        <p:spPr>
          <a:xfrm>
            <a:off x="320040" y="4617720"/>
            <a:ext cx="19659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Recall (Fraud)</a:t>
            </a:r>
            <a:endParaRPr lang="en-US" sz="900" dirty="0"/>
          </a:p>
        </p:txBody>
      </p:sp>
      <p:sp>
        <p:nvSpPr>
          <p:cNvPr id="19" name="Shape 17"/>
          <p:cNvSpPr/>
          <p:nvPr/>
        </p:nvSpPr>
        <p:spPr>
          <a:xfrm>
            <a:off x="2487168" y="4617720"/>
            <a:ext cx="1965960" cy="292608"/>
          </a:xfrm>
          <a:prstGeom prst="roundRect">
            <a:avLst>
              <a:gd name="adj" fmla="val 25000"/>
            </a:avLst>
          </a:prstGeom>
          <a:solidFill>
            <a:srgbClr val="1A3A5C"/>
          </a:solidFill>
          <a:ln w="12700">
            <a:solidFill>
              <a:srgbClr val="1A3A5C"/>
            </a:solidFill>
            <a:prstDash val="solid"/>
          </a:ln>
        </p:spPr>
        <p:txBody>
          <a:bodyPr/>
          <a:lstStyle/>
          <a:p>
            <a:endParaRPr lang="en-US"/>
          </a:p>
        </p:txBody>
      </p:sp>
      <p:sp>
        <p:nvSpPr>
          <p:cNvPr id="20" name="Text 18"/>
          <p:cNvSpPr/>
          <p:nvPr/>
        </p:nvSpPr>
        <p:spPr>
          <a:xfrm>
            <a:off x="2487168" y="4617720"/>
            <a:ext cx="19659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PR-AUC</a:t>
            </a:r>
            <a:endParaRPr lang="en-US" sz="900" dirty="0"/>
          </a:p>
        </p:txBody>
      </p:sp>
      <p:sp>
        <p:nvSpPr>
          <p:cNvPr id="21" name="Shape 19"/>
          <p:cNvSpPr/>
          <p:nvPr/>
        </p:nvSpPr>
        <p:spPr>
          <a:xfrm>
            <a:off x="4654296" y="4617720"/>
            <a:ext cx="1965960" cy="292608"/>
          </a:xfrm>
          <a:prstGeom prst="roundRect">
            <a:avLst>
              <a:gd name="adj" fmla="val 25000"/>
            </a:avLst>
          </a:prstGeom>
          <a:solidFill>
            <a:srgbClr val="1A3A5C"/>
          </a:solidFill>
          <a:ln w="12700">
            <a:solidFill>
              <a:srgbClr val="1A3A5C"/>
            </a:solidFill>
            <a:prstDash val="solid"/>
          </a:ln>
        </p:spPr>
        <p:txBody>
          <a:bodyPr/>
          <a:lstStyle/>
          <a:p>
            <a:endParaRPr lang="en-US"/>
          </a:p>
        </p:txBody>
      </p:sp>
      <p:sp>
        <p:nvSpPr>
          <p:cNvPr id="22" name="Text 20"/>
          <p:cNvSpPr/>
          <p:nvPr/>
        </p:nvSpPr>
        <p:spPr>
          <a:xfrm>
            <a:off x="4654296" y="4617720"/>
            <a:ext cx="19659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F1-Score</a:t>
            </a:r>
            <a:endParaRPr lang="en-US" sz="900" dirty="0"/>
          </a:p>
        </p:txBody>
      </p:sp>
      <p:sp>
        <p:nvSpPr>
          <p:cNvPr id="23" name="Shape 21"/>
          <p:cNvSpPr/>
          <p:nvPr/>
        </p:nvSpPr>
        <p:spPr>
          <a:xfrm>
            <a:off x="6821424" y="4617720"/>
            <a:ext cx="1965960" cy="292608"/>
          </a:xfrm>
          <a:prstGeom prst="roundRect">
            <a:avLst>
              <a:gd name="adj" fmla="val 25000"/>
            </a:avLst>
          </a:prstGeom>
          <a:solidFill>
            <a:srgbClr val="1A3A5C"/>
          </a:solidFill>
          <a:ln w="12700">
            <a:solidFill>
              <a:srgbClr val="1A3A5C"/>
            </a:solidFill>
            <a:prstDash val="solid"/>
          </a:ln>
        </p:spPr>
        <p:txBody>
          <a:bodyPr/>
          <a:lstStyle/>
          <a:p>
            <a:endParaRPr lang="en-US"/>
          </a:p>
        </p:txBody>
      </p:sp>
      <p:sp>
        <p:nvSpPr>
          <p:cNvPr id="24" name="Text 22"/>
          <p:cNvSpPr/>
          <p:nvPr/>
        </p:nvSpPr>
        <p:spPr>
          <a:xfrm>
            <a:off x="6821424" y="4617720"/>
            <a:ext cx="19659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False Negative Rate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Shape 3"/>
          <p:cNvSpPr/>
          <p:nvPr/>
        </p:nvSpPr>
        <p:spPr>
          <a:xfrm>
            <a:off x="457200" y="164592"/>
            <a:ext cx="2560320" cy="237744"/>
          </a:xfrm>
          <a:prstGeom prst="roundRect">
            <a:avLst>
              <a:gd name="adj" fmla="val 50000"/>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457200" y="164592"/>
            <a:ext cx="256032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2 · DATA UNDERSTANDING</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Exploring the Dataset</a:t>
            </a:r>
            <a:endParaRPr lang="en-US" sz="2600" dirty="0"/>
          </a:p>
        </p:txBody>
      </p:sp>
      <p:sp>
        <p:nvSpPr>
          <p:cNvPr id="8" name="Shape 6"/>
          <p:cNvSpPr/>
          <p:nvPr/>
        </p:nvSpPr>
        <p:spPr>
          <a:xfrm>
            <a:off x="320040" y="960120"/>
            <a:ext cx="1965960" cy="960120"/>
          </a:xfrm>
          <a:prstGeom prst="roundRect">
            <a:avLst>
              <a:gd name="adj" fmla="val 9524"/>
            </a:avLst>
          </a:prstGeom>
          <a:solidFill>
            <a:srgbClr val="DBEAFE"/>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9" name="Text 7"/>
          <p:cNvSpPr/>
          <p:nvPr/>
        </p:nvSpPr>
        <p:spPr>
          <a:xfrm>
            <a:off x="320040" y="987552"/>
            <a:ext cx="1965960" cy="502920"/>
          </a:xfrm>
          <a:prstGeom prst="rect">
            <a:avLst/>
          </a:prstGeom>
          <a:noFill/>
          <a:ln/>
        </p:spPr>
        <p:txBody>
          <a:bodyPr wrap="square" lIns="0" tIns="0" rIns="0" bIns="0" rtlCol="0" anchor="ctr"/>
          <a:lstStyle/>
          <a:p>
            <a:pPr marL="0" indent="0" algn="ctr">
              <a:buNone/>
            </a:pPr>
            <a:r>
              <a:rPr lang="en-US" sz="3600" b="1" dirty="0">
                <a:solidFill>
                  <a:srgbClr val="2563EB"/>
                </a:solidFill>
                <a:latin typeface="Cambria" pitchFamily="34" charset="0"/>
                <a:ea typeface="Cambria" pitchFamily="34" charset="-122"/>
                <a:cs typeface="Cambria" pitchFamily="34" charset="-120"/>
              </a:rPr>
              <a:t>284,807</a:t>
            </a:r>
            <a:endParaRPr lang="en-US" sz="3600" dirty="0"/>
          </a:p>
        </p:txBody>
      </p:sp>
      <p:sp>
        <p:nvSpPr>
          <p:cNvPr id="10" name="Text 8"/>
          <p:cNvSpPr/>
          <p:nvPr/>
        </p:nvSpPr>
        <p:spPr>
          <a:xfrm>
            <a:off x="320040" y="1463040"/>
            <a:ext cx="1965960" cy="256032"/>
          </a:xfrm>
          <a:prstGeom prst="rect">
            <a:avLst/>
          </a:prstGeom>
          <a:noFill/>
          <a:ln/>
        </p:spPr>
        <p:txBody>
          <a:bodyPr wrap="square" lIns="0" tIns="0" rIns="0" bIns="0" rtlCol="0" anchor="t"/>
          <a:lstStyle/>
          <a:p>
            <a:pPr marL="0" indent="0" algn="ctr">
              <a:buNone/>
            </a:pPr>
            <a:r>
              <a:rPr lang="en-US" sz="1000" dirty="0">
                <a:solidFill>
                  <a:srgbClr val="475569"/>
                </a:solidFill>
                <a:latin typeface="Calibri" pitchFamily="34" charset="0"/>
                <a:ea typeface="Calibri" pitchFamily="34" charset="-122"/>
                <a:cs typeface="Calibri" pitchFamily="34" charset="-120"/>
              </a:rPr>
              <a:t>Total Transactions</a:t>
            </a:r>
            <a:endParaRPr lang="en-US" sz="1000" dirty="0"/>
          </a:p>
        </p:txBody>
      </p:sp>
      <p:sp>
        <p:nvSpPr>
          <p:cNvPr id="11" name="Shape 9"/>
          <p:cNvSpPr/>
          <p:nvPr/>
        </p:nvSpPr>
        <p:spPr>
          <a:xfrm>
            <a:off x="2514600" y="960120"/>
            <a:ext cx="1965960" cy="960120"/>
          </a:xfrm>
          <a:prstGeom prst="roundRect">
            <a:avLst>
              <a:gd name="adj" fmla="val 9524"/>
            </a:avLst>
          </a:prstGeom>
          <a:solidFill>
            <a:srgbClr val="DBEAFE"/>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2" name="Text 10"/>
          <p:cNvSpPr/>
          <p:nvPr/>
        </p:nvSpPr>
        <p:spPr>
          <a:xfrm>
            <a:off x="2514600" y="987552"/>
            <a:ext cx="1965960" cy="502920"/>
          </a:xfrm>
          <a:prstGeom prst="rect">
            <a:avLst/>
          </a:prstGeom>
          <a:noFill/>
          <a:ln/>
        </p:spPr>
        <p:txBody>
          <a:bodyPr wrap="square" lIns="0" tIns="0" rIns="0" bIns="0" rtlCol="0" anchor="ctr"/>
          <a:lstStyle/>
          <a:p>
            <a:pPr marL="0" indent="0" algn="ctr">
              <a:buNone/>
            </a:pPr>
            <a:r>
              <a:rPr lang="en-US" sz="3600" b="1">
                <a:solidFill>
                  <a:srgbClr val="2563EB"/>
                </a:solidFill>
                <a:latin typeface="Cambria" pitchFamily="34" charset="0"/>
                <a:ea typeface="Cambria" pitchFamily="34" charset="-122"/>
                <a:cs typeface="Cambria" pitchFamily="34" charset="-120"/>
              </a:rPr>
              <a:t>30</a:t>
            </a:r>
            <a:endParaRPr lang="en-US" sz="3600" dirty="0"/>
          </a:p>
        </p:txBody>
      </p:sp>
      <p:sp>
        <p:nvSpPr>
          <p:cNvPr id="13" name="Text 11"/>
          <p:cNvSpPr/>
          <p:nvPr/>
        </p:nvSpPr>
        <p:spPr>
          <a:xfrm>
            <a:off x="2514600" y="1463040"/>
            <a:ext cx="1965960" cy="256032"/>
          </a:xfrm>
          <a:prstGeom prst="rect">
            <a:avLst/>
          </a:prstGeom>
          <a:noFill/>
          <a:ln/>
        </p:spPr>
        <p:txBody>
          <a:bodyPr wrap="square" lIns="0" tIns="0" rIns="0" bIns="0" rtlCol="0" anchor="t"/>
          <a:lstStyle/>
          <a:p>
            <a:pPr marL="0" indent="0" algn="ctr">
              <a:buNone/>
            </a:pPr>
            <a:r>
              <a:rPr lang="en-US" sz="1000" dirty="0">
                <a:solidFill>
                  <a:srgbClr val="475569"/>
                </a:solidFill>
                <a:latin typeface="Calibri" pitchFamily="34" charset="0"/>
                <a:ea typeface="Calibri" pitchFamily="34" charset="-122"/>
                <a:cs typeface="Calibri" pitchFamily="34" charset="-120"/>
              </a:rPr>
              <a:t>Features</a:t>
            </a:r>
            <a:endParaRPr lang="en-US" sz="1000" dirty="0"/>
          </a:p>
        </p:txBody>
      </p:sp>
      <p:sp>
        <p:nvSpPr>
          <p:cNvPr id="14" name="Shape 12"/>
          <p:cNvSpPr/>
          <p:nvPr/>
        </p:nvSpPr>
        <p:spPr>
          <a:xfrm>
            <a:off x="4709160" y="960120"/>
            <a:ext cx="1965960" cy="960120"/>
          </a:xfrm>
          <a:prstGeom prst="roundRect">
            <a:avLst>
              <a:gd name="adj" fmla="val 9524"/>
            </a:avLst>
          </a:prstGeom>
          <a:solidFill>
            <a:srgbClr val="DBEAFE"/>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5" name="Text 13"/>
          <p:cNvSpPr/>
          <p:nvPr/>
        </p:nvSpPr>
        <p:spPr>
          <a:xfrm>
            <a:off x="4709160" y="987552"/>
            <a:ext cx="1965960" cy="502920"/>
          </a:xfrm>
          <a:prstGeom prst="rect">
            <a:avLst/>
          </a:prstGeom>
          <a:noFill/>
          <a:ln/>
        </p:spPr>
        <p:txBody>
          <a:bodyPr wrap="square" lIns="0" tIns="0" rIns="0" bIns="0" rtlCol="0" anchor="ctr"/>
          <a:lstStyle/>
          <a:p>
            <a:pPr marL="0" indent="0" algn="ctr">
              <a:buNone/>
            </a:pPr>
            <a:r>
              <a:rPr lang="en-US" sz="3600" b="1" dirty="0">
                <a:solidFill>
                  <a:srgbClr val="2563EB"/>
                </a:solidFill>
                <a:latin typeface="Cambria" pitchFamily="34" charset="0"/>
                <a:ea typeface="Cambria" pitchFamily="34" charset="-122"/>
                <a:cs typeface="Cambria" pitchFamily="34" charset="-120"/>
              </a:rPr>
              <a:t>0.17%</a:t>
            </a:r>
            <a:endParaRPr lang="en-US" sz="3600" dirty="0"/>
          </a:p>
        </p:txBody>
      </p:sp>
      <p:sp>
        <p:nvSpPr>
          <p:cNvPr id="16" name="Text 14"/>
          <p:cNvSpPr/>
          <p:nvPr/>
        </p:nvSpPr>
        <p:spPr>
          <a:xfrm>
            <a:off x="4709160" y="1463040"/>
            <a:ext cx="1965960" cy="256032"/>
          </a:xfrm>
          <a:prstGeom prst="rect">
            <a:avLst/>
          </a:prstGeom>
          <a:noFill/>
          <a:ln/>
        </p:spPr>
        <p:txBody>
          <a:bodyPr wrap="square" lIns="0" tIns="0" rIns="0" bIns="0" rtlCol="0" anchor="t"/>
          <a:lstStyle/>
          <a:p>
            <a:pPr marL="0" indent="0" algn="ctr">
              <a:buNone/>
            </a:pPr>
            <a:r>
              <a:rPr lang="en-US" sz="1000" dirty="0">
                <a:solidFill>
                  <a:srgbClr val="475569"/>
                </a:solidFill>
                <a:latin typeface="Calibri" pitchFamily="34" charset="0"/>
                <a:ea typeface="Calibri" pitchFamily="34" charset="-122"/>
                <a:cs typeface="Calibri" pitchFamily="34" charset="-120"/>
              </a:rPr>
              <a:t>Fraud Rate</a:t>
            </a:r>
            <a:endParaRPr lang="en-US" sz="1000" dirty="0"/>
          </a:p>
        </p:txBody>
      </p:sp>
      <p:sp>
        <p:nvSpPr>
          <p:cNvPr id="17" name="Shape 15"/>
          <p:cNvSpPr/>
          <p:nvPr/>
        </p:nvSpPr>
        <p:spPr>
          <a:xfrm>
            <a:off x="6903720" y="960120"/>
            <a:ext cx="1965960" cy="960120"/>
          </a:xfrm>
          <a:prstGeom prst="roundRect">
            <a:avLst>
              <a:gd name="adj" fmla="val 9524"/>
            </a:avLst>
          </a:prstGeom>
          <a:solidFill>
            <a:srgbClr val="DBEAFE"/>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8" name="Text 16"/>
          <p:cNvSpPr/>
          <p:nvPr/>
        </p:nvSpPr>
        <p:spPr>
          <a:xfrm>
            <a:off x="6903720" y="987552"/>
            <a:ext cx="1965960" cy="502920"/>
          </a:xfrm>
          <a:prstGeom prst="rect">
            <a:avLst/>
          </a:prstGeom>
          <a:noFill/>
          <a:ln/>
        </p:spPr>
        <p:txBody>
          <a:bodyPr wrap="square" lIns="0" tIns="0" rIns="0" bIns="0" rtlCol="0" anchor="ctr"/>
          <a:lstStyle/>
          <a:p>
            <a:pPr marL="0" indent="0" algn="ctr">
              <a:buNone/>
            </a:pPr>
            <a:r>
              <a:rPr lang="en-US" sz="3600" b="1" dirty="0">
                <a:solidFill>
                  <a:srgbClr val="2563EB"/>
                </a:solidFill>
                <a:latin typeface="Cambria" pitchFamily="34" charset="0"/>
                <a:ea typeface="Cambria" pitchFamily="34" charset="-122"/>
                <a:cs typeface="Cambria" pitchFamily="34" charset="-120"/>
              </a:rPr>
              <a:t>0</a:t>
            </a:r>
            <a:endParaRPr lang="en-US" sz="3600" dirty="0"/>
          </a:p>
        </p:txBody>
      </p:sp>
      <p:sp>
        <p:nvSpPr>
          <p:cNvPr id="19" name="Text 17"/>
          <p:cNvSpPr/>
          <p:nvPr/>
        </p:nvSpPr>
        <p:spPr>
          <a:xfrm>
            <a:off x="6903720" y="1463040"/>
            <a:ext cx="1965960" cy="256032"/>
          </a:xfrm>
          <a:prstGeom prst="rect">
            <a:avLst/>
          </a:prstGeom>
          <a:noFill/>
          <a:ln/>
        </p:spPr>
        <p:txBody>
          <a:bodyPr wrap="square" lIns="0" tIns="0" rIns="0" bIns="0" rtlCol="0" anchor="t"/>
          <a:lstStyle/>
          <a:p>
            <a:pPr marL="0" indent="0" algn="ctr">
              <a:buNone/>
            </a:pPr>
            <a:r>
              <a:rPr lang="en-US" sz="1000" dirty="0">
                <a:solidFill>
                  <a:srgbClr val="475569"/>
                </a:solidFill>
                <a:latin typeface="Calibri" pitchFamily="34" charset="0"/>
                <a:ea typeface="Calibri" pitchFamily="34" charset="-122"/>
                <a:cs typeface="Calibri" pitchFamily="34" charset="-120"/>
              </a:rPr>
              <a:t>Missing Values</a:t>
            </a:r>
            <a:endParaRPr lang="en-US" sz="1000" dirty="0"/>
          </a:p>
        </p:txBody>
      </p:sp>
      <p:sp>
        <p:nvSpPr>
          <p:cNvPr id="20" name="Shape 18"/>
          <p:cNvSpPr/>
          <p:nvPr/>
        </p:nvSpPr>
        <p:spPr>
          <a:xfrm>
            <a:off x="320040" y="2084832"/>
            <a:ext cx="5029200" cy="2194560"/>
          </a:xfrm>
          <a:prstGeom prst="roundRect">
            <a:avLst>
              <a:gd name="adj" fmla="val 416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21" name="Text 19"/>
          <p:cNvSpPr/>
          <p:nvPr/>
        </p:nvSpPr>
        <p:spPr>
          <a:xfrm>
            <a:off x="502920" y="2176272"/>
            <a:ext cx="4663440" cy="256032"/>
          </a:xfrm>
          <a:prstGeom prst="rect">
            <a:avLst/>
          </a:prstGeom>
          <a:noFill/>
          <a:ln/>
        </p:spPr>
        <p:txBody>
          <a:bodyPr wrap="square" lIns="0" tIns="0" rIns="0" bIns="0" rtlCol="0" anchor="ctr"/>
          <a:lstStyle/>
          <a:p>
            <a:pPr marL="0" indent="0" algn="l">
              <a:buNone/>
            </a:pPr>
            <a:r>
              <a:rPr lang="en-US" sz="1300" b="1" dirty="0">
                <a:solidFill>
                  <a:srgbClr val="1A3A5C"/>
                </a:solidFill>
                <a:latin typeface="Cambria" pitchFamily="34" charset="0"/>
                <a:ea typeface="Cambria" pitchFamily="34" charset="-122"/>
                <a:cs typeface="Cambria" pitchFamily="34" charset="-120"/>
              </a:rPr>
              <a:t>Feature Structure</a:t>
            </a:r>
            <a:endParaRPr lang="en-US" sz="1300" dirty="0"/>
          </a:p>
        </p:txBody>
      </p:sp>
      <p:sp>
        <p:nvSpPr>
          <p:cNvPr id="22" name="Text 20"/>
          <p:cNvSpPr/>
          <p:nvPr/>
        </p:nvSpPr>
        <p:spPr>
          <a:xfrm>
            <a:off x="502920" y="2487168"/>
            <a:ext cx="4663440" cy="384048"/>
          </a:xfrm>
          <a:prstGeom prst="rect">
            <a:avLst/>
          </a:prstGeom>
          <a:noFill/>
          <a:ln/>
        </p:spPr>
        <p:txBody>
          <a:bodyPr wrap="square" lIns="0" tIns="0" rIns="0" bIns="0" rtlCol="0" anchor="t"/>
          <a:lstStyle/>
          <a:p>
            <a:pPr marL="0" indent="0" algn="l">
              <a:buNone/>
            </a:pPr>
            <a:r>
              <a:rPr lang="en-US" sz="1000" b="1" dirty="0">
                <a:solidFill>
                  <a:srgbClr val="2563EB"/>
                </a:solidFill>
                <a:latin typeface="Calibri" pitchFamily="34" charset="0"/>
                <a:ea typeface="Calibri" pitchFamily="34" charset="-122"/>
                <a:cs typeface="Calibri" pitchFamily="34" charset="-120"/>
              </a:rPr>
              <a:t>V1 – V28:  </a:t>
            </a:r>
            <a:r>
              <a:rPr lang="en-US" sz="1000" dirty="0">
                <a:solidFill>
                  <a:srgbClr val="1E293B"/>
                </a:solidFill>
                <a:latin typeface="Calibri" pitchFamily="34" charset="0"/>
                <a:ea typeface="Calibri" pitchFamily="34" charset="-122"/>
                <a:cs typeface="Calibri" pitchFamily="34" charset="-120"/>
              </a:rPr>
              <a:t>PCA-anonymised principal components — identity protected by the data provider</a:t>
            </a:r>
            <a:endParaRPr lang="en-US" sz="1000" dirty="0"/>
          </a:p>
        </p:txBody>
      </p:sp>
      <p:sp>
        <p:nvSpPr>
          <p:cNvPr id="23" name="Text 21"/>
          <p:cNvSpPr/>
          <p:nvPr/>
        </p:nvSpPr>
        <p:spPr>
          <a:xfrm>
            <a:off x="502920" y="2926080"/>
            <a:ext cx="4663440" cy="384048"/>
          </a:xfrm>
          <a:prstGeom prst="rect">
            <a:avLst/>
          </a:prstGeom>
          <a:noFill/>
          <a:ln/>
        </p:spPr>
        <p:txBody>
          <a:bodyPr wrap="square" lIns="0" tIns="0" rIns="0" bIns="0" rtlCol="0" anchor="t"/>
          <a:lstStyle/>
          <a:p>
            <a:pPr marL="0" indent="0" algn="l">
              <a:buNone/>
            </a:pPr>
            <a:r>
              <a:rPr lang="en-US" sz="1000" b="1" dirty="0">
                <a:solidFill>
                  <a:srgbClr val="2563EB"/>
                </a:solidFill>
                <a:latin typeface="Calibri" pitchFamily="34" charset="0"/>
                <a:ea typeface="Calibri" pitchFamily="34" charset="-122"/>
                <a:cs typeface="Calibri" pitchFamily="34" charset="-120"/>
              </a:rPr>
              <a:t>Amount:  </a:t>
            </a:r>
            <a:r>
              <a:rPr lang="en-US" sz="1000" dirty="0">
                <a:solidFill>
                  <a:srgbClr val="1E293B"/>
                </a:solidFill>
                <a:latin typeface="Calibri" pitchFamily="34" charset="0"/>
                <a:ea typeface="Calibri" pitchFamily="34" charset="-122"/>
                <a:cs typeface="Calibri" pitchFamily="34" charset="-120"/>
              </a:rPr>
              <a:t>Transaction value in EUR (mean €25, max €25,691)</a:t>
            </a:r>
            <a:endParaRPr lang="en-US" sz="1000" dirty="0"/>
          </a:p>
        </p:txBody>
      </p:sp>
      <p:sp>
        <p:nvSpPr>
          <p:cNvPr id="24" name="Text 22"/>
          <p:cNvSpPr/>
          <p:nvPr/>
        </p:nvSpPr>
        <p:spPr>
          <a:xfrm>
            <a:off x="502920" y="3364992"/>
            <a:ext cx="4663440" cy="384048"/>
          </a:xfrm>
          <a:prstGeom prst="rect">
            <a:avLst/>
          </a:prstGeom>
          <a:noFill/>
          <a:ln/>
        </p:spPr>
        <p:txBody>
          <a:bodyPr wrap="square" lIns="0" tIns="0" rIns="0" bIns="0" rtlCol="0" anchor="t"/>
          <a:lstStyle/>
          <a:p>
            <a:pPr marL="0" indent="0" algn="l">
              <a:buNone/>
            </a:pPr>
            <a:r>
              <a:rPr lang="en-US" sz="1000" b="1" dirty="0">
                <a:solidFill>
                  <a:srgbClr val="2563EB"/>
                </a:solidFill>
                <a:latin typeface="Calibri" pitchFamily="34" charset="0"/>
                <a:ea typeface="Calibri" pitchFamily="34" charset="-122"/>
                <a:cs typeface="Calibri" pitchFamily="34" charset="-120"/>
              </a:rPr>
              <a:t>Time:  </a:t>
            </a:r>
            <a:r>
              <a:rPr lang="en-US" sz="1000" dirty="0">
                <a:solidFill>
                  <a:srgbClr val="1E293B"/>
                </a:solidFill>
                <a:latin typeface="Calibri" pitchFamily="34" charset="0"/>
                <a:ea typeface="Calibri" pitchFamily="34" charset="-122"/>
                <a:cs typeface="Calibri" pitchFamily="34" charset="-120"/>
              </a:rPr>
              <a:t>Seconds since first transaction — spans ~48 hours</a:t>
            </a:r>
            <a:endParaRPr lang="en-US" sz="1000" dirty="0"/>
          </a:p>
        </p:txBody>
      </p:sp>
      <p:sp>
        <p:nvSpPr>
          <p:cNvPr id="25" name="Text 23"/>
          <p:cNvSpPr/>
          <p:nvPr/>
        </p:nvSpPr>
        <p:spPr>
          <a:xfrm>
            <a:off x="502920" y="3803904"/>
            <a:ext cx="4663440" cy="384048"/>
          </a:xfrm>
          <a:prstGeom prst="rect">
            <a:avLst/>
          </a:prstGeom>
          <a:noFill/>
          <a:ln/>
        </p:spPr>
        <p:txBody>
          <a:bodyPr wrap="square" lIns="0" tIns="0" rIns="0" bIns="0" rtlCol="0" anchor="t"/>
          <a:lstStyle/>
          <a:p>
            <a:pPr marL="0" indent="0" algn="l">
              <a:buNone/>
            </a:pPr>
            <a:r>
              <a:rPr lang="en-US" sz="1000" b="1" dirty="0">
                <a:solidFill>
                  <a:srgbClr val="2563EB"/>
                </a:solidFill>
                <a:latin typeface="Calibri" pitchFamily="34" charset="0"/>
                <a:ea typeface="Calibri" pitchFamily="34" charset="-122"/>
                <a:cs typeface="Calibri" pitchFamily="34" charset="-120"/>
              </a:rPr>
              <a:t>Class:  </a:t>
            </a:r>
            <a:r>
              <a:rPr lang="en-US" sz="1000" dirty="0">
                <a:solidFill>
                  <a:srgbClr val="1E293B"/>
                </a:solidFill>
                <a:latin typeface="Calibri" pitchFamily="34" charset="0"/>
                <a:ea typeface="Calibri" pitchFamily="34" charset="-122"/>
                <a:cs typeface="Calibri" pitchFamily="34" charset="-120"/>
              </a:rPr>
              <a:t>Target variable: 0 = Legitimate, 1 = Fraud</a:t>
            </a:r>
            <a:endParaRPr lang="en-US" sz="1000" dirty="0"/>
          </a:p>
        </p:txBody>
      </p:sp>
      <p:graphicFrame>
        <p:nvGraphicFramePr>
          <p:cNvPr id="26" name="Chart 0"/>
          <p:cNvGraphicFramePr/>
          <p:nvPr/>
        </p:nvGraphicFramePr>
        <p:xfrm>
          <a:off x="5486400" y="2029968"/>
          <a:ext cx="329184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7" name="Shape 24"/>
          <p:cNvSpPr/>
          <p:nvPr/>
        </p:nvSpPr>
        <p:spPr>
          <a:xfrm>
            <a:off x="320040" y="4407408"/>
            <a:ext cx="8503920" cy="438912"/>
          </a:xfrm>
          <a:prstGeom prst="roundRect">
            <a:avLst>
              <a:gd name="adj" fmla="val 16667"/>
            </a:avLst>
          </a:prstGeom>
          <a:solidFill>
            <a:srgbClr val="FFF7ED"/>
          </a:solidFill>
          <a:ln w="12700">
            <a:solidFill>
              <a:srgbClr val="EA580C"/>
            </a:solidFill>
            <a:prstDash val="solid"/>
          </a:ln>
        </p:spPr>
        <p:txBody>
          <a:bodyPr/>
          <a:lstStyle/>
          <a:p>
            <a:endParaRPr lang="en-US"/>
          </a:p>
        </p:txBody>
      </p:sp>
      <p:pic>
        <p:nvPicPr>
          <p:cNvPr id="28" name="Image 0" descr="preencoded.png"/>
          <p:cNvPicPr>
            <a:picLocks noChangeAspect="1"/>
          </p:cNvPicPr>
          <p:nvPr/>
        </p:nvPicPr>
        <p:blipFill>
          <a:blip r:embed="rId4"/>
          <a:stretch>
            <a:fillRect/>
          </a:stretch>
        </p:blipFill>
        <p:spPr>
          <a:xfrm>
            <a:off x="438912" y="4471416"/>
            <a:ext cx="256032" cy="256032"/>
          </a:xfrm>
          <a:prstGeom prst="rect">
            <a:avLst/>
          </a:prstGeom>
        </p:spPr>
      </p:pic>
      <p:sp>
        <p:nvSpPr>
          <p:cNvPr id="29" name="Text 25"/>
          <p:cNvSpPr/>
          <p:nvPr/>
        </p:nvSpPr>
        <p:spPr>
          <a:xfrm>
            <a:off x="749808" y="4443984"/>
            <a:ext cx="7955280" cy="365760"/>
          </a:xfrm>
          <a:prstGeom prst="rect">
            <a:avLst/>
          </a:prstGeom>
          <a:noFill/>
          <a:ln/>
        </p:spPr>
        <p:txBody>
          <a:bodyPr wrap="square" lIns="0" tIns="0" rIns="0" bIns="0" rtlCol="0" anchor="ctr"/>
          <a:lstStyle/>
          <a:p>
            <a:pPr marL="0" indent="0" algn="l">
              <a:buNone/>
            </a:pPr>
            <a:r>
              <a:rPr lang="en-US" sz="950" b="1" dirty="0">
                <a:solidFill>
                  <a:srgbClr val="EA580C"/>
                </a:solidFill>
                <a:latin typeface="Calibri" pitchFamily="34" charset="0"/>
                <a:ea typeface="Calibri" pitchFamily="34" charset="-122"/>
                <a:cs typeface="Calibri" pitchFamily="34" charset="-120"/>
              </a:rPr>
              <a:t>Critical insight: Severe class imbalance (578:1 ratio: 284,315 legitimate vs. 492 fraud). A naive model predicting 'Legitimate' for everything achieves 99.83% accuracy but detects zero fraud. This is why accuracy alone is a misleading metric here. The dataset also contained 1,081 duplicate rows, removed during cleaning (283,726 rows retained).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Shape 3"/>
          <p:cNvSpPr/>
          <p:nvPr/>
        </p:nvSpPr>
        <p:spPr>
          <a:xfrm>
            <a:off x="457200" y="164592"/>
            <a:ext cx="2560320" cy="237744"/>
          </a:xfrm>
          <a:prstGeom prst="roundRect">
            <a:avLst>
              <a:gd name="adj" fmla="val 50000"/>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457200" y="164592"/>
            <a:ext cx="256032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3 · DATA PREPARATION</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Cleaning, Scaling &amp; Balancing</a:t>
            </a:r>
            <a:endParaRPr lang="en-US" sz="2600" dirty="0"/>
          </a:p>
        </p:txBody>
      </p:sp>
      <p:sp>
        <p:nvSpPr>
          <p:cNvPr id="8" name="Shape 6"/>
          <p:cNvSpPr/>
          <p:nvPr/>
        </p:nvSpPr>
        <p:spPr>
          <a:xfrm>
            <a:off x="274320" y="1005840"/>
            <a:ext cx="1508760" cy="1325880"/>
          </a:xfrm>
          <a:prstGeom prst="roundRect">
            <a:avLst>
              <a:gd name="adj" fmla="val 689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822960" y="1115568"/>
            <a:ext cx="411480" cy="411480"/>
          </a:xfrm>
          <a:prstGeom prst="rect">
            <a:avLst/>
          </a:prstGeom>
        </p:spPr>
      </p:pic>
      <p:sp>
        <p:nvSpPr>
          <p:cNvPr id="10" name="Text 7"/>
          <p:cNvSpPr/>
          <p:nvPr/>
        </p:nvSpPr>
        <p:spPr>
          <a:xfrm>
            <a:off x="320040" y="1572768"/>
            <a:ext cx="1417320" cy="256032"/>
          </a:xfrm>
          <a:prstGeom prst="rect">
            <a:avLst/>
          </a:prstGeom>
          <a:noFill/>
          <a:ln/>
        </p:spPr>
        <p:txBody>
          <a:bodyPr wrap="square" lIns="0" tIns="0" rIns="0" bIns="0" rtlCol="0" anchor="ctr"/>
          <a:lstStyle/>
          <a:p>
            <a:pPr marL="0" indent="0" algn="ctr">
              <a:buNone/>
            </a:pPr>
            <a:r>
              <a:rPr lang="en-US" sz="950" b="1" dirty="0">
                <a:solidFill>
                  <a:srgbClr val="1A3A5C"/>
                </a:solidFill>
                <a:latin typeface="Cambria" pitchFamily="34" charset="0"/>
                <a:ea typeface="Cambria" pitchFamily="34" charset="-122"/>
                <a:cs typeface="Cambria" pitchFamily="34" charset="-120"/>
              </a:rPr>
              <a:t>Raw Data</a:t>
            </a:r>
            <a:endParaRPr lang="en-US" sz="950" dirty="0"/>
          </a:p>
        </p:txBody>
      </p:sp>
      <p:sp>
        <p:nvSpPr>
          <p:cNvPr id="11" name="Text 8"/>
          <p:cNvSpPr/>
          <p:nvPr/>
        </p:nvSpPr>
        <p:spPr>
          <a:xfrm>
            <a:off x="320040" y="1810512"/>
            <a:ext cx="1417320" cy="274320"/>
          </a:xfrm>
          <a:prstGeom prst="rect">
            <a:avLst/>
          </a:prstGeom>
          <a:noFill/>
          <a:ln/>
        </p:spPr>
        <p:txBody>
          <a:bodyPr wrap="square" lIns="0" tIns="0" rIns="0" bIns="0" rtlCol="0" anchor="t"/>
          <a:lstStyle/>
          <a:p>
            <a:pPr marL="0" indent="0" algn="ctr">
              <a:buNone/>
            </a:pPr>
            <a:r>
              <a:rPr lang="en-US" sz="850" dirty="0">
                <a:solidFill>
                  <a:srgbClr val="475569"/>
                </a:solidFill>
                <a:latin typeface="Calibri" pitchFamily="34" charset="0"/>
                <a:ea typeface="Calibri" pitchFamily="34" charset="-122"/>
                <a:cs typeface="Calibri" pitchFamily="34" charset="-120"/>
              </a:rPr>
              <a:t>284,807 rows, 31 cols</a:t>
            </a:r>
            <a:endParaRPr lang="en-US" sz="850" dirty="0"/>
          </a:p>
        </p:txBody>
      </p:sp>
      <p:sp>
        <p:nvSpPr>
          <p:cNvPr id="12" name="Shape 9"/>
          <p:cNvSpPr/>
          <p:nvPr/>
        </p:nvSpPr>
        <p:spPr>
          <a:xfrm>
            <a:off x="1783080" y="1673352"/>
            <a:ext cx="210312" cy="0"/>
          </a:xfrm>
          <a:prstGeom prst="line">
            <a:avLst/>
          </a:prstGeom>
          <a:noFill/>
          <a:ln w="19050">
            <a:solidFill>
              <a:srgbClr val="2563EB"/>
            </a:solidFill>
            <a:prstDash val="solid"/>
          </a:ln>
        </p:spPr>
        <p:txBody>
          <a:bodyPr/>
          <a:lstStyle/>
          <a:p>
            <a:endParaRPr lang="en-US"/>
          </a:p>
        </p:txBody>
      </p:sp>
      <p:sp>
        <p:nvSpPr>
          <p:cNvPr id="13" name="Text 10"/>
          <p:cNvSpPr/>
          <p:nvPr/>
        </p:nvSpPr>
        <p:spPr>
          <a:xfrm>
            <a:off x="1938528" y="1609344"/>
            <a:ext cx="182880" cy="182880"/>
          </a:xfrm>
          <a:prstGeom prst="rect">
            <a:avLst/>
          </a:prstGeom>
          <a:noFill/>
          <a:ln/>
        </p:spPr>
        <p:txBody>
          <a:bodyPr wrap="square" lIns="0" tIns="0" rIns="0" bIns="0" rtlCol="0" anchor="ctr"/>
          <a:lstStyle/>
          <a:p>
            <a:pPr marL="0" indent="0" algn="ctr">
              <a:buNone/>
            </a:pPr>
            <a:r>
              <a:rPr lang="en-US" sz="900" dirty="0">
                <a:solidFill>
                  <a:srgbClr val="2563EB"/>
                </a:solidFill>
              </a:rPr>
              <a:t>▶</a:t>
            </a:r>
            <a:endParaRPr lang="en-US" sz="900" dirty="0"/>
          </a:p>
        </p:txBody>
      </p:sp>
      <p:sp>
        <p:nvSpPr>
          <p:cNvPr id="14" name="Shape 11"/>
          <p:cNvSpPr/>
          <p:nvPr/>
        </p:nvSpPr>
        <p:spPr>
          <a:xfrm>
            <a:off x="3792648" y="988961"/>
            <a:ext cx="1508760" cy="1325880"/>
          </a:xfrm>
          <a:prstGeom prst="roundRect">
            <a:avLst>
              <a:gd name="adj" fmla="val 689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15" name="Image 1" descr="preencoded.png"/>
          <p:cNvPicPr>
            <a:picLocks noChangeAspect="1"/>
          </p:cNvPicPr>
          <p:nvPr/>
        </p:nvPicPr>
        <p:blipFill>
          <a:blip r:embed="rId4"/>
          <a:stretch>
            <a:fillRect/>
          </a:stretch>
        </p:blipFill>
        <p:spPr>
          <a:xfrm>
            <a:off x="4390526" y="1098689"/>
            <a:ext cx="411480" cy="411480"/>
          </a:xfrm>
          <a:prstGeom prst="rect">
            <a:avLst/>
          </a:prstGeom>
        </p:spPr>
      </p:pic>
      <p:sp>
        <p:nvSpPr>
          <p:cNvPr id="16" name="Text 12"/>
          <p:cNvSpPr/>
          <p:nvPr/>
        </p:nvSpPr>
        <p:spPr>
          <a:xfrm>
            <a:off x="3887606" y="1555889"/>
            <a:ext cx="1417320" cy="256032"/>
          </a:xfrm>
          <a:prstGeom prst="rect">
            <a:avLst/>
          </a:prstGeom>
          <a:noFill/>
          <a:ln/>
        </p:spPr>
        <p:txBody>
          <a:bodyPr wrap="square" lIns="0" tIns="0" rIns="0" bIns="0" rtlCol="0" anchor="ctr"/>
          <a:lstStyle/>
          <a:p>
            <a:pPr marL="0" indent="0" algn="ctr">
              <a:buNone/>
            </a:pPr>
            <a:r>
              <a:rPr lang="en-US" sz="950" b="1" dirty="0">
                <a:solidFill>
                  <a:srgbClr val="1A3A5C"/>
                </a:solidFill>
                <a:latin typeface="Cambria" pitchFamily="34" charset="0"/>
                <a:ea typeface="Cambria" pitchFamily="34" charset="-122"/>
                <a:cs typeface="Cambria" pitchFamily="34" charset="-120"/>
              </a:rPr>
              <a:t>Outlier Capping</a:t>
            </a:r>
            <a:endParaRPr lang="en-US" sz="950" dirty="0"/>
          </a:p>
        </p:txBody>
      </p:sp>
      <p:sp>
        <p:nvSpPr>
          <p:cNvPr id="17" name="Text 13"/>
          <p:cNvSpPr/>
          <p:nvPr/>
        </p:nvSpPr>
        <p:spPr>
          <a:xfrm>
            <a:off x="3887606" y="1793633"/>
            <a:ext cx="1417320" cy="274320"/>
          </a:xfrm>
          <a:prstGeom prst="rect">
            <a:avLst/>
          </a:prstGeom>
          <a:noFill/>
          <a:ln/>
        </p:spPr>
        <p:txBody>
          <a:bodyPr wrap="square" lIns="0" tIns="0" rIns="0" bIns="0" rtlCol="0" anchor="t"/>
          <a:lstStyle/>
          <a:p>
            <a:pPr marL="0" indent="0" algn="ctr">
              <a:buNone/>
            </a:pPr>
            <a:r>
              <a:rPr lang="en-US" sz="850" dirty="0">
                <a:solidFill>
                  <a:srgbClr val="475569"/>
                </a:solidFill>
                <a:latin typeface="Calibri" pitchFamily="34" charset="0"/>
                <a:ea typeface="Calibri" pitchFamily="34" charset="-122"/>
                <a:cs typeface="Calibri" pitchFamily="34" charset="-120"/>
              </a:rPr>
              <a:t>Amount only (3σ)</a:t>
            </a:r>
            <a:endParaRPr lang="en-US" sz="850" dirty="0"/>
          </a:p>
        </p:txBody>
      </p:sp>
      <p:sp>
        <p:nvSpPr>
          <p:cNvPr id="18" name="Shape 14"/>
          <p:cNvSpPr/>
          <p:nvPr/>
        </p:nvSpPr>
        <p:spPr>
          <a:xfrm>
            <a:off x="5350646" y="1656473"/>
            <a:ext cx="210312" cy="0"/>
          </a:xfrm>
          <a:prstGeom prst="line">
            <a:avLst/>
          </a:prstGeom>
          <a:noFill/>
          <a:ln w="19050">
            <a:solidFill>
              <a:srgbClr val="2563EB"/>
            </a:solidFill>
            <a:prstDash val="solid"/>
          </a:ln>
        </p:spPr>
        <p:txBody>
          <a:bodyPr/>
          <a:lstStyle/>
          <a:p>
            <a:endParaRPr lang="en-US"/>
          </a:p>
        </p:txBody>
      </p:sp>
      <p:sp>
        <p:nvSpPr>
          <p:cNvPr id="19" name="Text 15"/>
          <p:cNvSpPr/>
          <p:nvPr/>
        </p:nvSpPr>
        <p:spPr>
          <a:xfrm>
            <a:off x="5506094" y="1592465"/>
            <a:ext cx="182880" cy="182880"/>
          </a:xfrm>
          <a:prstGeom prst="rect">
            <a:avLst/>
          </a:prstGeom>
          <a:noFill/>
          <a:ln/>
        </p:spPr>
        <p:txBody>
          <a:bodyPr wrap="square" lIns="0" tIns="0" rIns="0" bIns="0" rtlCol="0" anchor="ctr"/>
          <a:lstStyle/>
          <a:p>
            <a:pPr marL="0" indent="0" algn="ctr">
              <a:buNone/>
            </a:pPr>
            <a:r>
              <a:rPr lang="en-US" sz="900" dirty="0">
                <a:solidFill>
                  <a:srgbClr val="2563EB"/>
                </a:solidFill>
              </a:rPr>
              <a:t>▶</a:t>
            </a:r>
            <a:endParaRPr lang="en-US" sz="900" dirty="0"/>
          </a:p>
        </p:txBody>
      </p:sp>
      <p:sp>
        <p:nvSpPr>
          <p:cNvPr id="20" name="Shape 16"/>
          <p:cNvSpPr/>
          <p:nvPr/>
        </p:nvSpPr>
        <p:spPr>
          <a:xfrm>
            <a:off x="5560958" y="988961"/>
            <a:ext cx="1508760" cy="1325880"/>
          </a:xfrm>
          <a:prstGeom prst="roundRect">
            <a:avLst>
              <a:gd name="adj" fmla="val 689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21" name="Image 2" descr="preencoded.png"/>
          <p:cNvPicPr>
            <a:picLocks noChangeAspect="1"/>
          </p:cNvPicPr>
          <p:nvPr/>
        </p:nvPicPr>
        <p:blipFill>
          <a:blip r:embed="rId5"/>
          <a:stretch>
            <a:fillRect/>
          </a:stretch>
        </p:blipFill>
        <p:spPr>
          <a:xfrm>
            <a:off x="6109598" y="1098689"/>
            <a:ext cx="411480" cy="411480"/>
          </a:xfrm>
          <a:prstGeom prst="rect">
            <a:avLst/>
          </a:prstGeom>
        </p:spPr>
      </p:pic>
      <p:sp>
        <p:nvSpPr>
          <p:cNvPr id="22" name="Text 17"/>
          <p:cNvSpPr/>
          <p:nvPr/>
        </p:nvSpPr>
        <p:spPr>
          <a:xfrm>
            <a:off x="5606678" y="1555889"/>
            <a:ext cx="1417320" cy="256032"/>
          </a:xfrm>
          <a:prstGeom prst="rect">
            <a:avLst/>
          </a:prstGeom>
          <a:noFill/>
          <a:ln/>
        </p:spPr>
        <p:txBody>
          <a:bodyPr wrap="square" lIns="0" tIns="0" rIns="0" bIns="0" rtlCol="0" anchor="ctr"/>
          <a:lstStyle/>
          <a:p>
            <a:pPr marL="0" indent="0" algn="ctr">
              <a:buNone/>
            </a:pPr>
            <a:r>
              <a:rPr lang="en-US" sz="950" b="1" dirty="0">
                <a:solidFill>
                  <a:srgbClr val="1A3A5C"/>
                </a:solidFill>
                <a:latin typeface="Cambria" pitchFamily="34" charset="0"/>
                <a:ea typeface="Cambria" pitchFamily="34" charset="-122"/>
                <a:cs typeface="Cambria" pitchFamily="34" charset="-120"/>
              </a:rPr>
              <a:t>Robust Scaling</a:t>
            </a:r>
            <a:endParaRPr lang="en-US" sz="950" dirty="0"/>
          </a:p>
        </p:txBody>
      </p:sp>
      <p:sp>
        <p:nvSpPr>
          <p:cNvPr id="23" name="Text 18"/>
          <p:cNvSpPr/>
          <p:nvPr/>
        </p:nvSpPr>
        <p:spPr>
          <a:xfrm>
            <a:off x="5606678" y="1793633"/>
            <a:ext cx="1417320" cy="274320"/>
          </a:xfrm>
          <a:prstGeom prst="rect">
            <a:avLst/>
          </a:prstGeom>
          <a:noFill/>
          <a:ln/>
        </p:spPr>
        <p:txBody>
          <a:bodyPr wrap="square" lIns="0" tIns="0" rIns="0" bIns="0" rtlCol="0" anchor="t"/>
          <a:lstStyle/>
          <a:p>
            <a:pPr marL="0" indent="0" algn="ctr">
              <a:buNone/>
            </a:pPr>
            <a:r>
              <a:rPr lang="en-US" sz="850" dirty="0">
                <a:solidFill>
                  <a:srgbClr val="475569"/>
                </a:solidFill>
                <a:latin typeface="Calibri" pitchFamily="34" charset="0"/>
                <a:ea typeface="Calibri" pitchFamily="34" charset="-122"/>
                <a:cs typeface="Calibri" pitchFamily="34" charset="-120"/>
              </a:rPr>
              <a:t>Amount &amp; Time</a:t>
            </a:r>
            <a:endParaRPr lang="en-US" sz="850" dirty="0"/>
          </a:p>
        </p:txBody>
      </p:sp>
      <p:sp>
        <p:nvSpPr>
          <p:cNvPr id="24" name="Shape 19"/>
          <p:cNvSpPr/>
          <p:nvPr/>
        </p:nvSpPr>
        <p:spPr>
          <a:xfrm>
            <a:off x="7069718" y="1656473"/>
            <a:ext cx="210312" cy="0"/>
          </a:xfrm>
          <a:prstGeom prst="line">
            <a:avLst/>
          </a:prstGeom>
          <a:noFill/>
          <a:ln w="19050">
            <a:solidFill>
              <a:srgbClr val="2563EB"/>
            </a:solidFill>
            <a:prstDash val="solid"/>
          </a:ln>
        </p:spPr>
        <p:txBody>
          <a:bodyPr/>
          <a:lstStyle/>
          <a:p>
            <a:endParaRPr lang="en-US"/>
          </a:p>
        </p:txBody>
      </p:sp>
      <p:sp>
        <p:nvSpPr>
          <p:cNvPr id="25" name="Text 20"/>
          <p:cNvSpPr/>
          <p:nvPr/>
        </p:nvSpPr>
        <p:spPr>
          <a:xfrm>
            <a:off x="7225166" y="1592465"/>
            <a:ext cx="182880" cy="182880"/>
          </a:xfrm>
          <a:prstGeom prst="rect">
            <a:avLst/>
          </a:prstGeom>
          <a:noFill/>
          <a:ln/>
        </p:spPr>
        <p:txBody>
          <a:bodyPr wrap="square" lIns="0" tIns="0" rIns="0" bIns="0" rtlCol="0" anchor="ctr"/>
          <a:lstStyle/>
          <a:p>
            <a:pPr marL="0" indent="0" algn="ctr">
              <a:buNone/>
            </a:pPr>
            <a:r>
              <a:rPr lang="en-US" sz="900" dirty="0">
                <a:solidFill>
                  <a:srgbClr val="2563EB"/>
                </a:solidFill>
              </a:rPr>
              <a:t>▶</a:t>
            </a:r>
            <a:endParaRPr lang="en-US" sz="900" dirty="0"/>
          </a:p>
        </p:txBody>
      </p:sp>
      <p:sp>
        <p:nvSpPr>
          <p:cNvPr id="26" name="Shape 21"/>
          <p:cNvSpPr/>
          <p:nvPr/>
        </p:nvSpPr>
        <p:spPr>
          <a:xfrm>
            <a:off x="7280030" y="988961"/>
            <a:ext cx="1508760" cy="1325880"/>
          </a:xfrm>
          <a:prstGeom prst="roundRect">
            <a:avLst>
              <a:gd name="adj" fmla="val 6897"/>
            </a:avLst>
          </a:prstGeom>
          <a:solidFill>
            <a:srgbClr val="EFF6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27" name="Image 3" descr="preencoded.png"/>
          <p:cNvPicPr>
            <a:picLocks noChangeAspect="1"/>
          </p:cNvPicPr>
          <p:nvPr/>
        </p:nvPicPr>
        <p:blipFill>
          <a:blip r:embed="rId6"/>
          <a:stretch>
            <a:fillRect/>
          </a:stretch>
        </p:blipFill>
        <p:spPr>
          <a:xfrm>
            <a:off x="7828670" y="1098689"/>
            <a:ext cx="411480" cy="411480"/>
          </a:xfrm>
          <a:prstGeom prst="rect">
            <a:avLst/>
          </a:prstGeom>
        </p:spPr>
      </p:pic>
      <p:sp>
        <p:nvSpPr>
          <p:cNvPr id="28" name="Text 22"/>
          <p:cNvSpPr/>
          <p:nvPr/>
        </p:nvSpPr>
        <p:spPr>
          <a:xfrm>
            <a:off x="7325750" y="1555889"/>
            <a:ext cx="1417320" cy="256032"/>
          </a:xfrm>
          <a:prstGeom prst="rect">
            <a:avLst/>
          </a:prstGeom>
          <a:noFill/>
          <a:ln/>
        </p:spPr>
        <p:txBody>
          <a:bodyPr wrap="square" lIns="0" tIns="0" rIns="0" bIns="0" rtlCol="0" anchor="ctr"/>
          <a:lstStyle/>
          <a:p>
            <a:pPr marL="0" indent="0" algn="ctr">
              <a:buNone/>
            </a:pPr>
            <a:r>
              <a:rPr lang="en-US" sz="950" b="1" dirty="0">
                <a:solidFill>
                  <a:srgbClr val="1A3A5C"/>
                </a:solidFill>
                <a:latin typeface="Cambria" pitchFamily="34" charset="0"/>
                <a:ea typeface="Cambria" pitchFamily="34" charset="-122"/>
                <a:cs typeface="Cambria" pitchFamily="34" charset="-120"/>
              </a:rPr>
              <a:t>SMOTE</a:t>
            </a:r>
            <a:endParaRPr lang="en-US" sz="950" dirty="0"/>
          </a:p>
        </p:txBody>
      </p:sp>
      <p:sp>
        <p:nvSpPr>
          <p:cNvPr id="29" name="Text 23"/>
          <p:cNvSpPr/>
          <p:nvPr/>
        </p:nvSpPr>
        <p:spPr>
          <a:xfrm>
            <a:off x="7325750" y="1793633"/>
            <a:ext cx="1417320" cy="274320"/>
          </a:xfrm>
          <a:prstGeom prst="rect">
            <a:avLst/>
          </a:prstGeom>
          <a:noFill/>
          <a:ln/>
        </p:spPr>
        <p:txBody>
          <a:bodyPr wrap="square" lIns="0" tIns="0" rIns="0" bIns="0" rtlCol="0" anchor="t"/>
          <a:lstStyle/>
          <a:p>
            <a:pPr marL="0" indent="0" algn="ctr">
              <a:buNone/>
            </a:pPr>
            <a:r>
              <a:rPr lang="en-US" sz="850" dirty="0">
                <a:solidFill>
                  <a:srgbClr val="475569"/>
                </a:solidFill>
                <a:latin typeface="Calibri" pitchFamily="34" charset="0"/>
                <a:ea typeface="Calibri" pitchFamily="34" charset="-122"/>
                <a:cs typeface="Calibri" pitchFamily="34" charset="-120"/>
              </a:rPr>
              <a:t>Synthetic oversampling</a:t>
            </a:r>
            <a:endParaRPr lang="en-US" sz="850" dirty="0"/>
          </a:p>
        </p:txBody>
      </p:sp>
      <p:sp>
        <p:nvSpPr>
          <p:cNvPr id="30" name="Shape 24"/>
          <p:cNvSpPr/>
          <p:nvPr/>
        </p:nvSpPr>
        <p:spPr>
          <a:xfrm>
            <a:off x="3552444" y="1669133"/>
            <a:ext cx="210312" cy="0"/>
          </a:xfrm>
          <a:prstGeom prst="line">
            <a:avLst/>
          </a:prstGeom>
          <a:noFill/>
          <a:ln w="19050">
            <a:solidFill>
              <a:srgbClr val="2563EB"/>
            </a:solidFill>
            <a:prstDash val="solid"/>
          </a:ln>
        </p:spPr>
        <p:txBody>
          <a:bodyPr/>
          <a:lstStyle/>
          <a:p>
            <a:endParaRPr lang="en-US"/>
          </a:p>
        </p:txBody>
      </p:sp>
      <p:sp>
        <p:nvSpPr>
          <p:cNvPr id="31" name="Text 25"/>
          <p:cNvSpPr/>
          <p:nvPr/>
        </p:nvSpPr>
        <p:spPr>
          <a:xfrm>
            <a:off x="3706132" y="1581912"/>
            <a:ext cx="182880" cy="182880"/>
          </a:xfrm>
          <a:prstGeom prst="rect">
            <a:avLst/>
          </a:prstGeom>
          <a:noFill/>
          <a:ln/>
        </p:spPr>
        <p:txBody>
          <a:bodyPr wrap="square" lIns="0" tIns="0" rIns="0" bIns="0" rtlCol="0" anchor="ctr"/>
          <a:lstStyle/>
          <a:p>
            <a:pPr marL="0" indent="0" algn="ctr">
              <a:buNone/>
            </a:pPr>
            <a:endParaRPr lang="en-US" sz="900" dirty="0"/>
          </a:p>
        </p:txBody>
      </p:sp>
      <p:sp>
        <p:nvSpPr>
          <p:cNvPr id="32" name="Shape 26"/>
          <p:cNvSpPr/>
          <p:nvPr/>
        </p:nvSpPr>
        <p:spPr>
          <a:xfrm>
            <a:off x="2025220" y="982979"/>
            <a:ext cx="1508760" cy="1325880"/>
          </a:xfrm>
          <a:prstGeom prst="roundRect">
            <a:avLst>
              <a:gd name="adj" fmla="val 689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33" name="Image 4" descr="preencoded.png"/>
          <p:cNvPicPr>
            <a:picLocks noChangeAspect="1"/>
          </p:cNvPicPr>
          <p:nvPr/>
        </p:nvPicPr>
        <p:blipFill>
          <a:blip r:embed="rId7"/>
          <a:stretch>
            <a:fillRect/>
          </a:stretch>
        </p:blipFill>
        <p:spPr>
          <a:xfrm>
            <a:off x="2573860" y="1092707"/>
            <a:ext cx="411480" cy="411480"/>
          </a:xfrm>
          <a:prstGeom prst="rect">
            <a:avLst/>
          </a:prstGeom>
        </p:spPr>
      </p:pic>
      <p:sp>
        <p:nvSpPr>
          <p:cNvPr id="34" name="Text 27"/>
          <p:cNvSpPr/>
          <p:nvPr/>
        </p:nvSpPr>
        <p:spPr>
          <a:xfrm>
            <a:off x="2070940" y="1606179"/>
            <a:ext cx="1417320" cy="256032"/>
          </a:xfrm>
          <a:prstGeom prst="rect">
            <a:avLst/>
          </a:prstGeom>
          <a:noFill/>
          <a:ln/>
        </p:spPr>
        <p:txBody>
          <a:bodyPr wrap="square" lIns="0" tIns="0" rIns="0" bIns="0" rtlCol="0" anchor="ctr"/>
          <a:lstStyle/>
          <a:p>
            <a:pPr marL="0" indent="0" algn="ctr">
              <a:buNone/>
            </a:pPr>
            <a:r>
              <a:rPr lang="en-US" sz="950" b="1" dirty="0">
                <a:solidFill>
                  <a:srgbClr val="1A3A5C"/>
                </a:solidFill>
                <a:latin typeface="Cambria" pitchFamily="34" charset="0"/>
                <a:ea typeface="Cambria" pitchFamily="34" charset="-122"/>
                <a:cs typeface="Cambria" pitchFamily="34" charset="-120"/>
              </a:rPr>
              <a:t>Train </a:t>
            </a:r>
            <a:r>
              <a:rPr lang="en-US" sz="950" b="1">
                <a:solidFill>
                  <a:srgbClr val="1A3A5C"/>
                </a:solidFill>
                <a:latin typeface="Cambria" pitchFamily="34" charset="0"/>
                <a:ea typeface="Cambria" pitchFamily="34" charset="-122"/>
                <a:cs typeface="Cambria" pitchFamily="34" charset="-120"/>
              </a:rPr>
              <a:t>/ Test &amp; K fold cross validation</a:t>
            </a:r>
            <a:endParaRPr lang="en-US" sz="950" dirty="0"/>
          </a:p>
        </p:txBody>
      </p:sp>
      <p:sp>
        <p:nvSpPr>
          <p:cNvPr id="35" name="Text 28"/>
          <p:cNvSpPr/>
          <p:nvPr/>
        </p:nvSpPr>
        <p:spPr>
          <a:xfrm>
            <a:off x="2070940" y="1921297"/>
            <a:ext cx="1417320" cy="274320"/>
          </a:xfrm>
          <a:prstGeom prst="rect">
            <a:avLst/>
          </a:prstGeom>
          <a:noFill/>
          <a:ln/>
        </p:spPr>
        <p:txBody>
          <a:bodyPr wrap="square" lIns="0" tIns="0" rIns="0" bIns="0" rtlCol="0" anchor="t"/>
          <a:lstStyle/>
          <a:p>
            <a:pPr marL="0" indent="0" algn="ctr">
              <a:buNone/>
            </a:pPr>
            <a:r>
              <a:rPr lang="en-US" sz="850" dirty="0">
                <a:solidFill>
                  <a:srgbClr val="475569"/>
                </a:solidFill>
                <a:latin typeface="Calibri" pitchFamily="34" charset="0"/>
                <a:ea typeface="Calibri" pitchFamily="34" charset="-122"/>
                <a:cs typeface="Calibri" pitchFamily="34" charset="-120"/>
              </a:rPr>
              <a:t>80% / 20% stratified</a:t>
            </a:r>
            <a:endParaRPr lang="en-US" sz="850" dirty="0"/>
          </a:p>
        </p:txBody>
      </p:sp>
      <p:sp>
        <p:nvSpPr>
          <p:cNvPr id="36" name="Shape 29"/>
          <p:cNvSpPr/>
          <p:nvPr/>
        </p:nvSpPr>
        <p:spPr>
          <a:xfrm>
            <a:off x="320040" y="2514600"/>
            <a:ext cx="2743200" cy="2331720"/>
          </a:xfrm>
          <a:prstGeom prst="roundRect">
            <a:avLst>
              <a:gd name="adj" fmla="val 3922"/>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37" name="Image 5" descr="preencoded.png"/>
          <p:cNvPicPr>
            <a:picLocks noChangeAspect="1"/>
          </p:cNvPicPr>
          <p:nvPr/>
        </p:nvPicPr>
        <p:blipFill>
          <a:blip r:embed="rId8"/>
          <a:stretch>
            <a:fillRect/>
          </a:stretch>
        </p:blipFill>
        <p:spPr>
          <a:xfrm>
            <a:off x="457200" y="2606040"/>
            <a:ext cx="274320" cy="274320"/>
          </a:xfrm>
          <a:prstGeom prst="rect">
            <a:avLst/>
          </a:prstGeom>
        </p:spPr>
      </p:pic>
      <p:sp>
        <p:nvSpPr>
          <p:cNvPr id="38" name="Text 30"/>
          <p:cNvSpPr/>
          <p:nvPr/>
        </p:nvSpPr>
        <p:spPr>
          <a:xfrm>
            <a:off x="795528" y="2606040"/>
            <a:ext cx="2176272" cy="274320"/>
          </a:xfrm>
          <a:prstGeom prst="rect">
            <a:avLst/>
          </a:prstGeom>
          <a:noFill/>
          <a:ln/>
        </p:spPr>
        <p:txBody>
          <a:bodyPr wrap="square" lIns="0" tIns="0" rIns="0" bIns="0" rtlCol="0" anchor="ctr"/>
          <a:lstStyle/>
          <a:p>
            <a:pPr marL="0" indent="0" algn="l">
              <a:buNone/>
            </a:pPr>
            <a:r>
              <a:rPr lang="en-US" sz="950" b="1" dirty="0">
                <a:solidFill>
                  <a:srgbClr val="1A3A5C"/>
                </a:solidFill>
                <a:latin typeface="Cambria" pitchFamily="34" charset="0"/>
                <a:ea typeface="Cambria" pitchFamily="34" charset="-122"/>
                <a:cs typeface="Cambria" pitchFamily="34" charset="-120"/>
              </a:rPr>
              <a:t>① 3-Sigma Outlier Capping</a:t>
            </a:r>
            <a:endParaRPr lang="en-US" sz="950" dirty="0"/>
          </a:p>
        </p:txBody>
      </p:sp>
      <p:sp>
        <p:nvSpPr>
          <p:cNvPr id="39" name="Text 31"/>
          <p:cNvSpPr/>
          <p:nvPr/>
        </p:nvSpPr>
        <p:spPr>
          <a:xfrm>
            <a:off x="457200" y="2926080"/>
            <a:ext cx="2487168" cy="914400"/>
          </a:xfrm>
          <a:prstGeom prst="rect">
            <a:avLst/>
          </a:prstGeom>
          <a:noFill/>
          <a:ln/>
        </p:spPr>
        <p:txBody>
          <a:bodyPr wrap="square" lIns="0" tIns="0" rIns="0" bIns="0" rtlCol="0" anchor="t"/>
          <a:lstStyle/>
          <a:p>
            <a:pPr marL="0" indent="0" algn="l">
              <a:buNone/>
            </a:pPr>
            <a:r>
              <a:rPr lang="en-US" sz="850" dirty="0">
                <a:solidFill>
                  <a:srgbClr val="1E293B"/>
                </a:solidFill>
                <a:latin typeface="Calibri" pitchFamily="34" charset="0"/>
                <a:ea typeface="Calibri" pitchFamily="34" charset="-122"/>
                <a:cs typeface="Calibri" pitchFamily="34" charset="-120"/>
              </a:rPr>
              <a:t>Values beyond μ ± 3σ in the Amount column are clipped to the boundary. Applied within each fold to prevent data leakage. PCA features (V1–V28) are left uncapped since they're already near-normal from the dataset's PCA transform.</a:t>
            </a:r>
            <a:endParaRPr lang="en-US" sz="850" dirty="0"/>
          </a:p>
        </p:txBody>
      </p:sp>
      <p:sp>
        <p:nvSpPr>
          <p:cNvPr id="40" name="Shape 32"/>
          <p:cNvSpPr/>
          <p:nvPr/>
        </p:nvSpPr>
        <p:spPr>
          <a:xfrm>
            <a:off x="457200" y="3886200"/>
            <a:ext cx="2487168" cy="822960"/>
          </a:xfrm>
          <a:prstGeom prst="roundRect">
            <a:avLst>
              <a:gd name="adj" fmla="val 6667"/>
            </a:avLst>
          </a:prstGeom>
          <a:solidFill>
            <a:srgbClr val="FFF7ED"/>
          </a:solidFill>
          <a:ln w="6350">
            <a:solidFill>
              <a:srgbClr val="EA580C"/>
            </a:solidFill>
            <a:prstDash val="solid"/>
          </a:ln>
        </p:spPr>
        <p:txBody>
          <a:bodyPr/>
          <a:lstStyle/>
          <a:p>
            <a:endParaRPr lang="en-US"/>
          </a:p>
        </p:txBody>
      </p:sp>
      <p:sp>
        <p:nvSpPr>
          <p:cNvPr id="41" name="Text 33"/>
          <p:cNvSpPr/>
          <p:nvPr/>
        </p:nvSpPr>
        <p:spPr>
          <a:xfrm>
            <a:off x="521208" y="3931920"/>
            <a:ext cx="2377440" cy="731520"/>
          </a:xfrm>
          <a:prstGeom prst="rect">
            <a:avLst/>
          </a:prstGeom>
          <a:noFill/>
          <a:ln/>
        </p:spPr>
        <p:txBody>
          <a:bodyPr wrap="square" lIns="0" tIns="0" rIns="0" bIns="0" rtlCol="0" anchor="t"/>
          <a:lstStyle/>
          <a:p>
            <a:pPr marL="0" indent="0" algn="l">
              <a:buNone/>
            </a:pPr>
            <a:r>
              <a:rPr lang="en-US" sz="800" b="1" dirty="0">
                <a:solidFill>
                  <a:srgbClr val="EA580C"/>
                </a:solidFill>
                <a:latin typeface="Calibri" pitchFamily="34" charset="0"/>
                <a:ea typeface="Calibri" pitchFamily="34" charset="-122"/>
                <a:cs typeface="Calibri" pitchFamily="34" charset="-120"/>
              </a:rPr>
              <a:t>Why not alternatives? </a:t>
            </a:r>
            <a:r>
              <a:rPr lang="en-US" sz="800" dirty="0">
                <a:solidFill>
                  <a:srgbClr val="475569"/>
                </a:solidFill>
                <a:latin typeface="Calibri" pitchFamily="34" charset="0"/>
                <a:ea typeface="Calibri" pitchFamily="34" charset="-122"/>
                <a:cs typeface="Calibri" pitchFamily="34" charset="-120"/>
              </a:rPr>
              <a:t>Alternative: IQR-based (1.5×IQR). Rejected — too aggressive for the right-skewed Amount distribution; capping is scoped to Amount only, leaving PCA features untouched.</a:t>
            </a:r>
            <a:endParaRPr lang="en-US" sz="800" dirty="0"/>
          </a:p>
        </p:txBody>
      </p:sp>
      <p:sp>
        <p:nvSpPr>
          <p:cNvPr id="42" name="Shape 34"/>
          <p:cNvSpPr/>
          <p:nvPr/>
        </p:nvSpPr>
        <p:spPr>
          <a:xfrm>
            <a:off x="3246120" y="2514600"/>
            <a:ext cx="2743200" cy="2331720"/>
          </a:xfrm>
          <a:prstGeom prst="roundRect">
            <a:avLst>
              <a:gd name="adj" fmla="val 3922"/>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43" name="Image 6" descr="preencoded.png"/>
          <p:cNvPicPr>
            <a:picLocks noChangeAspect="1"/>
          </p:cNvPicPr>
          <p:nvPr/>
        </p:nvPicPr>
        <p:blipFill>
          <a:blip r:embed="rId9"/>
          <a:stretch>
            <a:fillRect/>
          </a:stretch>
        </p:blipFill>
        <p:spPr>
          <a:xfrm>
            <a:off x="3383280" y="2606040"/>
            <a:ext cx="274320" cy="274320"/>
          </a:xfrm>
          <a:prstGeom prst="rect">
            <a:avLst/>
          </a:prstGeom>
        </p:spPr>
      </p:pic>
      <p:sp>
        <p:nvSpPr>
          <p:cNvPr id="44" name="Text 35"/>
          <p:cNvSpPr/>
          <p:nvPr/>
        </p:nvSpPr>
        <p:spPr>
          <a:xfrm>
            <a:off x="3721608" y="2606040"/>
            <a:ext cx="2176272" cy="274320"/>
          </a:xfrm>
          <a:prstGeom prst="rect">
            <a:avLst/>
          </a:prstGeom>
          <a:noFill/>
          <a:ln/>
        </p:spPr>
        <p:txBody>
          <a:bodyPr wrap="square" lIns="0" tIns="0" rIns="0" bIns="0" rtlCol="0" anchor="ctr"/>
          <a:lstStyle/>
          <a:p>
            <a:pPr marL="0" indent="0" algn="l">
              <a:buNone/>
            </a:pPr>
            <a:r>
              <a:rPr lang="en-US" sz="950" b="1" dirty="0">
                <a:solidFill>
                  <a:srgbClr val="1A3A5C"/>
                </a:solidFill>
                <a:latin typeface="Cambria" pitchFamily="34" charset="0"/>
                <a:ea typeface="Cambria" pitchFamily="34" charset="-122"/>
                <a:cs typeface="Cambria" pitchFamily="34" charset="-120"/>
              </a:rPr>
              <a:t>② RobustScaler on Amount &amp; Time</a:t>
            </a:r>
            <a:endParaRPr lang="en-US" sz="950" dirty="0"/>
          </a:p>
        </p:txBody>
      </p:sp>
      <p:sp>
        <p:nvSpPr>
          <p:cNvPr id="45" name="Text 36"/>
          <p:cNvSpPr/>
          <p:nvPr/>
        </p:nvSpPr>
        <p:spPr>
          <a:xfrm>
            <a:off x="3383280" y="2926080"/>
            <a:ext cx="2487168" cy="914400"/>
          </a:xfrm>
          <a:prstGeom prst="rect">
            <a:avLst/>
          </a:prstGeom>
          <a:noFill/>
          <a:ln/>
        </p:spPr>
        <p:txBody>
          <a:bodyPr wrap="square" lIns="0" tIns="0" rIns="0" bIns="0" rtlCol="0" anchor="t"/>
          <a:lstStyle/>
          <a:p>
            <a:pPr marL="0" indent="0" algn="l">
              <a:buNone/>
            </a:pPr>
            <a:r>
              <a:rPr lang="en-US" sz="850" dirty="0">
                <a:solidFill>
                  <a:srgbClr val="1E293B"/>
                </a:solidFill>
                <a:latin typeface="Calibri" pitchFamily="34" charset="0"/>
                <a:ea typeface="Calibri" pitchFamily="34" charset="-122"/>
                <a:cs typeface="Calibri" pitchFamily="34" charset="-120"/>
              </a:rPr>
              <a:t>Uses median and IQR instead of mean/std. Resistant to outliers. Applied to Amount and Time only — V1–V28 already scaled by the dataset's PCA transformation.</a:t>
            </a:r>
            <a:endParaRPr lang="en-US" sz="850" dirty="0"/>
          </a:p>
        </p:txBody>
      </p:sp>
      <p:sp>
        <p:nvSpPr>
          <p:cNvPr id="46" name="Shape 37"/>
          <p:cNvSpPr/>
          <p:nvPr/>
        </p:nvSpPr>
        <p:spPr>
          <a:xfrm>
            <a:off x="3383280" y="3886200"/>
            <a:ext cx="2487168" cy="822960"/>
          </a:xfrm>
          <a:prstGeom prst="roundRect">
            <a:avLst>
              <a:gd name="adj" fmla="val 6667"/>
            </a:avLst>
          </a:prstGeom>
          <a:solidFill>
            <a:srgbClr val="FFF7ED"/>
          </a:solidFill>
          <a:ln w="6350">
            <a:solidFill>
              <a:srgbClr val="EA580C"/>
            </a:solidFill>
            <a:prstDash val="solid"/>
          </a:ln>
        </p:spPr>
        <p:txBody>
          <a:bodyPr/>
          <a:lstStyle/>
          <a:p>
            <a:endParaRPr lang="en-US"/>
          </a:p>
        </p:txBody>
      </p:sp>
      <p:sp>
        <p:nvSpPr>
          <p:cNvPr id="47" name="Text 38"/>
          <p:cNvSpPr/>
          <p:nvPr/>
        </p:nvSpPr>
        <p:spPr>
          <a:xfrm>
            <a:off x="3447288" y="3931920"/>
            <a:ext cx="2377440" cy="731520"/>
          </a:xfrm>
          <a:prstGeom prst="rect">
            <a:avLst/>
          </a:prstGeom>
          <a:noFill/>
          <a:ln/>
        </p:spPr>
        <p:txBody>
          <a:bodyPr wrap="square" lIns="0" tIns="0" rIns="0" bIns="0" rtlCol="0" anchor="t"/>
          <a:lstStyle/>
          <a:p>
            <a:pPr marL="0" indent="0" algn="l">
              <a:buNone/>
            </a:pPr>
            <a:r>
              <a:rPr lang="en-US" sz="800" b="1" dirty="0">
                <a:solidFill>
                  <a:srgbClr val="EA580C"/>
                </a:solidFill>
                <a:latin typeface="Calibri" pitchFamily="34" charset="0"/>
                <a:ea typeface="Calibri" pitchFamily="34" charset="-122"/>
                <a:cs typeface="Calibri" pitchFamily="34" charset="-120"/>
              </a:rPr>
              <a:t>Why not alternatives? </a:t>
            </a:r>
            <a:r>
              <a:rPr lang="en-US" sz="800" dirty="0">
                <a:solidFill>
                  <a:srgbClr val="475569"/>
                </a:solidFill>
                <a:latin typeface="Calibri" pitchFamily="34" charset="0"/>
                <a:ea typeface="Calibri" pitchFamily="34" charset="-122"/>
                <a:cs typeface="Calibri" pitchFamily="34" charset="-120"/>
              </a:rPr>
              <a:t>Alternative: StandardScaler. Rejected — sensitive to extreme transaction amounts (max €25,691).</a:t>
            </a:r>
            <a:endParaRPr lang="en-US" sz="800" dirty="0"/>
          </a:p>
        </p:txBody>
      </p:sp>
      <p:sp>
        <p:nvSpPr>
          <p:cNvPr id="48" name="Shape 39"/>
          <p:cNvSpPr/>
          <p:nvPr/>
        </p:nvSpPr>
        <p:spPr>
          <a:xfrm>
            <a:off x="6172200" y="2514600"/>
            <a:ext cx="2743200" cy="2331720"/>
          </a:xfrm>
          <a:prstGeom prst="roundRect">
            <a:avLst>
              <a:gd name="adj" fmla="val 3922"/>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49" name="Image 7" descr="preencoded.png"/>
          <p:cNvPicPr>
            <a:picLocks noChangeAspect="1"/>
          </p:cNvPicPr>
          <p:nvPr/>
        </p:nvPicPr>
        <p:blipFill>
          <a:blip r:embed="rId10"/>
          <a:stretch>
            <a:fillRect/>
          </a:stretch>
        </p:blipFill>
        <p:spPr>
          <a:xfrm>
            <a:off x="6309360" y="2606040"/>
            <a:ext cx="274320" cy="274320"/>
          </a:xfrm>
          <a:prstGeom prst="rect">
            <a:avLst/>
          </a:prstGeom>
        </p:spPr>
      </p:pic>
      <p:sp>
        <p:nvSpPr>
          <p:cNvPr id="50" name="Text 40"/>
          <p:cNvSpPr/>
          <p:nvPr/>
        </p:nvSpPr>
        <p:spPr>
          <a:xfrm>
            <a:off x="6647688" y="2606040"/>
            <a:ext cx="2176272" cy="274320"/>
          </a:xfrm>
          <a:prstGeom prst="rect">
            <a:avLst/>
          </a:prstGeom>
          <a:noFill/>
          <a:ln/>
        </p:spPr>
        <p:txBody>
          <a:bodyPr wrap="square" lIns="0" tIns="0" rIns="0" bIns="0" rtlCol="0" anchor="ctr"/>
          <a:lstStyle/>
          <a:p>
            <a:pPr marL="0" indent="0" algn="l">
              <a:buNone/>
            </a:pPr>
            <a:r>
              <a:rPr lang="en-US" sz="950" b="1" dirty="0">
                <a:solidFill>
                  <a:srgbClr val="1A3A5C"/>
                </a:solidFill>
                <a:latin typeface="Cambria" pitchFamily="34" charset="0"/>
                <a:ea typeface="Cambria" pitchFamily="34" charset="-122"/>
                <a:cs typeface="Cambria" pitchFamily="34" charset="-120"/>
              </a:rPr>
              <a:t>③ SMOTE — Synthetic Oversampling</a:t>
            </a:r>
            <a:endParaRPr lang="en-US" sz="950" dirty="0"/>
          </a:p>
        </p:txBody>
      </p:sp>
      <p:sp>
        <p:nvSpPr>
          <p:cNvPr id="51" name="Text 41"/>
          <p:cNvSpPr/>
          <p:nvPr/>
        </p:nvSpPr>
        <p:spPr>
          <a:xfrm>
            <a:off x="6309360" y="2926080"/>
            <a:ext cx="2487168" cy="914400"/>
          </a:xfrm>
          <a:prstGeom prst="rect">
            <a:avLst/>
          </a:prstGeom>
          <a:noFill/>
          <a:ln/>
        </p:spPr>
        <p:txBody>
          <a:bodyPr wrap="square" lIns="0" tIns="0" rIns="0" bIns="0" rtlCol="0" anchor="t"/>
          <a:lstStyle/>
          <a:p>
            <a:pPr marL="0" indent="0" algn="l">
              <a:buNone/>
            </a:pPr>
            <a:r>
              <a:rPr lang="en-US" sz="850" dirty="0">
                <a:solidFill>
                  <a:srgbClr val="1E293B"/>
                </a:solidFill>
                <a:latin typeface="Calibri" pitchFamily="34" charset="0"/>
                <a:ea typeface="Calibri" pitchFamily="34" charset="-122"/>
                <a:cs typeface="Calibri" pitchFamily="34" charset="-120"/>
              </a:rPr>
              <a:t>Generates synthetic minority-class samples via k-nearest neighbour interpolation. Applied only inside each training fold to prevent leakage into validation data.</a:t>
            </a:r>
            <a:endParaRPr lang="en-US" sz="850" dirty="0"/>
          </a:p>
        </p:txBody>
      </p:sp>
      <p:sp>
        <p:nvSpPr>
          <p:cNvPr id="52" name="Shape 42"/>
          <p:cNvSpPr/>
          <p:nvPr/>
        </p:nvSpPr>
        <p:spPr>
          <a:xfrm>
            <a:off x="6309360" y="3886200"/>
            <a:ext cx="2487168" cy="822960"/>
          </a:xfrm>
          <a:prstGeom prst="roundRect">
            <a:avLst>
              <a:gd name="adj" fmla="val 6667"/>
            </a:avLst>
          </a:prstGeom>
          <a:solidFill>
            <a:srgbClr val="FFF7ED"/>
          </a:solidFill>
          <a:ln w="6350">
            <a:solidFill>
              <a:srgbClr val="EA580C"/>
            </a:solidFill>
            <a:prstDash val="solid"/>
          </a:ln>
        </p:spPr>
        <p:txBody>
          <a:bodyPr/>
          <a:lstStyle/>
          <a:p>
            <a:endParaRPr lang="en-US"/>
          </a:p>
        </p:txBody>
      </p:sp>
      <p:sp>
        <p:nvSpPr>
          <p:cNvPr id="53" name="Text 43"/>
          <p:cNvSpPr/>
          <p:nvPr/>
        </p:nvSpPr>
        <p:spPr>
          <a:xfrm>
            <a:off x="6373368" y="3931920"/>
            <a:ext cx="2377440" cy="731520"/>
          </a:xfrm>
          <a:prstGeom prst="rect">
            <a:avLst/>
          </a:prstGeom>
          <a:noFill/>
          <a:ln/>
        </p:spPr>
        <p:txBody>
          <a:bodyPr wrap="square" lIns="0" tIns="0" rIns="0" bIns="0" rtlCol="0" anchor="t"/>
          <a:lstStyle/>
          <a:p>
            <a:pPr marL="0" indent="0" algn="l">
              <a:buNone/>
            </a:pPr>
            <a:r>
              <a:rPr lang="en-US" sz="800" b="1" dirty="0">
                <a:solidFill>
                  <a:srgbClr val="EA580C"/>
                </a:solidFill>
                <a:latin typeface="Calibri" pitchFamily="34" charset="0"/>
                <a:ea typeface="Calibri" pitchFamily="34" charset="-122"/>
                <a:cs typeface="Calibri" pitchFamily="34" charset="-120"/>
              </a:rPr>
              <a:t>Why not alternatives? </a:t>
            </a:r>
            <a:r>
              <a:rPr lang="en-US" sz="800" dirty="0">
                <a:solidFill>
                  <a:srgbClr val="475569"/>
                </a:solidFill>
                <a:latin typeface="Calibri" pitchFamily="34" charset="0"/>
                <a:ea typeface="Calibri" pitchFamily="34" charset="-122"/>
                <a:cs typeface="Calibri" pitchFamily="34" charset="-120"/>
              </a:rPr>
              <a:t>Alternatives: Undersampling (loses data) or class_weight (less effective). SMOTE best preserves minority-class structure.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Shape 3"/>
          <p:cNvSpPr/>
          <p:nvPr/>
        </p:nvSpPr>
        <p:spPr>
          <a:xfrm>
            <a:off x="457200" y="164592"/>
            <a:ext cx="3291840" cy="237744"/>
          </a:xfrm>
          <a:prstGeom prst="roundRect">
            <a:avLst>
              <a:gd name="adj" fmla="val 50000"/>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457200" y="164592"/>
            <a:ext cx="329184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4 · MODELLING — ALGORITHM SELECTION</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Why These Four Models?</a:t>
            </a:r>
            <a:endParaRPr lang="en-US" sz="2600" dirty="0"/>
          </a:p>
        </p:txBody>
      </p:sp>
      <p:sp>
        <p:nvSpPr>
          <p:cNvPr id="8" name="Shape 6"/>
          <p:cNvSpPr/>
          <p:nvPr/>
        </p:nvSpPr>
        <p:spPr>
          <a:xfrm>
            <a:off x="320040" y="987552"/>
            <a:ext cx="1993392" cy="384048"/>
          </a:xfrm>
          <a:prstGeom prst="roundRect">
            <a:avLst>
              <a:gd name="adj" fmla="val 19048"/>
            </a:avLst>
          </a:prstGeom>
          <a:solidFill>
            <a:srgbClr val="94A3B8"/>
          </a:solidFill>
          <a:ln w="12700">
            <a:solidFill>
              <a:srgbClr val="94A3B8"/>
            </a:solidFill>
            <a:prstDash val="solid"/>
          </a:ln>
        </p:spPr>
        <p:txBody>
          <a:bodyPr/>
          <a:lstStyle/>
          <a:p>
            <a:endParaRPr lang="en-US"/>
          </a:p>
        </p:txBody>
      </p:sp>
      <p:sp>
        <p:nvSpPr>
          <p:cNvPr id="9" name="Text 7"/>
          <p:cNvSpPr/>
          <p:nvPr/>
        </p:nvSpPr>
        <p:spPr>
          <a:xfrm>
            <a:off x="320040" y="987552"/>
            <a:ext cx="1993392" cy="384048"/>
          </a:xfrm>
          <a:prstGeom prst="rect">
            <a:avLst/>
          </a:prstGeom>
          <a:noFill/>
          <a:ln/>
        </p:spPr>
        <p:txBody>
          <a:bodyPr wrap="square" lIns="0" tIns="0" rIns="0" bIns="0" rtlCol="0" anchor="ctr"/>
          <a:lstStyle/>
          <a:p>
            <a:pPr marL="0" indent="0" algn="ctr">
              <a:buNone/>
            </a:pPr>
            <a:r>
              <a:rPr lang="en-US" sz="750" kern="0" spc="150" dirty="0">
                <a:solidFill>
                  <a:srgbClr val="FFFFFF"/>
                </a:solidFill>
                <a:latin typeface="Calibri" pitchFamily="34" charset="0"/>
                <a:ea typeface="Calibri" pitchFamily="34" charset="-122"/>
                <a:cs typeface="Calibri" pitchFamily="34" charset="-120"/>
              </a:rPr>
              <a:t>Baseline
</a:t>
            </a:r>
            <a:r>
              <a:rPr lang="en-US" sz="1000" b="1" dirty="0">
                <a:solidFill>
                  <a:srgbClr val="FFFFFF"/>
                </a:solidFill>
                <a:latin typeface="Cambria" pitchFamily="34" charset="0"/>
                <a:ea typeface="Cambria" pitchFamily="34" charset="-122"/>
                <a:cs typeface="Cambria" pitchFamily="34" charset="-120"/>
              </a:rPr>
              <a:t>Logistic Regression</a:t>
            </a:r>
            <a:endParaRPr lang="en-US" sz="750" dirty="0"/>
          </a:p>
        </p:txBody>
      </p:sp>
      <p:sp>
        <p:nvSpPr>
          <p:cNvPr id="10" name="Shape 8"/>
          <p:cNvSpPr/>
          <p:nvPr/>
        </p:nvSpPr>
        <p:spPr>
          <a:xfrm>
            <a:off x="320040" y="1389888"/>
            <a:ext cx="1993392" cy="2011680"/>
          </a:xfrm>
          <a:prstGeom prst="roundRect">
            <a:avLst>
              <a:gd name="adj" fmla="val 458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1" name="Text 9"/>
          <p:cNvSpPr/>
          <p:nvPr/>
        </p:nvSpPr>
        <p:spPr>
          <a:xfrm>
            <a:off x="429768" y="1481328"/>
            <a:ext cx="1792224" cy="457200"/>
          </a:xfrm>
          <a:prstGeom prst="rect">
            <a:avLst/>
          </a:prstGeom>
          <a:noFill/>
          <a:ln/>
        </p:spPr>
        <p:txBody>
          <a:bodyPr wrap="square" lIns="0" tIns="0" rIns="0" bIns="0" rtlCol="0" anchor="t"/>
          <a:lstStyle/>
          <a:p>
            <a:pPr marL="0" indent="0" algn="l">
              <a:buNone/>
            </a:pPr>
            <a:r>
              <a:rPr lang="en-US" sz="950" b="1" dirty="0">
                <a:solidFill>
                  <a:srgbClr val="94A3B8"/>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Linear decision boundary</a:t>
            </a:r>
            <a:endParaRPr lang="en-US" sz="950" dirty="0"/>
          </a:p>
        </p:txBody>
      </p:sp>
      <p:sp>
        <p:nvSpPr>
          <p:cNvPr id="12" name="Text 10"/>
          <p:cNvSpPr/>
          <p:nvPr/>
        </p:nvSpPr>
        <p:spPr>
          <a:xfrm>
            <a:off x="429768" y="1984248"/>
            <a:ext cx="1792224" cy="457200"/>
          </a:xfrm>
          <a:prstGeom prst="rect">
            <a:avLst/>
          </a:prstGeom>
          <a:noFill/>
          <a:ln/>
        </p:spPr>
        <p:txBody>
          <a:bodyPr wrap="square" lIns="0" tIns="0" rIns="0" bIns="0" rtlCol="0" anchor="t"/>
          <a:lstStyle/>
          <a:p>
            <a:pPr marL="0" indent="0" algn="l">
              <a:buNone/>
            </a:pPr>
            <a:r>
              <a:rPr lang="en-US" sz="950" b="1" dirty="0">
                <a:solidFill>
                  <a:srgbClr val="94A3B8"/>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Fast training &amp; interpretable</a:t>
            </a:r>
            <a:endParaRPr lang="en-US" sz="950" dirty="0"/>
          </a:p>
        </p:txBody>
      </p:sp>
      <p:sp>
        <p:nvSpPr>
          <p:cNvPr id="13" name="Text 11"/>
          <p:cNvSpPr/>
          <p:nvPr/>
        </p:nvSpPr>
        <p:spPr>
          <a:xfrm>
            <a:off x="429768" y="2487168"/>
            <a:ext cx="1792224" cy="457200"/>
          </a:xfrm>
          <a:prstGeom prst="rect">
            <a:avLst/>
          </a:prstGeom>
          <a:noFill/>
          <a:ln/>
        </p:spPr>
        <p:txBody>
          <a:bodyPr wrap="square" lIns="0" tIns="0" rIns="0" bIns="0" rtlCol="0" anchor="t"/>
          <a:lstStyle/>
          <a:p>
            <a:pPr marL="0" indent="0" algn="l">
              <a:buNone/>
            </a:pPr>
            <a:r>
              <a:rPr lang="en-US" sz="950" b="1" dirty="0">
                <a:solidFill>
                  <a:srgbClr val="94A3B8"/>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Establishes performance floor</a:t>
            </a:r>
            <a:endParaRPr lang="en-US" sz="950" dirty="0"/>
          </a:p>
        </p:txBody>
      </p:sp>
      <p:sp>
        <p:nvSpPr>
          <p:cNvPr id="14" name="Shape 12"/>
          <p:cNvSpPr/>
          <p:nvPr/>
        </p:nvSpPr>
        <p:spPr>
          <a:xfrm>
            <a:off x="320040" y="3493008"/>
            <a:ext cx="1993392" cy="1097280"/>
          </a:xfrm>
          <a:prstGeom prst="roundRect">
            <a:avLst>
              <a:gd name="adj" fmla="val 8333"/>
            </a:avLst>
          </a:prstGeom>
          <a:solidFill>
            <a:srgbClr val="EFF6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5" name="Text 13"/>
          <p:cNvSpPr/>
          <p:nvPr/>
        </p:nvSpPr>
        <p:spPr>
          <a:xfrm>
            <a:off x="429768" y="3566160"/>
            <a:ext cx="1792224" cy="987552"/>
          </a:xfrm>
          <a:prstGeom prst="rect">
            <a:avLst/>
          </a:prstGeom>
          <a:noFill/>
          <a:ln/>
        </p:spPr>
        <p:txBody>
          <a:bodyPr wrap="square" lIns="0" tIns="0" rIns="0" bIns="0" rtlCol="0" anchor="t"/>
          <a:lstStyle/>
          <a:p>
            <a:pPr marL="0" indent="0" algn="l">
              <a:buNone/>
            </a:pPr>
            <a:r>
              <a:rPr lang="en-US" sz="800" b="1" dirty="0">
                <a:solidFill>
                  <a:srgbClr val="2563EB"/>
                </a:solidFill>
                <a:latin typeface="Calibri" pitchFamily="34" charset="0"/>
                <a:ea typeface="Calibri" pitchFamily="34" charset="-122"/>
                <a:cs typeface="Calibri" pitchFamily="34" charset="-120"/>
              </a:rPr>
              <a:t>Justification
</a:t>
            </a:r>
            <a:r>
              <a:rPr lang="en-US" sz="800" dirty="0">
                <a:solidFill>
                  <a:srgbClr val="475569"/>
                </a:solidFill>
                <a:latin typeface="Calibri" pitchFamily="34" charset="0"/>
                <a:ea typeface="Calibri" pitchFamily="34" charset="-122"/>
                <a:cs typeface="Calibri" pitchFamily="34" charset="-120"/>
              </a:rPr>
              <a:t>Necessary baseline — if tree models barely beat LR, complexity is not justified.</a:t>
            </a:r>
            <a:endParaRPr lang="en-US" sz="800" dirty="0"/>
          </a:p>
        </p:txBody>
      </p:sp>
      <p:sp>
        <p:nvSpPr>
          <p:cNvPr id="16" name="Shape 14"/>
          <p:cNvSpPr/>
          <p:nvPr/>
        </p:nvSpPr>
        <p:spPr>
          <a:xfrm>
            <a:off x="2496312" y="987552"/>
            <a:ext cx="1993392" cy="384048"/>
          </a:xfrm>
          <a:prstGeom prst="roundRect">
            <a:avLst>
              <a:gd name="adj" fmla="val 19048"/>
            </a:avLst>
          </a:prstGeom>
          <a:solidFill>
            <a:srgbClr val="059669"/>
          </a:solidFill>
          <a:ln w="12700">
            <a:solidFill>
              <a:srgbClr val="059669"/>
            </a:solidFill>
            <a:prstDash val="solid"/>
          </a:ln>
        </p:spPr>
        <p:txBody>
          <a:bodyPr/>
          <a:lstStyle/>
          <a:p>
            <a:endParaRPr lang="en-US"/>
          </a:p>
        </p:txBody>
      </p:sp>
      <p:sp>
        <p:nvSpPr>
          <p:cNvPr id="17" name="Text 15"/>
          <p:cNvSpPr/>
          <p:nvPr/>
        </p:nvSpPr>
        <p:spPr>
          <a:xfrm>
            <a:off x="2496312" y="987552"/>
            <a:ext cx="1993392" cy="384048"/>
          </a:xfrm>
          <a:prstGeom prst="rect">
            <a:avLst/>
          </a:prstGeom>
          <a:noFill/>
          <a:ln/>
        </p:spPr>
        <p:txBody>
          <a:bodyPr wrap="square" lIns="0" tIns="0" rIns="0" bIns="0" rtlCol="0" anchor="ctr"/>
          <a:lstStyle/>
          <a:p>
            <a:pPr marL="0" indent="0" algn="ctr">
              <a:buNone/>
            </a:pPr>
            <a:r>
              <a:rPr lang="en-US" sz="750" kern="0" spc="150" dirty="0">
                <a:solidFill>
                  <a:srgbClr val="FFFFFF"/>
                </a:solidFill>
                <a:latin typeface="Calibri" pitchFamily="34" charset="0"/>
                <a:ea typeface="Calibri" pitchFamily="34" charset="-122"/>
                <a:cs typeface="Calibri" pitchFamily="34" charset="-120"/>
              </a:rPr>
              <a:t>Ensemble
</a:t>
            </a:r>
            <a:r>
              <a:rPr lang="en-US" sz="1000" b="1" dirty="0">
                <a:solidFill>
                  <a:srgbClr val="FFFFFF"/>
                </a:solidFill>
                <a:latin typeface="Cambria" pitchFamily="34" charset="0"/>
                <a:ea typeface="Cambria" pitchFamily="34" charset="-122"/>
                <a:cs typeface="Cambria" pitchFamily="34" charset="-120"/>
              </a:rPr>
              <a:t>Random Forest</a:t>
            </a:r>
            <a:endParaRPr lang="en-US" sz="750" dirty="0"/>
          </a:p>
        </p:txBody>
      </p:sp>
      <p:sp>
        <p:nvSpPr>
          <p:cNvPr id="18" name="Shape 16"/>
          <p:cNvSpPr/>
          <p:nvPr/>
        </p:nvSpPr>
        <p:spPr>
          <a:xfrm>
            <a:off x="2496312" y="1389888"/>
            <a:ext cx="1993392" cy="2011680"/>
          </a:xfrm>
          <a:prstGeom prst="roundRect">
            <a:avLst>
              <a:gd name="adj" fmla="val 458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9" name="Text 17"/>
          <p:cNvSpPr/>
          <p:nvPr/>
        </p:nvSpPr>
        <p:spPr>
          <a:xfrm>
            <a:off x="2606040" y="1481328"/>
            <a:ext cx="1792224" cy="457200"/>
          </a:xfrm>
          <a:prstGeom prst="rect">
            <a:avLst/>
          </a:prstGeom>
          <a:noFill/>
          <a:ln/>
        </p:spPr>
        <p:txBody>
          <a:bodyPr wrap="square" lIns="0" tIns="0" rIns="0" bIns="0" rtlCol="0" anchor="t"/>
          <a:lstStyle/>
          <a:p>
            <a:pPr marL="0" indent="0" algn="l">
              <a:buNone/>
            </a:pPr>
            <a:r>
              <a:rPr lang="en-US" sz="950" b="1" dirty="0">
                <a:solidFill>
                  <a:srgbClr val="059669"/>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Bagging of decision trees</a:t>
            </a:r>
            <a:endParaRPr lang="en-US" sz="950" dirty="0"/>
          </a:p>
        </p:txBody>
      </p:sp>
      <p:sp>
        <p:nvSpPr>
          <p:cNvPr id="20" name="Text 18"/>
          <p:cNvSpPr/>
          <p:nvPr/>
        </p:nvSpPr>
        <p:spPr>
          <a:xfrm>
            <a:off x="2606040" y="1984248"/>
            <a:ext cx="1792224" cy="457200"/>
          </a:xfrm>
          <a:prstGeom prst="rect">
            <a:avLst/>
          </a:prstGeom>
          <a:noFill/>
          <a:ln/>
        </p:spPr>
        <p:txBody>
          <a:bodyPr wrap="square" lIns="0" tIns="0" rIns="0" bIns="0" rtlCol="0" anchor="t"/>
          <a:lstStyle/>
          <a:p>
            <a:pPr marL="0" indent="0" algn="l">
              <a:buNone/>
            </a:pPr>
            <a:r>
              <a:rPr lang="en-US" sz="950" b="1" dirty="0">
                <a:solidFill>
                  <a:srgbClr val="059669"/>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Handles non-linearity well</a:t>
            </a:r>
            <a:endParaRPr lang="en-US" sz="950" dirty="0"/>
          </a:p>
        </p:txBody>
      </p:sp>
      <p:sp>
        <p:nvSpPr>
          <p:cNvPr id="21" name="Text 19"/>
          <p:cNvSpPr/>
          <p:nvPr/>
        </p:nvSpPr>
        <p:spPr>
          <a:xfrm>
            <a:off x="2606040" y="2487168"/>
            <a:ext cx="1792224" cy="457200"/>
          </a:xfrm>
          <a:prstGeom prst="rect">
            <a:avLst/>
          </a:prstGeom>
          <a:noFill/>
          <a:ln/>
        </p:spPr>
        <p:txBody>
          <a:bodyPr wrap="square" lIns="0" tIns="0" rIns="0" bIns="0" rtlCol="0" anchor="t"/>
          <a:lstStyle/>
          <a:p>
            <a:pPr marL="0" indent="0" algn="l">
              <a:buNone/>
            </a:pPr>
            <a:r>
              <a:rPr lang="en-US" sz="950" b="1" dirty="0">
                <a:solidFill>
                  <a:srgbClr val="059669"/>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Built-in feature importance</a:t>
            </a:r>
            <a:endParaRPr lang="en-US" sz="950" dirty="0"/>
          </a:p>
        </p:txBody>
      </p:sp>
      <p:sp>
        <p:nvSpPr>
          <p:cNvPr id="22" name="Shape 20"/>
          <p:cNvSpPr/>
          <p:nvPr/>
        </p:nvSpPr>
        <p:spPr>
          <a:xfrm>
            <a:off x="2496312" y="3493008"/>
            <a:ext cx="1993392" cy="1097280"/>
          </a:xfrm>
          <a:prstGeom prst="roundRect">
            <a:avLst>
              <a:gd name="adj" fmla="val 8333"/>
            </a:avLst>
          </a:prstGeom>
          <a:solidFill>
            <a:srgbClr val="EFF6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23" name="Text 21"/>
          <p:cNvSpPr/>
          <p:nvPr/>
        </p:nvSpPr>
        <p:spPr>
          <a:xfrm>
            <a:off x="2606040" y="3566160"/>
            <a:ext cx="1792224" cy="987552"/>
          </a:xfrm>
          <a:prstGeom prst="rect">
            <a:avLst/>
          </a:prstGeom>
          <a:noFill/>
          <a:ln/>
        </p:spPr>
        <p:txBody>
          <a:bodyPr wrap="square" lIns="0" tIns="0" rIns="0" bIns="0" rtlCol="0" anchor="t"/>
          <a:lstStyle/>
          <a:p>
            <a:pPr marL="0" indent="0" algn="l">
              <a:buNone/>
            </a:pPr>
            <a:r>
              <a:rPr lang="en-US" sz="800" b="1" dirty="0">
                <a:solidFill>
                  <a:srgbClr val="2563EB"/>
                </a:solidFill>
                <a:latin typeface="Calibri" pitchFamily="34" charset="0"/>
                <a:ea typeface="Calibri" pitchFamily="34" charset="-122"/>
                <a:cs typeface="Calibri" pitchFamily="34" charset="-120"/>
              </a:rPr>
              <a:t>Justification
</a:t>
            </a:r>
            <a:r>
              <a:rPr lang="en-US" sz="800" dirty="0">
                <a:solidFill>
                  <a:srgbClr val="475569"/>
                </a:solidFill>
                <a:latin typeface="Calibri" pitchFamily="34" charset="0"/>
                <a:ea typeface="Calibri" pitchFamily="34" charset="-122"/>
                <a:cs typeface="Calibri" pitchFamily="34" charset="-120"/>
              </a:rPr>
              <a:t>Robust to outliers and noise, good starting point for tree-based ensembles.</a:t>
            </a:r>
            <a:endParaRPr lang="en-US" sz="800" dirty="0"/>
          </a:p>
        </p:txBody>
      </p:sp>
      <p:sp>
        <p:nvSpPr>
          <p:cNvPr id="24" name="Shape 22"/>
          <p:cNvSpPr/>
          <p:nvPr/>
        </p:nvSpPr>
        <p:spPr>
          <a:xfrm>
            <a:off x="4672584" y="987552"/>
            <a:ext cx="1993392" cy="384048"/>
          </a:xfrm>
          <a:prstGeom prst="roundRect">
            <a:avLst>
              <a:gd name="adj" fmla="val 19048"/>
            </a:avLst>
          </a:prstGeom>
          <a:solidFill>
            <a:srgbClr val="2563EB"/>
          </a:solidFill>
          <a:ln w="12700">
            <a:solidFill>
              <a:srgbClr val="2563EB"/>
            </a:solidFill>
            <a:prstDash val="solid"/>
          </a:ln>
        </p:spPr>
        <p:txBody>
          <a:bodyPr/>
          <a:lstStyle/>
          <a:p>
            <a:endParaRPr lang="en-US"/>
          </a:p>
        </p:txBody>
      </p:sp>
      <p:sp>
        <p:nvSpPr>
          <p:cNvPr id="25" name="Text 23"/>
          <p:cNvSpPr/>
          <p:nvPr/>
        </p:nvSpPr>
        <p:spPr>
          <a:xfrm>
            <a:off x="4672584" y="987552"/>
            <a:ext cx="1993392" cy="384048"/>
          </a:xfrm>
          <a:prstGeom prst="rect">
            <a:avLst/>
          </a:prstGeom>
          <a:noFill/>
          <a:ln/>
        </p:spPr>
        <p:txBody>
          <a:bodyPr wrap="square" lIns="0" tIns="0" rIns="0" bIns="0" rtlCol="0" anchor="ctr"/>
          <a:lstStyle/>
          <a:p>
            <a:pPr marL="0" indent="0" algn="ctr">
              <a:buNone/>
            </a:pPr>
            <a:r>
              <a:rPr lang="en-US" sz="750" kern="0" spc="150" dirty="0">
                <a:solidFill>
                  <a:srgbClr val="FFFFFF"/>
                </a:solidFill>
                <a:latin typeface="Calibri" pitchFamily="34" charset="0"/>
                <a:ea typeface="Calibri" pitchFamily="34" charset="-122"/>
                <a:cs typeface="Calibri" pitchFamily="34" charset="-120"/>
              </a:rPr>
              <a:t>Boosting
</a:t>
            </a:r>
            <a:r>
              <a:rPr lang="en-US" sz="1000" b="1" dirty="0">
                <a:solidFill>
                  <a:srgbClr val="FFFFFF"/>
                </a:solidFill>
                <a:latin typeface="Cambria" pitchFamily="34" charset="0"/>
                <a:ea typeface="Cambria" pitchFamily="34" charset="-122"/>
                <a:cs typeface="Cambria" pitchFamily="34" charset="-120"/>
              </a:rPr>
              <a:t>XGBoost</a:t>
            </a:r>
            <a:endParaRPr lang="en-US" sz="750" dirty="0"/>
          </a:p>
        </p:txBody>
      </p:sp>
      <p:sp>
        <p:nvSpPr>
          <p:cNvPr id="26" name="Shape 24"/>
          <p:cNvSpPr/>
          <p:nvPr/>
        </p:nvSpPr>
        <p:spPr>
          <a:xfrm>
            <a:off x="4672584" y="1389888"/>
            <a:ext cx="1993392" cy="2011680"/>
          </a:xfrm>
          <a:prstGeom prst="roundRect">
            <a:avLst>
              <a:gd name="adj" fmla="val 458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27" name="Text 25"/>
          <p:cNvSpPr/>
          <p:nvPr/>
        </p:nvSpPr>
        <p:spPr>
          <a:xfrm>
            <a:off x="4782312" y="1481328"/>
            <a:ext cx="1792224" cy="457200"/>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Gradient boosting framework</a:t>
            </a:r>
            <a:endParaRPr lang="en-US" sz="950" dirty="0"/>
          </a:p>
        </p:txBody>
      </p:sp>
      <p:sp>
        <p:nvSpPr>
          <p:cNvPr id="28" name="Text 26"/>
          <p:cNvSpPr/>
          <p:nvPr/>
        </p:nvSpPr>
        <p:spPr>
          <a:xfrm>
            <a:off x="4782312" y="1984248"/>
            <a:ext cx="1792224" cy="457200"/>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scale_pos_weight for imbalance</a:t>
            </a:r>
            <a:endParaRPr lang="en-US" sz="950" dirty="0"/>
          </a:p>
        </p:txBody>
      </p:sp>
      <p:sp>
        <p:nvSpPr>
          <p:cNvPr id="29" name="Text 27"/>
          <p:cNvSpPr/>
          <p:nvPr/>
        </p:nvSpPr>
        <p:spPr>
          <a:xfrm>
            <a:off x="4782312" y="2487168"/>
            <a:ext cx="1792224" cy="457200"/>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Regularisation (L1/L2)</a:t>
            </a:r>
            <a:endParaRPr lang="en-US" sz="950" dirty="0"/>
          </a:p>
        </p:txBody>
      </p:sp>
      <p:sp>
        <p:nvSpPr>
          <p:cNvPr id="30" name="Shape 28"/>
          <p:cNvSpPr/>
          <p:nvPr/>
        </p:nvSpPr>
        <p:spPr>
          <a:xfrm>
            <a:off x="4672584" y="3493008"/>
            <a:ext cx="1993392" cy="1097280"/>
          </a:xfrm>
          <a:prstGeom prst="roundRect">
            <a:avLst>
              <a:gd name="adj" fmla="val 8333"/>
            </a:avLst>
          </a:prstGeom>
          <a:solidFill>
            <a:srgbClr val="EFF6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31" name="Text 29"/>
          <p:cNvSpPr/>
          <p:nvPr/>
        </p:nvSpPr>
        <p:spPr>
          <a:xfrm>
            <a:off x="4782312" y="3566160"/>
            <a:ext cx="1792224" cy="987552"/>
          </a:xfrm>
          <a:prstGeom prst="rect">
            <a:avLst/>
          </a:prstGeom>
          <a:noFill/>
          <a:ln/>
        </p:spPr>
        <p:txBody>
          <a:bodyPr wrap="square" lIns="0" tIns="0" rIns="0" bIns="0" rtlCol="0" anchor="t"/>
          <a:lstStyle/>
          <a:p>
            <a:pPr marL="0" indent="0" algn="l">
              <a:buNone/>
            </a:pPr>
            <a:r>
              <a:rPr lang="en-US" sz="800" b="1" dirty="0">
                <a:solidFill>
                  <a:srgbClr val="2563EB"/>
                </a:solidFill>
                <a:latin typeface="Calibri" pitchFamily="34" charset="0"/>
                <a:ea typeface="Calibri" pitchFamily="34" charset="-122"/>
                <a:cs typeface="Calibri" pitchFamily="34" charset="-120"/>
              </a:rPr>
              <a:t>Justification
</a:t>
            </a:r>
            <a:r>
              <a:rPr lang="en-US" sz="800" dirty="0">
                <a:solidFill>
                  <a:srgbClr val="475569"/>
                </a:solidFill>
                <a:latin typeface="Calibri" pitchFamily="34" charset="0"/>
                <a:ea typeface="Calibri" pitchFamily="34" charset="-122"/>
                <a:cs typeface="Calibri" pitchFamily="34" charset="-120"/>
              </a:rPr>
              <a:t>State-of-the-art for tabular fraud data. Sequential error correction outperforms bagging.</a:t>
            </a:r>
            <a:endParaRPr lang="en-US" sz="800" dirty="0"/>
          </a:p>
        </p:txBody>
      </p:sp>
      <p:sp>
        <p:nvSpPr>
          <p:cNvPr id="32" name="Shape 30"/>
          <p:cNvSpPr/>
          <p:nvPr/>
        </p:nvSpPr>
        <p:spPr>
          <a:xfrm>
            <a:off x="6848856" y="987552"/>
            <a:ext cx="1993392" cy="384048"/>
          </a:xfrm>
          <a:prstGeom prst="roundRect">
            <a:avLst>
              <a:gd name="adj" fmla="val 19048"/>
            </a:avLst>
          </a:prstGeom>
          <a:solidFill>
            <a:srgbClr val="1A3A5C"/>
          </a:solidFill>
          <a:ln w="12700">
            <a:solidFill>
              <a:srgbClr val="1A3A5C"/>
            </a:solidFill>
            <a:prstDash val="solid"/>
          </a:ln>
        </p:spPr>
        <p:txBody>
          <a:bodyPr/>
          <a:lstStyle/>
          <a:p>
            <a:endParaRPr lang="en-US"/>
          </a:p>
        </p:txBody>
      </p:sp>
      <p:sp>
        <p:nvSpPr>
          <p:cNvPr id="33" name="Text 31"/>
          <p:cNvSpPr/>
          <p:nvPr/>
        </p:nvSpPr>
        <p:spPr>
          <a:xfrm>
            <a:off x="6848856" y="987552"/>
            <a:ext cx="1993392" cy="384048"/>
          </a:xfrm>
          <a:prstGeom prst="rect">
            <a:avLst/>
          </a:prstGeom>
          <a:noFill/>
          <a:ln/>
        </p:spPr>
        <p:txBody>
          <a:bodyPr wrap="square" lIns="0" tIns="0" rIns="0" bIns="0" rtlCol="0" anchor="ctr"/>
          <a:lstStyle/>
          <a:p>
            <a:pPr marL="0" indent="0" algn="ctr">
              <a:buNone/>
            </a:pPr>
            <a:r>
              <a:rPr lang="en-US" sz="750" kern="0" spc="150" dirty="0">
                <a:solidFill>
                  <a:srgbClr val="FFFFFF"/>
                </a:solidFill>
                <a:latin typeface="Calibri" pitchFamily="34" charset="0"/>
                <a:ea typeface="Calibri" pitchFamily="34" charset="-122"/>
                <a:cs typeface="Calibri" pitchFamily="34" charset="-120"/>
              </a:rPr>
              <a:t>Boosting
</a:t>
            </a:r>
            <a:r>
              <a:rPr lang="en-US" sz="1000" b="1" dirty="0">
                <a:solidFill>
                  <a:srgbClr val="FFFFFF"/>
                </a:solidFill>
                <a:latin typeface="Cambria" pitchFamily="34" charset="0"/>
                <a:ea typeface="Cambria" pitchFamily="34" charset="-122"/>
                <a:cs typeface="Cambria" pitchFamily="34" charset="-120"/>
              </a:rPr>
              <a:t>LightGBM</a:t>
            </a:r>
            <a:endParaRPr lang="en-US" sz="750" dirty="0"/>
          </a:p>
        </p:txBody>
      </p:sp>
      <p:sp>
        <p:nvSpPr>
          <p:cNvPr id="34" name="Shape 32"/>
          <p:cNvSpPr/>
          <p:nvPr/>
        </p:nvSpPr>
        <p:spPr>
          <a:xfrm>
            <a:off x="6848856" y="1389888"/>
            <a:ext cx="1993392" cy="2011680"/>
          </a:xfrm>
          <a:prstGeom prst="roundRect">
            <a:avLst>
              <a:gd name="adj" fmla="val 458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35" name="Text 33"/>
          <p:cNvSpPr/>
          <p:nvPr/>
        </p:nvSpPr>
        <p:spPr>
          <a:xfrm>
            <a:off x="6958584" y="1481328"/>
            <a:ext cx="1792224" cy="457200"/>
          </a:xfrm>
          <a:prstGeom prst="rect">
            <a:avLst/>
          </a:prstGeom>
          <a:noFill/>
          <a:ln/>
        </p:spPr>
        <p:txBody>
          <a:bodyPr wrap="square" lIns="0" tIns="0" rIns="0" bIns="0" rtlCol="0" anchor="t"/>
          <a:lstStyle/>
          <a:p>
            <a:pPr marL="0" indent="0" algn="l">
              <a:buNone/>
            </a:pPr>
            <a:r>
              <a:rPr lang="en-US" sz="950" b="1" dirty="0">
                <a:solidFill>
                  <a:srgbClr val="1A3A5C"/>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Leaf-wise tree growth</a:t>
            </a:r>
            <a:endParaRPr lang="en-US" sz="950" dirty="0"/>
          </a:p>
        </p:txBody>
      </p:sp>
      <p:sp>
        <p:nvSpPr>
          <p:cNvPr id="36" name="Text 34"/>
          <p:cNvSpPr/>
          <p:nvPr/>
        </p:nvSpPr>
        <p:spPr>
          <a:xfrm>
            <a:off x="6958584" y="1984248"/>
            <a:ext cx="1792224" cy="457200"/>
          </a:xfrm>
          <a:prstGeom prst="rect">
            <a:avLst/>
          </a:prstGeom>
          <a:noFill/>
          <a:ln/>
        </p:spPr>
        <p:txBody>
          <a:bodyPr wrap="square" lIns="0" tIns="0" rIns="0" bIns="0" rtlCol="0" anchor="t"/>
          <a:lstStyle/>
          <a:p>
            <a:pPr marL="0" indent="0" algn="l">
              <a:buNone/>
            </a:pPr>
            <a:r>
              <a:rPr lang="en-US" sz="950" b="1" dirty="0">
                <a:solidFill>
                  <a:srgbClr val="1A3A5C"/>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Faster than XGBoost on large data</a:t>
            </a:r>
            <a:endParaRPr lang="en-US" sz="950" dirty="0"/>
          </a:p>
        </p:txBody>
      </p:sp>
      <p:sp>
        <p:nvSpPr>
          <p:cNvPr id="37" name="Text 35"/>
          <p:cNvSpPr/>
          <p:nvPr/>
        </p:nvSpPr>
        <p:spPr>
          <a:xfrm>
            <a:off x="6958584" y="2487168"/>
            <a:ext cx="1792224" cy="457200"/>
          </a:xfrm>
          <a:prstGeom prst="rect">
            <a:avLst/>
          </a:prstGeom>
          <a:noFill/>
          <a:ln/>
        </p:spPr>
        <p:txBody>
          <a:bodyPr wrap="square" lIns="0" tIns="0" rIns="0" bIns="0" rtlCol="0" anchor="t"/>
          <a:lstStyle/>
          <a:p>
            <a:pPr marL="0" indent="0" algn="l">
              <a:buNone/>
            </a:pPr>
            <a:r>
              <a:rPr lang="en-US" sz="950" b="1" dirty="0">
                <a:solidFill>
                  <a:srgbClr val="1A3A5C"/>
                </a:solidFill>
                <a:latin typeface="Calibri" pitchFamily="34" charset="0"/>
                <a:ea typeface="Calibri" pitchFamily="34" charset="-122"/>
                <a:cs typeface="Calibri" pitchFamily="34" charset="-120"/>
              </a:rPr>
              <a:t>• </a:t>
            </a:r>
            <a:r>
              <a:rPr lang="en-US" sz="950" dirty="0">
                <a:solidFill>
                  <a:srgbClr val="1E293B"/>
                </a:solidFill>
                <a:latin typeface="Calibri" pitchFamily="34" charset="0"/>
                <a:ea typeface="Calibri" pitchFamily="34" charset="-122"/>
                <a:cs typeface="Calibri" pitchFamily="34" charset="-120"/>
              </a:rPr>
              <a:t>is_unbalance parameter</a:t>
            </a:r>
            <a:endParaRPr lang="en-US" sz="950" dirty="0"/>
          </a:p>
        </p:txBody>
      </p:sp>
      <p:sp>
        <p:nvSpPr>
          <p:cNvPr id="38" name="Shape 36"/>
          <p:cNvSpPr/>
          <p:nvPr/>
        </p:nvSpPr>
        <p:spPr>
          <a:xfrm>
            <a:off x="6848856" y="3493008"/>
            <a:ext cx="1993392" cy="1097280"/>
          </a:xfrm>
          <a:prstGeom prst="roundRect">
            <a:avLst>
              <a:gd name="adj" fmla="val 8333"/>
            </a:avLst>
          </a:prstGeom>
          <a:solidFill>
            <a:srgbClr val="EFF6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39" name="Text 37"/>
          <p:cNvSpPr/>
          <p:nvPr/>
        </p:nvSpPr>
        <p:spPr>
          <a:xfrm>
            <a:off x="6958584" y="3566160"/>
            <a:ext cx="1792224" cy="987552"/>
          </a:xfrm>
          <a:prstGeom prst="rect">
            <a:avLst/>
          </a:prstGeom>
          <a:noFill/>
          <a:ln/>
        </p:spPr>
        <p:txBody>
          <a:bodyPr wrap="square" lIns="0" tIns="0" rIns="0" bIns="0" rtlCol="0" anchor="t"/>
          <a:lstStyle/>
          <a:p>
            <a:pPr marL="0" indent="0" algn="l">
              <a:buNone/>
            </a:pPr>
            <a:r>
              <a:rPr lang="en-US" sz="800" b="1" dirty="0">
                <a:solidFill>
                  <a:srgbClr val="2563EB"/>
                </a:solidFill>
                <a:latin typeface="Calibri" pitchFamily="34" charset="0"/>
                <a:ea typeface="Calibri" pitchFamily="34" charset="-122"/>
                <a:cs typeface="Calibri" pitchFamily="34" charset="-120"/>
              </a:rPr>
              <a:t>Justification
</a:t>
            </a:r>
            <a:r>
              <a:rPr lang="en-US" sz="800" dirty="0">
                <a:solidFill>
                  <a:srgbClr val="475569"/>
                </a:solidFill>
                <a:latin typeface="Calibri" pitchFamily="34" charset="0"/>
                <a:ea typeface="Calibri" pitchFamily="34" charset="-122"/>
                <a:cs typeface="Calibri" pitchFamily="34" charset="-120"/>
              </a:rPr>
              <a:t>Efficient on 284K rows. Comparable accuracy to XGBoost with lower memory footprint.</a:t>
            </a:r>
            <a:endParaRPr lang="en-US" sz="800" dirty="0"/>
          </a:p>
        </p:txBody>
      </p:sp>
      <p:sp>
        <p:nvSpPr>
          <p:cNvPr id="40" name="Shape 38"/>
          <p:cNvSpPr/>
          <p:nvPr/>
        </p:nvSpPr>
        <p:spPr>
          <a:xfrm>
            <a:off x="320040" y="4663440"/>
            <a:ext cx="8503920" cy="320040"/>
          </a:xfrm>
          <a:prstGeom prst="roundRect">
            <a:avLst>
              <a:gd name="adj" fmla="val 17143"/>
            </a:avLst>
          </a:prstGeom>
          <a:solidFill>
            <a:srgbClr val="FFF7ED"/>
          </a:solidFill>
          <a:ln w="10160">
            <a:solidFill>
              <a:srgbClr val="EA580C"/>
            </a:solidFill>
            <a:prstDash val="solid"/>
          </a:ln>
        </p:spPr>
        <p:txBody>
          <a:bodyPr/>
          <a:lstStyle/>
          <a:p>
            <a:endParaRPr lang="en-US"/>
          </a:p>
        </p:txBody>
      </p:sp>
      <p:sp>
        <p:nvSpPr>
          <p:cNvPr id="41" name="Text 39"/>
          <p:cNvSpPr/>
          <p:nvPr/>
        </p:nvSpPr>
        <p:spPr>
          <a:xfrm>
            <a:off x="457200" y="4663440"/>
            <a:ext cx="8321040" cy="320040"/>
          </a:xfrm>
          <a:prstGeom prst="rect">
            <a:avLst/>
          </a:prstGeom>
          <a:noFill/>
          <a:ln/>
        </p:spPr>
        <p:txBody>
          <a:bodyPr wrap="square" lIns="0" tIns="0" rIns="0" bIns="0" rtlCol="0" anchor="ctr"/>
          <a:lstStyle/>
          <a:p>
            <a:pPr marL="0" indent="0" algn="ctr">
              <a:buNone/>
            </a:pPr>
            <a:r>
              <a:rPr lang="en-US" sz="850" dirty="0">
                <a:solidFill>
                  <a:srgbClr val="EA580C"/>
                </a:solidFill>
                <a:latin typeface="Calibri" pitchFamily="34" charset="0"/>
                <a:ea typeface="Calibri" pitchFamily="34" charset="-122"/>
                <a:cs typeface="Calibri" pitchFamily="34" charset="-120"/>
              </a:rPr>
              <a:t>Not selected: SVM (too slow on 284K rows), Neural Networks (over-complex for tabular data), Naive Bayes (assumes feature independence — violated by PCA components).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Shape 3"/>
          <p:cNvSpPr/>
          <p:nvPr/>
        </p:nvSpPr>
        <p:spPr>
          <a:xfrm>
            <a:off x="457200" y="164592"/>
            <a:ext cx="3291840" cy="237744"/>
          </a:xfrm>
          <a:prstGeom prst="roundRect">
            <a:avLst>
              <a:gd name="adj" fmla="val 50000"/>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457200" y="164592"/>
            <a:ext cx="329184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4 · MODELLING — VALIDATION &amp; TUNING</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a:solidFill>
                  <a:srgbClr val="1A3A5C"/>
                </a:solidFill>
                <a:latin typeface="Cambria" pitchFamily="34" charset="0"/>
                <a:ea typeface="Cambria" pitchFamily="34" charset="-122"/>
                <a:cs typeface="Cambria" pitchFamily="34" charset="-120"/>
              </a:rPr>
              <a:t>Cross-Validation Strategy</a:t>
            </a:r>
            <a:endParaRPr lang="en-US" sz="2600" dirty="0"/>
          </a:p>
        </p:txBody>
      </p:sp>
      <p:sp>
        <p:nvSpPr>
          <p:cNvPr id="8" name="Shape 6"/>
          <p:cNvSpPr/>
          <p:nvPr/>
        </p:nvSpPr>
        <p:spPr>
          <a:xfrm>
            <a:off x="320040" y="987552"/>
            <a:ext cx="5088988" cy="2788920"/>
          </a:xfrm>
          <a:prstGeom prst="roundRect">
            <a:avLst>
              <a:gd name="adj" fmla="val 3279"/>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9" name="Text 7"/>
          <p:cNvSpPr/>
          <p:nvPr/>
        </p:nvSpPr>
        <p:spPr>
          <a:xfrm>
            <a:off x="502920" y="1078992"/>
            <a:ext cx="4663440" cy="256032"/>
          </a:xfrm>
          <a:prstGeom prst="rect">
            <a:avLst/>
          </a:prstGeom>
          <a:noFill/>
          <a:ln/>
        </p:spPr>
        <p:txBody>
          <a:bodyPr wrap="square" lIns="0" tIns="0" rIns="0" bIns="0" rtlCol="0" anchor="ctr"/>
          <a:lstStyle/>
          <a:p>
            <a:pPr marL="0" indent="0" algn="l">
              <a:buNone/>
            </a:pPr>
            <a:r>
              <a:rPr lang="en-US" sz="1300" b="1" dirty="0">
                <a:solidFill>
                  <a:srgbClr val="1A3A5C"/>
                </a:solidFill>
                <a:latin typeface="Cambria" pitchFamily="34" charset="0"/>
                <a:ea typeface="Cambria" pitchFamily="34" charset="-122"/>
                <a:cs typeface="Cambria" pitchFamily="34" charset="-120"/>
              </a:rPr>
              <a:t>Stratified 5-Fold Cross-Validation</a:t>
            </a:r>
            <a:endParaRPr lang="en-US" sz="1300" dirty="0"/>
          </a:p>
        </p:txBody>
      </p:sp>
      <p:sp>
        <p:nvSpPr>
          <p:cNvPr id="10" name="Shape 8"/>
          <p:cNvSpPr/>
          <p:nvPr/>
        </p:nvSpPr>
        <p:spPr>
          <a:xfrm>
            <a:off x="502920" y="1444752"/>
            <a:ext cx="804672" cy="347472"/>
          </a:xfrm>
          <a:prstGeom prst="roundRect">
            <a:avLst>
              <a:gd name="adj" fmla="val 13158"/>
            </a:avLst>
          </a:prstGeom>
          <a:solidFill>
            <a:srgbClr val="EA580C"/>
          </a:solidFill>
          <a:ln w="12700">
            <a:solidFill>
              <a:srgbClr val="EA580C"/>
            </a:solidFill>
            <a:prstDash val="solid"/>
          </a:ln>
        </p:spPr>
        <p:txBody>
          <a:bodyPr/>
          <a:lstStyle/>
          <a:p>
            <a:endParaRPr lang="en-US"/>
          </a:p>
        </p:txBody>
      </p:sp>
      <p:sp>
        <p:nvSpPr>
          <p:cNvPr id="11" name="Text 9"/>
          <p:cNvSpPr/>
          <p:nvPr/>
        </p:nvSpPr>
        <p:spPr>
          <a:xfrm>
            <a:off x="502920" y="1444752"/>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VAL</a:t>
            </a:r>
            <a:endParaRPr lang="en-US" sz="800" dirty="0"/>
          </a:p>
        </p:txBody>
      </p:sp>
      <p:sp>
        <p:nvSpPr>
          <p:cNvPr id="12" name="Shape 10"/>
          <p:cNvSpPr/>
          <p:nvPr/>
        </p:nvSpPr>
        <p:spPr>
          <a:xfrm>
            <a:off x="1399032" y="1444752"/>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13" name="Text 11"/>
          <p:cNvSpPr/>
          <p:nvPr/>
        </p:nvSpPr>
        <p:spPr>
          <a:xfrm>
            <a:off x="1399032" y="1444752"/>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14" name="Shape 12"/>
          <p:cNvSpPr/>
          <p:nvPr/>
        </p:nvSpPr>
        <p:spPr>
          <a:xfrm>
            <a:off x="2295144" y="1444752"/>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15" name="Text 13"/>
          <p:cNvSpPr/>
          <p:nvPr/>
        </p:nvSpPr>
        <p:spPr>
          <a:xfrm>
            <a:off x="2295144" y="1444752"/>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16" name="Shape 14"/>
          <p:cNvSpPr/>
          <p:nvPr/>
        </p:nvSpPr>
        <p:spPr>
          <a:xfrm>
            <a:off x="3191256" y="1444752"/>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17" name="Text 15"/>
          <p:cNvSpPr/>
          <p:nvPr/>
        </p:nvSpPr>
        <p:spPr>
          <a:xfrm>
            <a:off x="3191256" y="1444752"/>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18" name="Shape 16"/>
          <p:cNvSpPr/>
          <p:nvPr/>
        </p:nvSpPr>
        <p:spPr>
          <a:xfrm>
            <a:off x="4087368" y="1444752"/>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19" name="Text 17"/>
          <p:cNvSpPr/>
          <p:nvPr/>
        </p:nvSpPr>
        <p:spPr>
          <a:xfrm>
            <a:off x="4087368" y="1444752"/>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20" name="Text 18"/>
          <p:cNvSpPr/>
          <p:nvPr/>
        </p:nvSpPr>
        <p:spPr>
          <a:xfrm>
            <a:off x="5074920" y="1481328"/>
            <a:ext cx="640080" cy="274320"/>
          </a:xfrm>
          <a:prstGeom prst="rect">
            <a:avLst/>
          </a:prstGeom>
          <a:noFill/>
          <a:ln/>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Fold 1</a:t>
            </a:r>
            <a:endParaRPr lang="en-US" sz="900" dirty="0"/>
          </a:p>
        </p:txBody>
      </p:sp>
      <p:sp>
        <p:nvSpPr>
          <p:cNvPr id="21" name="Shape 19"/>
          <p:cNvSpPr/>
          <p:nvPr/>
        </p:nvSpPr>
        <p:spPr>
          <a:xfrm>
            <a:off x="502920" y="1874520"/>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22" name="Text 20"/>
          <p:cNvSpPr/>
          <p:nvPr/>
        </p:nvSpPr>
        <p:spPr>
          <a:xfrm>
            <a:off x="502920" y="1874520"/>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23" name="Shape 21"/>
          <p:cNvSpPr/>
          <p:nvPr/>
        </p:nvSpPr>
        <p:spPr>
          <a:xfrm>
            <a:off x="1399032" y="1874520"/>
            <a:ext cx="804672" cy="347472"/>
          </a:xfrm>
          <a:prstGeom prst="roundRect">
            <a:avLst>
              <a:gd name="adj" fmla="val 13158"/>
            </a:avLst>
          </a:prstGeom>
          <a:solidFill>
            <a:srgbClr val="EA580C"/>
          </a:solidFill>
          <a:ln w="12700">
            <a:solidFill>
              <a:srgbClr val="EA580C"/>
            </a:solidFill>
            <a:prstDash val="solid"/>
          </a:ln>
        </p:spPr>
        <p:txBody>
          <a:bodyPr/>
          <a:lstStyle/>
          <a:p>
            <a:endParaRPr lang="en-US"/>
          </a:p>
        </p:txBody>
      </p:sp>
      <p:sp>
        <p:nvSpPr>
          <p:cNvPr id="24" name="Text 22"/>
          <p:cNvSpPr/>
          <p:nvPr/>
        </p:nvSpPr>
        <p:spPr>
          <a:xfrm>
            <a:off x="1399032" y="1874520"/>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VAL</a:t>
            </a:r>
            <a:endParaRPr lang="en-US" sz="800" dirty="0"/>
          </a:p>
        </p:txBody>
      </p:sp>
      <p:sp>
        <p:nvSpPr>
          <p:cNvPr id="25" name="Shape 23"/>
          <p:cNvSpPr/>
          <p:nvPr/>
        </p:nvSpPr>
        <p:spPr>
          <a:xfrm>
            <a:off x="2295144" y="1874520"/>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26" name="Text 24"/>
          <p:cNvSpPr/>
          <p:nvPr/>
        </p:nvSpPr>
        <p:spPr>
          <a:xfrm>
            <a:off x="2295144" y="1874520"/>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27" name="Shape 25"/>
          <p:cNvSpPr/>
          <p:nvPr/>
        </p:nvSpPr>
        <p:spPr>
          <a:xfrm>
            <a:off x="3191256" y="1874520"/>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28" name="Text 26"/>
          <p:cNvSpPr/>
          <p:nvPr/>
        </p:nvSpPr>
        <p:spPr>
          <a:xfrm>
            <a:off x="3191256" y="1874520"/>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29" name="Shape 27"/>
          <p:cNvSpPr/>
          <p:nvPr/>
        </p:nvSpPr>
        <p:spPr>
          <a:xfrm>
            <a:off x="4087368" y="1874520"/>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30" name="Text 28"/>
          <p:cNvSpPr/>
          <p:nvPr/>
        </p:nvSpPr>
        <p:spPr>
          <a:xfrm>
            <a:off x="4087368" y="1874520"/>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31" name="Text 29"/>
          <p:cNvSpPr/>
          <p:nvPr/>
        </p:nvSpPr>
        <p:spPr>
          <a:xfrm>
            <a:off x="5074920" y="1911096"/>
            <a:ext cx="640080" cy="274320"/>
          </a:xfrm>
          <a:prstGeom prst="rect">
            <a:avLst/>
          </a:prstGeom>
          <a:noFill/>
          <a:ln/>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Fold 2</a:t>
            </a:r>
            <a:endParaRPr lang="en-US" sz="900" dirty="0"/>
          </a:p>
        </p:txBody>
      </p:sp>
      <p:sp>
        <p:nvSpPr>
          <p:cNvPr id="32" name="Shape 30"/>
          <p:cNvSpPr/>
          <p:nvPr/>
        </p:nvSpPr>
        <p:spPr>
          <a:xfrm>
            <a:off x="502920" y="2304288"/>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33" name="Text 31"/>
          <p:cNvSpPr/>
          <p:nvPr/>
        </p:nvSpPr>
        <p:spPr>
          <a:xfrm>
            <a:off x="502920" y="2304288"/>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34" name="Shape 32"/>
          <p:cNvSpPr/>
          <p:nvPr/>
        </p:nvSpPr>
        <p:spPr>
          <a:xfrm>
            <a:off x="1399032" y="2304288"/>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35" name="Text 33"/>
          <p:cNvSpPr/>
          <p:nvPr/>
        </p:nvSpPr>
        <p:spPr>
          <a:xfrm>
            <a:off x="1399032" y="2304288"/>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36" name="Shape 34"/>
          <p:cNvSpPr/>
          <p:nvPr/>
        </p:nvSpPr>
        <p:spPr>
          <a:xfrm>
            <a:off x="2295144" y="2304288"/>
            <a:ext cx="804672" cy="347472"/>
          </a:xfrm>
          <a:prstGeom prst="roundRect">
            <a:avLst>
              <a:gd name="adj" fmla="val 13158"/>
            </a:avLst>
          </a:prstGeom>
          <a:solidFill>
            <a:srgbClr val="EA580C"/>
          </a:solidFill>
          <a:ln w="12700">
            <a:solidFill>
              <a:srgbClr val="EA580C"/>
            </a:solidFill>
            <a:prstDash val="solid"/>
          </a:ln>
        </p:spPr>
        <p:txBody>
          <a:bodyPr/>
          <a:lstStyle/>
          <a:p>
            <a:endParaRPr lang="en-US"/>
          </a:p>
        </p:txBody>
      </p:sp>
      <p:sp>
        <p:nvSpPr>
          <p:cNvPr id="37" name="Text 35"/>
          <p:cNvSpPr/>
          <p:nvPr/>
        </p:nvSpPr>
        <p:spPr>
          <a:xfrm>
            <a:off x="2295144" y="2304288"/>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VAL</a:t>
            </a:r>
            <a:endParaRPr lang="en-US" sz="800" dirty="0"/>
          </a:p>
        </p:txBody>
      </p:sp>
      <p:sp>
        <p:nvSpPr>
          <p:cNvPr id="38" name="Shape 36"/>
          <p:cNvSpPr/>
          <p:nvPr/>
        </p:nvSpPr>
        <p:spPr>
          <a:xfrm>
            <a:off x="3191256" y="2304288"/>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39" name="Text 37"/>
          <p:cNvSpPr/>
          <p:nvPr/>
        </p:nvSpPr>
        <p:spPr>
          <a:xfrm>
            <a:off x="3191256" y="2304288"/>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40" name="Shape 38"/>
          <p:cNvSpPr/>
          <p:nvPr/>
        </p:nvSpPr>
        <p:spPr>
          <a:xfrm>
            <a:off x="4087368" y="2304288"/>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41" name="Text 39"/>
          <p:cNvSpPr/>
          <p:nvPr/>
        </p:nvSpPr>
        <p:spPr>
          <a:xfrm>
            <a:off x="4087368" y="2304288"/>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42" name="Text 40"/>
          <p:cNvSpPr/>
          <p:nvPr/>
        </p:nvSpPr>
        <p:spPr>
          <a:xfrm>
            <a:off x="5074920" y="2340864"/>
            <a:ext cx="640080" cy="274320"/>
          </a:xfrm>
          <a:prstGeom prst="rect">
            <a:avLst/>
          </a:prstGeom>
          <a:noFill/>
          <a:ln/>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Fold 3</a:t>
            </a:r>
            <a:endParaRPr lang="en-US" sz="900" dirty="0"/>
          </a:p>
        </p:txBody>
      </p:sp>
      <p:sp>
        <p:nvSpPr>
          <p:cNvPr id="43" name="Shape 41"/>
          <p:cNvSpPr/>
          <p:nvPr/>
        </p:nvSpPr>
        <p:spPr>
          <a:xfrm>
            <a:off x="502920" y="2734056"/>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44" name="Text 42"/>
          <p:cNvSpPr/>
          <p:nvPr/>
        </p:nvSpPr>
        <p:spPr>
          <a:xfrm>
            <a:off x="502920" y="2734056"/>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45" name="Shape 43"/>
          <p:cNvSpPr/>
          <p:nvPr/>
        </p:nvSpPr>
        <p:spPr>
          <a:xfrm>
            <a:off x="1399032" y="2734056"/>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46" name="Text 44"/>
          <p:cNvSpPr/>
          <p:nvPr/>
        </p:nvSpPr>
        <p:spPr>
          <a:xfrm>
            <a:off x="1399032" y="2734056"/>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47" name="Shape 45"/>
          <p:cNvSpPr/>
          <p:nvPr/>
        </p:nvSpPr>
        <p:spPr>
          <a:xfrm>
            <a:off x="2295144" y="2734056"/>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48" name="Text 46"/>
          <p:cNvSpPr/>
          <p:nvPr/>
        </p:nvSpPr>
        <p:spPr>
          <a:xfrm>
            <a:off x="2295144" y="2734056"/>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49" name="Shape 47"/>
          <p:cNvSpPr/>
          <p:nvPr/>
        </p:nvSpPr>
        <p:spPr>
          <a:xfrm>
            <a:off x="3191256" y="2734056"/>
            <a:ext cx="804672" cy="347472"/>
          </a:xfrm>
          <a:prstGeom prst="roundRect">
            <a:avLst>
              <a:gd name="adj" fmla="val 13158"/>
            </a:avLst>
          </a:prstGeom>
          <a:solidFill>
            <a:srgbClr val="EA580C"/>
          </a:solidFill>
          <a:ln w="12700">
            <a:solidFill>
              <a:srgbClr val="EA580C"/>
            </a:solidFill>
            <a:prstDash val="solid"/>
          </a:ln>
        </p:spPr>
        <p:txBody>
          <a:bodyPr/>
          <a:lstStyle/>
          <a:p>
            <a:endParaRPr lang="en-US"/>
          </a:p>
        </p:txBody>
      </p:sp>
      <p:sp>
        <p:nvSpPr>
          <p:cNvPr id="50" name="Text 48"/>
          <p:cNvSpPr/>
          <p:nvPr/>
        </p:nvSpPr>
        <p:spPr>
          <a:xfrm>
            <a:off x="3191256" y="2734056"/>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VAL</a:t>
            </a:r>
            <a:endParaRPr lang="en-US" sz="800" dirty="0"/>
          </a:p>
        </p:txBody>
      </p:sp>
      <p:sp>
        <p:nvSpPr>
          <p:cNvPr id="51" name="Shape 49"/>
          <p:cNvSpPr/>
          <p:nvPr/>
        </p:nvSpPr>
        <p:spPr>
          <a:xfrm>
            <a:off x="4087368" y="2734056"/>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52" name="Text 50"/>
          <p:cNvSpPr/>
          <p:nvPr/>
        </p:nvSpPr>
        <p:spPr>
          <a:xfrm>
            <a:off x="4087368" y="2734056"/>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53" name="Text 51"/>
          <p:cNvSpPr/>
          <p:nvPr/>
        </p:nvSpPr>
        <p:spPr>
          <a:xfrm>
            <a:off x="5074920" y="2770632"/>
            <a:ext cx="640080" cy="274320"/>
          </a:xfrm>
          <a:prstGeom prst="rect">
            <a:avLst/>
          </a:prstGeom>
          <a:noFill/>
          <a:ln/>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Fold 4</a:t>
            </a:r>
            <a:endParaRPr lang="en-US" sz="900" dirty="0"/>
          </a:p>
        </p:txBody>
      </p:sp>
      <p:sp>
        <p:nvSpPr>
          <p:cNvPr id="54" name="Shape 52"/>
          <p:cNvSpPr/>
          <p:nvPr/>
        </p:nvSpPr>
        <p:spPr>
          <a:xfrm>
            <a:off x="502920" y="3163824"/>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55" name="Text 53"/>
          <p:cNvSpPr/>
          <p:nvPr/>
        </p:nvSpPr>
        <p:spPr>
          <a:xfrm>
            <a:off x="502920" y="3163824"/>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56" name="Shape 54"/>
          <p:cNvSpPr/>
          <p:nvPr/>
        </p:nvSpPr>
        <p:spPr>
          <a:xfrm>
            <a:off x="1399032" y="3163824"/>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57" name="Text 55"/>
          <p:cNvSpPr/>
          <p:nvPr/>
        </p:nvSpPr>
        <p:spPr>
          <a:xfrm>
            <a:off x="1399032" y="3163824"/>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58" name="Shape 56"/>
          <p:cNvSpPr/>
          <p:nvPr/>
        </p:nvSpPr>
        <p:spPr>
          <a:xfrm>
            <a:off x="2295144" y="3163824"/>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59" name="Text 57"/>
          <p:cNvSpPr/>
          <p:nvPr/>
        </p:nvSpPr>
        <p:spPr>
          <a:xfrm>
            <a:off x="2295144" y="3163824"/>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60" name="Shape 58"/>
          <p:cNvSpPr/>
          <p:nvPr/>
        </p:nvSpPr>
        <p:spPr>
          <a:xfrm>
            <a:off x="3191256" y="3163824"/>
            <a:ext cx="804672" cy="347472"/>
          </a:xfrm>
          <a:prstGeom prst="roundRect">
            <a:avLst>
              <a:gd name="adj" fmla="val 13158"/>
            </a:avLst>
          </a:prstGeom>
          <a:solidFill>
            <a:srgbClr val="3B82F6">
              <a:alpha val="75000"/>
            </a:srgbClr>
          </a:solidFill>
          <a:ln w="12700">
            <a:solidFill>
              <a:srgbClr val="3B82F6"/>
            </a:solidFill>
            <a:prstDash val="solid"/>
          </a:ln>
        </p:spPr>
        <p:txBody>
          <a:bodyPr/>
          <a:lstStyle/>
          <a:p>
            <a:endParaRPr lang="en-US"/>
          </a:p>
        </p:txBody>
      </p:sp>
      <p:sp>
        <p:nvSpPr>
          <p:cNvPr id="61" name="Text 59"/>
          <p:cNvSpPr/>
          <p:nvPr/>
        </p:nvSpPr>
        <p:spPr>
          <a:xfrm>
            <a:off x="3191256" y="3163824"/>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TRAIN</a:t>
            </a:r>
            <a:endParaRPr lang="en-US" sz="800" dirty="0"/>
          </a:p>
        </p:txBody>
      </p:sp>
      <p:sp>
        <p:nvSpPr>
          <p:cNvPr id="62" name="Shape 60"/>
          <p:cNvSpPr/>
          <p:nvPr/>
        </p:nvSpPr>
        <p:spPr>
          <a:xfrm>
            <a:off x="4087368" y="3163824"/>
            <a:ext cx="804672" cy="347472"/>
          </a:xfrm>
          <a:prstGeom prst="roundRect">
            <a:avLst>
              <a:gd name="adj" fmla="val 13158"/>
            </a:avLst>
          </a:prstGeom>
          <a:solidFill>
            <a:srgbClr val="EA580C"/>
          </a:solidFill>
          <a:ln w="12700">
            <a:solidFill>
              <a:srgbClr val="EA580C"/>
            </a:solidFill>
            <a:prstDash val="solid"/>
          </a:ln>
        </p:spPr>
        <p:txBody>
          <a:bodyPr/>
          <a:lstStyle/>
          <a:p>
            <a:endParaRPr lang="en-US"/>
          </a:p>
        </p:txBody>
      </p:sp>
      <p:sp>
        <p:nvSpPr>
          <p:cNvPr id="63" name="Text 61"/>
          <p:cNvSpPr/>
          <p:nvPr/>
        </p:nvSpPr>
        <p:spPr>
          <a:xfrm>
            <a:off x="4087368" y="3163824"/>
            <a:ext cx="804672" cy="347472"/>
          </a:xfrm>
          <a:prstGeom prst="rect">
            <a:avLst/>
          </a:prstGeom>
          <a:noFill/>
          <a:ln/>
        </p:spPr>
        <p:txBody>
          <a:bodyPr wrap="square" lIns="0" tIns="0" rIns="0" bIns="0" rtlCol="0" anchor="ctr"/>
          <a:lstStyle/>
          <a:p>
            <a:pPr marL="0" indent="0" algn="ctr">
              <a:buNone/>
            </a:pPr>
            <a:r>
              <a:rPr lang="en-US" sz="800" b="1" dirty="0">
                <a:solidFill>
                  <a:srgbClr val="FFFFFF"/>
                </a:solidFill>
              </a:rPr>
              <a:t>VAL</a:t>
            </a:r>
            <a:endParaRPr lang="en-US" sz="800" dirty="0"/>
          </a:p>
        </p:txBody>
      </p:sp>
      <p:sp>
        <p:nvSpPr>
          <p:cNvPr id="64" name="Text 62"/>
          <p:cNvSpPr/>
          <p:nvPr/>
        </p:nvSpPr>
        <p:spPr>
          <a:xfrm>
            <a:off x="5074920" y="3200400"/>
            <a:ext cx="640080" cy="274320"/>
          </a:xfrm>
          <a:prstGeom prst="rect">
            <a:avLst/>
          </a:prstGeom>
          <a:noFill/>
          <a:ln/>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Fold 5</a:t>
            </a:r>
            <a:endParaRPr lang="en-US" sz="900" dirty="0"/>
          </a:p>
        </p:txBody>
      </p:sp>
      <p:sp>
        <p:nvSpPr>
          <p:cNvPr id="65" name="Shape 63"/>
          <p:cNvSpPr/>
          <p:nvPr/>
        </p:nvSpPr>
        <p:spPr>
          <a:xfrm>
            <a:off x="502920" y="3611880"/>
            <a:ext cx="228600" cy="164592"/>
          </a:xfrm>
          <a:prstGeom prst="roundRect">
            <a:avLst>
              <a:gd name="adj" fmla="val 16667"/>
            </a:avLst>
          </a:prstGeom>
          <a:solidFill>
            <a:srgbClr val="3B82F6"/>
          </a:solidFill>
          <a:ln w="12700">
            <a:solidFill>
              <a:srgbClr val="3B82F6"/>
            </a:solidFill>
            <a:prstDash val="solid"/>
          </a:ln>
        </p:spPr>
        <p:txBody>
          <a:bodyPr/>
          <a:lstStyle/>
          <a:p>
            <a:endParaRPr lang="en-US"/>
          </a:p>
        </p:txBody>
      </p:sp>
      <p:sp>
        <p:nvSpPr>
          <p:cNvPr id="66" name="Text 64"/>
          <p:cNvSpPr/>
          <p:nvPr/>
        </p:nvSpPr>
        <p:spPr>
          <a:xfrm>
            <a:off x="777240" y="3602736"/>
            <a:ext cx="1371600" cy="182880"/>
          </a:xfrm>
          <a:prstGeom prst="rect">
            <a:avLst/>
          </a:prstGeom>
          <a:noFill/>
          <a:ln/>
        </p:spPr>
        <p:txBody>
          <a:bodyPr wrap="square" lIns="0" tIns="0" rIns="0" bIns="0" rtlCol="0" anchor="ctr"/>
          <a:lstStyle/>
          <a:p>
            <a:pPr marL="0" indent="0">
              <a:buNone/>
            </a:pPr>
            <a:r>
              <a:rPr lang="en-US" sz="800" dirty="0">
                <a:solidFill>
                  <a:srgbClr val="475569"/>
                </a:solidFill>
                <a:latin typeface="Calibri" pitchFamily="34" charset="0"/>
                <a:ea typeface="Calibri" pitchFamily="34" charset="-122"/>
                <a:cs typeface="Calibri" pitchFamily="34" charset="-120"/>
              </a:rPr>
              <a:t>Training fold</a:t>
            </a:r>
            <a:endParaRPr lang="en-US" sz="800" dirty="0"/>
          </a:p>
        </p:txBody>
      </p:sp>
      <p:sp>
        <p:nvSpPr>
          <p:cNvPr id="67" name="Shape 65"/>
          <p:cNvSpPr/>
          <p:nvPr/>
        </p:nvSpPr>
        <p:spPr>
          <a:xfrm>
            <a:off x="2148840" y="3611880"/>
            <a:ext cx="228600" cy="164592"/>
          </a:xfrm>
          <a:prstGeom prst="roundRect">
            <a:avLst>
              <a:gd name="adj" fmla="val 16667"/>
            </a:avLst>
          </a:prstGeom>
          <a:solidFill>
            <a:srgbClr val="EA580C"/>
          </a:solidFill>
          <a:ln w="12700">
            <a:solidFill>
              <a:srgbClr val="EA580C"/>
            </a:solidFill>
            <a:prstDash val="solid"/>
          </a:ln>
        </p:spPr>
        <p:txBody>
          <a:bodyPr/>
          <a:lstStyle/>
          <a:p>
            <a:endParaRPr lang="en-US"/>
          </a:p>
        </p:txBody>
      </p:sp>
      <p:sp>
        <p:nvSpPr>
          <p:cNvPr id="68" name="Text 66"/>
          <p:cNvSpPr/>
          <p:nvPr/>
        </p:nvSpPr>
        <p:spPr>
          <a:xfrm>
            <a:off x="2423160" y="3602736"/>
            <a:ext cx="2743200" cy="182880"/>
          </a:xfrm>
          <a:prstGeom prst="rect">
            <a:avLst/>
          </a:prstGeom>
          <a:noFill/>
          <a:ln/>
        </p:spPr>
        <p:txBody>
          <a:bodyPr wrap="square" lIns="0" tIns="0" rIns="0" bIns="0" rtlCol="0" anchor="ctr"/>
          <a:lstStyle/>
          <a:p>
            <a:pPr marL="0" indent="0">
              <a:buNone/>
            </a:pPr>
            <a:r>
              <a:rPr lang="en-US" sz="800" dirty="0">
                <a:solidFill>
                  <a:srgbClr val="475569"/>
                </a:solidFill>
                <a:latin typeface="Calibri" pitchFamily="34" charset="0"/>
                <a:ea typeface="Calibri" pitchFamily="34" charset="-122"/>
                <a:cs typeface="Calibri" pitchFamily="34" charset="-120"/>
              </a:rPr>
              <a:t>Validation fold  (SMOTE not applied here)</a:t>
            </a:r>
            <a:endParaRPr lang="en-US" sz="800" dirty="0"/>
          </a:p>
        </p:txBody>
      </p:sp>
      <p:sp>
        <p:nvSpPr>
          <p:cNvPr id="69" name="Shape 67"/>
          <p:cNvSpPr/>
          <p:nvPr/>
        </p:nvSpPr>
        <p:spPr>
          <a:xfrm>
            <a:off x="5454748" y="978408"/>
            <a:ext cx="3291840" cy="2788920"/>
          </a:xfrm>
          <a:prstGeom prst="roundRect">
            <a:avLst>
              <a:gd name="adj" fmla="val 3279"/>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pPr algn="ctr"/>
            <a:r>
              <a:rPr lang="en-US" sz="800" kern="0" spc="150">
                <a:solidFill>
                  <a:srgbClr val="FFFFFF"/>
                </a:solidFill>
                <a:latin typeface="Calibri" pitchFamily="34" charset="0"/>
                <a:ea typeface="Calibri" pitchFamily="34" charset="-122"/>
                <a:cs typeface="Calibri" pitchFamily="34" charset="-120"/>
              </a:rPr>
              <a:t>Baseline
</a:t>
            </a:r>
            <a:r>
              <a:rPr lang="en-US" b="1">
                <a:solidFill>
                  <a:srgbClr val="FFFFFF"/>
                </a:solidFill>
                <a:latin typeface="Cambria" pitchFamily="34" charset="0"/>
                <a:ea typeface="Cambria" pitchFamily="34" charset="-122"/>
                <a:cs typeface="Cambria" pitchFamily="34" charset="-120"/>
              </a:rPr>
              <a:t>Logistic Regression</a:t>
            </a:r>
            <a:endParaRPr lang="en-US" sz="800" dirty="0"/>
          </a:p>
        </p:txBody>
      </p:sp>
      <p:sp>
        <p:nvSpPr>
          <p:cNvPr id="77" name="Shape 75"/>
          <p:cNvSpPr/>
          <p:nvPr/>
        </p:nvSpPr>
        <p:spPr>
          <a:xfrm>
            <a:off x="320040" y="3913632"/>
            <a:ext cx="8503920" cy="804672"/>
          </a:xfrm>
          <a:prstGeom prst="roundRect">
            <a:avLst>
              <a:gd name="adj" fmla="val 11364"/>
            </a:avLst>
          </a:prstGeom>
          <a:solidFill>
            <a:srgbClr val="1A3A5C"/>
          </a:solidFill>
          <a:ln w="12700">
            <a:solidFill>
              <a:srgbClr val="1A3A5C"/>
            </a:solidFill>
            <a:prstDash val="solid"/>
          </a:ln>
        </p:spPr>
        <p:txBody>
          <a:bodyPr/>
          <a:lstStyle/>
          <a:p>
            <a:endParaRPr lang="en-US"/>
          </a:p>
        </p:txBody>
      </p:sp>
      <p:sp>
        <p:nvSpPr>
          <p:cNvPr id="78" name="Text 76"/>
          <p:cNvSpPr/>
          <p:nvPr/>
        </p:nvSpPr>
        <p:spPr>
          <a:xfrm>
            <a:off x="548640" y="3950208"/>
            <a:ext cx="8229600" cy="731520"/>
          </a:xfrm>
          <a:prstGeom prst="rect">
            <a:avLst/>
          </a:prstGeom>
          <a:noFill/>
          <a:ln/>
        </p:spPr>
        <p:txBody>
          <a:bodyPr wrap="square" lIns="0" tIns="0" rIns="0" bIns="0" rtlCol="0" anchor="t"/>
          <a:lstStyle/>
          <a:p>
            <a:pPr marL="0" indent="0" algn="l">
              <a:buNone/>
            </a:pPr>
            <a:r>
              <a:rPr lang="en-US" sz="1100" b="1" dirty="0">
                <a:solidFill>
                  <a:srgbClr val="FFFFFF"/>
                </a:solidFill>
                <a:latin typeface="Cambria" pitchFamily="34" charset="0"/>
                <a:ea typeface="Cambria" pitchFamily="34" charset="-122"/>
                <a:cs typeface="Cambria" pitchFamily="34" charset="-120"/>
              </a:rPr>
              <a:t>Why Stratified K-Fold?
</a:t>
            </a:r>
            <a:r>
              <a:rPr lang="en-US" sz="950" dirty="0">
                <a:solidFill>
                  <a:srgbClr val="DBEAFE"/>
                </a:solidFill>
                <a:latin typeface="Calibri" pitchFamily="34" charset="0"/>
                <a:ea typeface="Calibri" pitchFamily="34" charset="-122"/>
                <a:cs typeface="Calibri" pitchFamily="34" charset="-120"/>
              </a:rPr>
              <a:t>Preserves the 0.17% fraud ratio in every fold. Without stratification, some folds may contain zero fraud samples — making validation meaningless. SMOTE is applied inside each training fold only, preventing information leakage into validation.</a:t>
            </a:r>
            <a:endParaRPr lang="en-US" sz="1100" dirty="0"/>
          </a:p>
        </p:txBody>
      </p:sp>
      <p:sp>
        <p:nvSpPr>
          <p:cNvPr id="79" name="Shape 6">
            <a:extLst>
              <a:ext uri="{FF2B5EF4-FFF2-40B4-BE49-F238E27FC236}">
                <a16:creationId xmlns:a16="http://schemas.microsoft.com/office/drawing/2014/main" id="{2EAC03B5-4585-305E-BA4A-3FAC900FBA80}"/>
              </a:ext>
            </a:extLst>
          </p:cNvPr>
          <p:cNvSpPr/>
          <p:nvPr/>
        </p:nvSpPr>
        <p:spPr>
          <a:xfrm>
            <a:off x="6087795" y="1552018"/>
            <a:ext cx="1993392" cy="384048"/>
          </a:xfrm>
          <a:prstGeom prst="roundRect">
            <a:avLst>
              <a:gd name="adj" fmla="val 19048"/>
            </a:avLst>
          </a:prstGeom>
          <a:solidFill>
            <a:srgbClr val="94A3B8"/>
          </a:solidFill>
          <a:ln w="12700">
            <a:solidFill>
              <a:srgbClr val="94A3B8"/>
            </a:solidFill>
            <a:prstDash val="solid"/>
          </a:ln>
        </p:spPr>
        <p:txBody>
          <a:bodyPr/>
          <a:lstStyle/>
          <a:p>
            <a:endParaRPr lang="en-US"/>
          </a:p>
        </p:txBody>
      </p:sp>
      <p:sp>
        <p:nvSpPr>
          <p:cNvPr id="81" name="Text 7">
            <a:extLst>
              <a:ext uri="{FF2B5EF4-FFF2-40B4-BE49-F238E27FC236}">
                <a16:creationId xmlns:a16="http://schemas.microsoft.com/office/drawing/2014/main" id="{08815542-A185-992B-1ADD-33F9FD05D35C}"/>
              </a:ext>
            </a:extLst>
          </p:cNvPr>
          <p:cNvSpPr/>
          <p:nvPr/>
        </p:nvSpPr>
        <p:spPr>
          <a:xfrm>
            <a:off x="6066693" y="1552018"/>
            <a:ext cx="1993392" cy="384048"/>
          </a:xfrm>
          <a:prstGeom prst="rect">
            <a:avLst/>
          </a:prstGeom>
          <a:noFill/>
          <a:ln/>
        </p:spPr>
        <p:txBody>
          <a:bodyPr wrap="square" lIns="0" tIns="0" rIns="0" bIns="0" rtlCol="0" anchor="ctr"/>
          <a:lstStyle/>
          <a:p>
            <a:pPr marL="0" indent="0" algn="ctr">
              <a:buNone/>
            </a:pPr>
            <a:r>
              <a:rPr lang="en-US" sz="750" kern="0" spc="150" dirty="0">
                <a:solidFill>
                  <a:srgbClr val="FFFFFF"/>
                </a:solidFill>
                <a:latin typeface="Calibri" pitchFamily="34" charset="0"/>
                <a:ea typeface="Calibri" pitchFamily="34" charset="-122"/>
                <a:cs typeface="Calibri" pitchFamily="34" charset="-120"/>
              </a:rPr>
              <a:t>Baseline
</a:t>
            </a:r>
            <a:r>
              <a:rPr lang="en-US" sz="1000" b="1" dirty="0">
                <a:solidFill>
                  <a:srgbClr val="FFFFFF"/>
                </a:solidFill>
                <a:latin typeface="Cambria" pitchFamily="34" charset="0"/>
                <a:ea typeface="Cambria" pitchFamily="34" charset="-122"/>
                <a:cs typeface="Cambria" pitchFamily="34" charset="-120"/>
              </a:rPr>
              <a:t>Logistic Regression</a:t>
            </a:r>
            <a:endParaRPr lang="en-US" sz="750" dirty="0"/>
          </a:p>
        </p:txBody>
      </p:sp>
      <p:sp>
        <p:nvSpPr>
          <p:cNvPr id="83" name="Shape 14">
            <a:extLst>
              <a:ext uri="{FF2B5EF4-FFF2-40B4-BE49-F238E27FC236}">
                <a16:creationId xmlns:a16="http://schemas.microsoft.com/office/drawing/2014/main" id="{B815E215-8A91-890C-E873-B377797D8EBE}"/>
              </a:ext>
            </a:extLst>
          </p:cNvPr>
          <p:cNvSpPr/>
          <p:nvPr/>
        </p:nvSpPr>
        <p:spPr>
          <a:xfrm>
            <a:off x="6089553" y="2050366"/>
            <a:ext cx="1993392" cy="384048"/>
          </a:xfrm>
          <a:prstGeom prst="roundRect">
            <a:avLst>
              <a:gd name="adj" fmla="val 19048"/>
            </a:avLst>
          </a:prstGeom>
          <a:solidFill>
            <a:srgbClr val="059669"/>
          </a:solidFill>
          <a:ln w="12700">
            <a:solidFill>
              <a:srgbClr val="059669"/>
            </a:solidFill>
            <a:prstDash val="solid"/>
          </a:ln>
        </p:spPr>
        <p:txBody>
          <a:bodyPr/>
          <a:lstStyle/>
          <a:p>
            <a:endParaRPr lang="en-US"/>
          </a:p>
        </p:txBody>
      </p:sp>
      <p:sp>
        <p:nvSpPr>
          <p:cNvPr id="85" name="Text 15">
            <a:extLst>
              <a:ext uri="{FF2B5EF4-FFF2-40B4-BE49-F238E27FC236}">
                <a16:creationId xmlns:a16="http://schemas.microsoft.com/office/drawing/2014/main" id="{D2F36365-DEB3-2924-69C0-AAC0D4D65374}"/>
              </a:ext>
            </a:extLst>
          </p:cNvPr>
          <p:cNvSpPr/>
          <p:nvPr/>
        </p:nvSpPr>
        <p:spPr>
          <a:xfrm>
            <a:off x="6066693" y="2057400"/>
            <a:ext cx="1993392" cy="384048"/>
          </a:xfrm>
          <a:prstGeom prst="rect">
            <a:avLst/>
          </a:prstGeom>
          <a:noFill/>
          <a:ln/>
        </p:spPr>
        <p:txBody>
          <a:bodyPr wrap="square" lIns="0" tIns="0" rIns="0" bIns="0" rtlCol="0" anchor="ctr"/>
          <a:lstStyle/>
          <a:p>
            <a:pPr marL="0" indent="0" algn="ctr">
              <a:buNone/>
            </a:pPr>
            <a:r>
              <a:rPr lang="en-US" sz="750" kern="0" spc="150" dirty="0">
                <a:solidFill>
                  <a:srgbClr val="FFFFFF"/>
                </a:solidFill>
                <a:latin typeface="Calibri" pitchFamily="34" charset="0"/>
                <a:ea typeface="Calibri" pitchFamily="34" charset="-122"/>
                <a:cs typeface="Calibri" pitchFamily="34" charset="-120"/>
              </a:rPr>
              <a:t>Ensemble
</a:t>
            </a:r>
            <a:r>
              <a:rPr lang="en-US" sz="1000" b="1" dirty="0">
                <a:solidFill>
                  <a:srgbClr val="FFFFFF"/>
                </a:solidFill>
                <a:latin typeface="Cambria" pitchFamily="34" charset="0"/>
                <a:ea typeface="Cambria" pitchFamily="34" charset="-122"/>
                <a:cs typeface="Cambria" pitchFamily="34" charset="-120"/>
              </a:rPr>
              <a:t>Random Forest</a:t>
            </a:r>
            <a:endParaRPr lang="en-US" sz="750" dirty="0"/>
          </a:p>
        </p:txBody>
      </p:sp>
      <p:sp>
        <p:nvSpPr>
          <p:cNvPr id="87" name="Shape 22">
            <a:extLst>
              <a:ext uri="{FF2B5EF4-FFF2-40B4-BE49-F238E27FC236}">
                <a16:creationId xmlns:a16="http://schemas.microsoft.com/office/drawing/2014/main" id="{4DE52591-0E59-C401-BDA8-1A0EED71E675}"/>
              </a:ext>
            </a:extLst>
          </p:cNvPr>
          <p:cNvSpPr/>
          <p:nvPr/>
        </p:nvSpPr>
        <p:spPr>
          <a:xfrm>
            <a:off x="6089553" y="2572278"/>
            <a:ext cx="1993392" cy="384048"/>
          </a:xfrm>
          <a:prstGeom prst="roundRect">
            <a:avLst>
              <a:gd name="adj" fmla="val 19048"/>
            </a:avLst>
          </a:prstGeom>
          <a:solidFill>
            <a:srgbClr val="2563EB"/>
          </a:solidFill>
          <a:ln w="12700">
            <a:solidFill>
              <a:srgbClr val="2563EB"/>
            </a:solidFill>
            <a:prstDash val="solid"/>
          </a:ln>
        </p:spPr>
        <p:txBody>
          <a:bodyPr/>
          <a:lstStyle/>
          <a:p>
            <a:endParaRPr lang="en-US"/>
          </a:p>
        </p:txBody>
      </p:sp>
      <p:sp>
        <p:nvSpPr>
          <p:cNvPr id="89" name="Text 23">
            <a:extLst>
              <a:ext uri="{FF2B5EF4-FFF2-40B4-BE49-F238E27FC236}">
                <a16:creationId xmlns:a16="http://schemas.microsoft.com/office/drawing/2014/main" id="{BE2DE2DD-A3AD-BEA2-E35F-092EC4CE0C3E}"/>
              </a:ext>
            </a:extLst>
          </p:cNvPr>
          <p:cNvSpPr/>
          <p:nvPr/>
        </p:nvSpPr>
        <p:spPr>
          <a:xfrm>
            <a:off x="6066693" y="2550473"/>
            <a:ext cx="1993392" cy="384048"/>
          </a:xfrm>
          <a:prstGeom prst="rect">
            <a:avLst/>
          </a:prstGeom>
          <a:noFill/>
          <a:ln/>
        </p:spPr>
        <p:txBody>
          <a:bodyPr wrap="square" lIns="0" tIns="0" rIns="0" bIns="0" rtlCol="0" anchor="ctr"/>
          <a:lstStyle/>
          <a:p>
            <a:pPr marL="0" indent="0" algn="ctr">
              <a:buNone/>
            </a:pPr>
            <a:r>
              <a:rPr lang="en-US" sz="750" kern="0" spc="150">
                <a:solidFill>
                  <a:srgbClr val="FFFFFF"/>
                </a:solidFill>
                <a:latin typeface="Calibri" pitchFamily="34" charset="0"/>
                <a:ea typeface="Calibri" pitchFamily="34" charset="-122"/>
                <a:cs typeface="Calibri" pitchFamily="34" charset="-120"/>
              </a:rPr>
              <a:t>Boosting
</a:t>
            </a:r>
            <a:r>
              <a:rPr lang="en-US" sz="1000" b="1">
                <a:solidFill>
                  <a:srgbClr val="FFFFFF"/>
                </a:solidFill>
                <a:latin typeface="Cambria" pitchFamily="34" charset="0"/>
                <a:ea typeface="Cambria" pitchFamily="34" charset="-122"/>
                <a:cs typeface="Cambria" pitchFamily="34" charset="-120"/>
              </a:rPr>
              <a:t>XGBoost</a:t>
            </a:r>
            <a:endParaRPr lang="en-US" sz="750" dirty="0"/>
          </a:p>
        </p:txBody>
      </p:sp>
      <p:sp>
        <p:nvSpPr>
          <p:cNvPr id="91" name="Shape 30">
            <a:extLst>
              <a:ext uri="{FF2B5EF4-FFF2-40B4-BE49-F238E27FC236}">
                <a16:creationId xmlns:a16="http://schemas.microsoft.com/office/drawing/2014/main" id="{F7841B83-C105-4929-C43A-126BDFBAA327}"/>
              </a:ext>
            </a:extLst>
          </p:cNvPr>
          <p:cNvSpPr/>
          <p:nvPr/>
        </p:nvSpPr>
        <p:spPr>
          <a:xfrm>
            <a:off x="6098345" y="3101926"/>
            <a:ext cx="1993392" cy="384048"/>
          </a:xfrm>
          <a:prstGeom prst="roundRect">
            <a:avLst>
              <a:gd name="adj" fmla="val 19048"/>
            </a:avLst>
          </a:prstGeom>
          <a:solidFill>
            <a:srgbClr val="1A3A5C"/>
          </a:solidFill>
          <a:ln w="12700">
            <a:solidFill>
              <a:srgbClr val="1A3A5C"/>
            </a:solidFill>
            <a:prstDash val="solid"/>
          </a:ln>
        </p:spPr>
        <p:txBody>
          <a:bodyPr/>
          <a:lstStyle/>
          <a:p>
            <a:endParaRPr lang="en-US"/>
          </a:p>
        </p:txBody>
      </p:sp>
      <p:sp>
        <p:nvSpPr>
          <p:cNvPr id="93" name="Text 31">
            <a:extLst>
              <a:ext uri="{FF2B5EF4-FFF2-40B4-BE49-F238E27FC236}">
                <a16:creationId xmlns:a16="http://schemas.microsoft.com/office/drawing/2014/main" id="{2B8DD869-36E4-6656-8861-BCDD3920D4DB}"/>
              </a:ext>
            </a:extLst>
          </p:cNvPr>
          <p:cNvSpPr/>
          <p:nvPr/>
        </p:nvSpPr>
        <p:spPr>
          <a:xfrm>
            <a:off x="6089553" y="3083638"/>
            <a:ext cx="1993392" cy="384048"/>
          </a:xfrm>
          <a:prstGeom prst="rect">
            <a:avLst/>
          </a:prstGeom>
          <a:noFill/>
          <a:ln/>
        </p:spPr>
        <p:txBody>
          <a:bodyPr wrap="square" lIns="0" tIns="0" rIns="0" bIns="0" rtlCol="0" anchor="ctr"/>
          <a:lstStyle/>
          <a:p>
            <a:pPr marL="0" indent="0" algn="ctr">
              <a:buNone/>
            </a:pPr>
            <a:r>
              <a:rPr lang="en-US" sz="750" kern="0" spc="150" dirty="0">
                <a:solidFill>
                  <a:srgbClr val="FFFFFF"/>
                </a:solidFill>
                <a:latin typeface="Calibri" pitchFamily="34" charset="0"/>
                <a:ea typeface="Calibri" pitchFamily="34" charset="-122"/>
                <a:cs typeface="Calibri" pitchFamily="34" charset="-120"/>
              </a:rPr>
              <a:t>Boosting
</a:t>
            </a:r>
            <a:r>
              <a:rPr lang="en-US" sz="1000" b="1" dirty="0">
                <a:solidFill>
                  <a:srgbClr val="FFFFFF"/>
                </a:solidFill>
                <a:latin typeface="Cambria" pitchFamily="34" charset="0"/>
                <a:ea typeface="Cambria" pitchFamily="34" charset="-122"/>
                <a:cs typeface="Cambria" pitchFamily="34" charset="-120"/>
              </a:rPr>
              <a:t>LightGBM</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6" name="Text 4"/>
          <p:cNvSpPr/>
          <p:nvPr/>
        </p:nvSpPr>
        <p:spPr>
          <a:xfrm>
            <a:off x="457200" y="164592"/>
            <a:ext cx="256032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5 · EVALUATION — METRICS</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Evaluation Metrics &amp; Why They Matter</a:t>
            </a:r>
            <a:endParaRPr lang="en-US" sz="2600" dirty="0"/>
          </a:p>
        </p:txBody>
      </p:sp>
      <p:sp>
        <p:nvSpPr>
          <p:cNvPr id="8" name="Shape 6"/>
          <p:cNvSpPr/>
          <p:nvPr/>
        </p:nvSpPr>
        <p:spPr>
          <a:xfrm>
            <a:off x="320040" y="960120"/>
            <a:ext cx="4206240" cy="3200400"/>
          </a:xfrm>
          <a:prstGeom prst="roundRect">
            <a:avLst>
              <a:gd name="adj" fmla="val 2857"/>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9" name="Text 7"/>
          <p:cNvSpPr/>
          <p:nvPr/>
        </p:nvSpPr>
        <p:spPr>
          <a:xfrm>
            <a:off x="502920" y="1051560"/>
            <a:ext cx="3840480" cy="256032"/>
          </a:xfrm>
          <a:prstGeom prst="rect">
            <a:avLst/>
          </a:prstGeom>
          <a:noFill/>
          <a:ln/>
        </p:spPr>
        <p:txBody>
          <a:bodyPr wrap="square" lIns="0" tIns="0" rIns="0" bIns="0" rtlCol="0" anchor="ctr"/>
          <a:lstStyle/>
          <a:p>
            <a:pPr marL="0" indent="0" algn="l">
              <a:buNone/>
            </a:pPr>
            <a:r>
              <a:rPr lang="en-US" sz="1300" b="1" dirty="0">
                <a:solidFill>
                  <a:srgbClr val="1A3A5C"/>
                </a:solidFill>
                <a:latin typeface="Cambria" pitchFamily="34" charset="0"/>
                <a:ea typeface="Cambria" pitchFamily="34" charset="-122"/>
                <a:cs typeface="Cambria" pitchFamily="34" charset="-120"/>
              </a:rPr>
              <a:t>Confusion Matrix</a:t>
            </a:r>
            <a:endParaRPr lang="en-US" sz="1300" dirty="0"/>
          </a:p>
        </p:txBody>
      </p:sp>
      <p:sp>
        <p:nvSpPr>
          <p:cNvPr id="10" name="Shape 8"/>
          <p:cNvSpPr/>
          <p:nvPr/>
        </p:nvSpPr>
        <p:spPr>
          <a:xfrm>
            <a:off x="548640" y="1481328"/>
            <a:ext cx="1572768" cy="1051560"/>
          </a:xfrm>
          <a:prstGeom prst="roundRect">
            <a:avLst>
              <a:gd name="adj" fmla="val 8696"/>
            </a:avLst>
          </a:prstGeom>
          <a:solidFill>
            <a:srgbClr val="ECFDF5"/>
          </a:solidFill>
          <a:ln w="19050">
            <a:solidFill>
              <a:srgbClr val="059669"/>
            </a:solidFill>
            <a:prstDash val="solid"/>
          </a:ln>
        </p:spPr>
        <p:txBody>
          <a:bodyPr/>
          <a:lstStyle/>
          <a:p>
            <a:endParaRPr lang="en-US"/>
          </a:p>
        </p:txBody>
      </p:sp>
      <p:sp>
        <p:nvSpPr>
          <p:cNvPr id="11" name="Text 9"/>
          <p:cNvSpPr/>
          <p:nvPr/>
        </p:nvSpPr>
        <p:spPr>
          <a:xfrm>
            <a:off x="548640" y="1536192"/>
            <a:ext cx="1572768" cy="365760"/>
          </a:xfrm>
          <a:prstGeom prst="rect">
            <a:avLst/>
          </a:prstGeom>
          <a:noFill/>
          <a:ln/>
        </p:spPr>
        <p:txBody>
          <a:bodyPr wrap="square" lIns="0" tIns="0" rIns="0" bIns="0" rtlCol="0" anchor="ctr"/>
          <a:lstStyle/>
          <a:p>
            <a:pPr marL="0" indent="0" algn="ctr">
              <a:buNone/>
            </a:pPr>
            <a:r>
              <a:rPr lang="en-US" sz="2000" b="1" dirty="0">
                <a:solidFill>
                  <a:srgbClr val="059669"/>
                </a:solidFill>
                <a:latin typeface="Cambria" pitchFamily="34" charset="0"/>
                <a:ea typeface="Cambria" pitchFamily="34" charset="-122"/>
                <a:cs typeface="Cambria" pitchFamily="34" charset="-120"/>
              </a:rPr>
              <a:t>TN</a:t>
            </a:r>
            <a:endParaRPr lang="en-US" sz="2000" dirty="0"/>
          </a:p>
        </p:txBody>
      </p:sp>
      <p:sp>
        <p:nvSpPr>
          <p:cNvPr id="12" name="Text 10"/>
          <p:cNvSpPr/>
          <p:nvPr/>
        </p:nvSpPr>
        <p:spPr>
          <a:xfrm>
            <a:off x="548640" y="1920240"/>
            <a:ext cx="1572768" cy="530352"/>
          </a:xfrm>
          <a:prstGeom prst="rect">
            <a:avLst/>
          </a:prstGeom>
          <a:noFill/>
          <a:ln/>
        </p:spPr>
        <p:txBody>
          <a:bodyPr wrap="square" lIns="0" tIns="0" rIns="0" bIns="0" rtlCol="0" anchor="t"/>
          <a:lstStyle/>
          <a:p>
            <a:pPr marL="0" indent="0" algn="ctr">
              <a:buNone/>
            </a:pPr>
            <a:r>
              <a:rPr lang="en-US" sz="800" dirty="0">
                <a:solidFill>
                  <a:srgbClr val="475569"/>
                </a:solidFill>
                <a:latin typeface="Calibri" pitchFamily="34" charset="0"/>
                <a:ea typeface="Calibri" pitchFamily="34" charset="-122"/>
                <a:cs typeface="Calibri" pitchFamily="34" charset="-120"/>
              </a:rPr>
              <a:t>True Negative</a:t>
            </a:r>
            <a:endParaRPr lang="en-US" sz="800" dirty="0"/>
          </a:p>
          <a:p>
            <a:pPr marL="0" indent="0" algn="ctr">
              <a:buNone/>
            </a:pPr>
            <a:r>
              <a:rPr lang="en-US" sz="800" dirty="0">
                <a:solidFill>
                  <a:srgbClr val="475569"/>
                </a:solidFill>
                <a:latin typeface="Calibri" pitchFamily="34" charset="0"/>
                <a:ea typeface="Calibri" pitchFamily="34" charset="-122"/>
                <a:cs typeface="Calibri" pitchFamily="34" charset="-120"/>
              </a:rPr>
              <a:t>Legit → Legit ✓</a:t>
            </a:r>
            <a:endParaRPr lang="en-US" sz="800" dirty="0"/>
          </a:p>
        </p:txBody>
      </p:sp>
      <p:sp>
        <p:nvSpPr>
          <p:cNvPr id="13" name="Shape 11"/>
          <p:cNvSpPr/>
          <p:nvPr/>
        </p:nvSpPr>
        <p:spPr>
          <a:xfrm>
            <a:off x="2258568" y="1481328"/>
            <a:ext cx="1572768" cy="1051560"/>
          </a:xfrm>
          <a:prstGeom prst="roundRect">
            <a:avLst>
              <a:gd name="adj" fmla="val 8696"/>
            </a:avLst>
          </a:prstGeom>
          <a:solidFill>
            <a:srgbClr val="FFF7ED"/>
          </a:solidFill>
          <a:ln w="19050">
            <a:solidFill>
              <a:srgbClr val="EA580C"/>
            </a:solidFill>
            <a:prstDash val="solid"/>
          </a:ln>
        </p:spPr>
        <p:txBody>
          <a:bodyPr/>
          <a:lstStyle/>
          <a:p>
            <a:endParaRPr lang="en-US"/>
          </a:p>
        </p:txBody>
      </p:sp>
      <p:sp>
        <p:nvSpPr>
          <p:cNvPr id="14" name="Text 12"/>
          <p:cNvSpPr/>
          <p:nvPr/>
        </p:nvSpPr>
        <p:spPr>
          <a:xfrm>
            <a:off x="2258568" y="1536192"/>
            <a:ext cx="1572768" cy="365760"/>
          </a:xfrm>
          <a:prstGeom prst="rect">
            <a:avLst/>
          </a:prstGeom>
          <a:noFill/>
          <a:ln/>
        </p:spPr>
        <p:txBody>
          <a:bodyPr wrap="square" lIns="0" tIns="0" rIns="0" bIns="0" rtlCol="0" anchor="ctr"/>
          <a:lstStyle/>
          <a:p>
            <a:pPr marL="0" indent="0" algn="ctr">
              <a:buNone/>
            </a:pPr>
            <a:r>
              <a:rPr lang="en-US" sz="2000" b="1" dirty="0">
                <a:solidFill>
                  <a:srgbClr val="EA580C"/>
                </a:solidFill>
                <a:latin typeface="Cambria" pitchFamily="34" charset="0"/>
                <a:ea typeface="Cambria" pitchFamily="34" charset="-122"/>
                <a:cs typeface="Cambria" pitchFamily="34" charset="-120"/>
              </a:rPr>
              <a:t>FP</a:t>
            </a:r>
            <a:endParaRPr lang="en-US" sz="2000" dirty="0"/>
          </a:p>
        </p:txBody>
      </p:sp>
      <p:sp>
        <p:nvSpPr>
          <p:cNvPr id="15" name="Text 13"/>
          <p:cNvSpPr/>
          <p:nvPr/>
        </p:nvSpPr>
        <p:spPr>
          <a:xfrm>
            <a:off x="2258568" y="1920240"/>
            <a:ext cx="1572768" cy="530352"/>
          </a:xfrm>
          <a:prstGeom prst="rect">
            <a:avLst/>
          </a:prstGeom>
          <a:noFill/>
          <a:ln/>
        </p:spPr>
        <p:txBody>
          <a:bodyPr wrap="square" lIns="0" tIns="0" rIns="0" bIns="0" rtlCol="0" anchor="t"/>
          <a:lstStyle/>
          <a:p>
            <a:pPr marL="0" indent="0" algn="ctr">
              <a:buNone/>
            </a:pPr>
            <a:r>
              <a:rPr lang="en-US" sz="800" dirty="0">
                <a:solidFill>
                  <a:srgbClr val="475569"/>
                </a:solidFill>
                <a:latin typeface="Calibri" pitchFamily="34" charset="0"/>
                <a:ea typeface="Calibri" pitchFamily="34" charset="-122"/>
                <a:cs typeface="Calibri" pitchFamily="34" charset="-120"/>
              </a:rPr>
              <a:t>False Positive</a:t>
            </a:r>
            <a:endParaRPr lang="en-US" sz="800" dirty="0"/>
          </a:p>
          <a:p>
            <a:pPr marL="0" indent="0" algn="ctr">
              <a:buNone/>
            </a:pPr>
            <a:r>
              <a:rPr lang="en-US" sz="800" dirty="0">
                <a:solidFill>
                  <a:srgbClr val="475569"/>
                </a:solidFill>
                <a:latin typeface="Calibri" pitchFamily="34" charset="0"/>
                <a:ea typeface="Calibri" pitchFamily="34" charset="-122"/>
                <a:cs typeface="Calibri" pitchFamily="34" charset="-120"/>
              </a:rPr>
              <a:t>Legit → Fraud ✗</a:t>
            </a:r>
            <a:endParaRPr lang="en-US" sz="800" dirty="0"/>
          </a:p>
        </p:txBody>
      </p:sp>
      <p:sp>
        <p:nvSpPr>
          <p:cNvPr id="16" name="Shape 14"/>
          <p:cNvSpPr/>
          <p:nvPr/>
        </p:nvSpPr>
        <p:spPr>
          <a:xfrm>
            <a:off x="548640" y="2715768"/>
            <a:ext cx="1572768" cy="1051560"/>
          </a:xfrm>
          <a:prstGeom prst="roundRect">
            <a:avLst>
              <a:gd name="adj" fmla="val 8696"/>
            </a:avLst>
          </a:prstGeom>
          <a:solidFill>
            <a:srgbClr val="FEF2F2"/>
          </a:solidFill>
          <a:ln w="19050">
            <a:solidFill>
              <a:srgbClr val="DC2626"/>
            </a:solidFill>
            <a:prstDash val="solid"/>
          </a:ln>
        </p:spPr>
        <p:txBody>
          <a:bodyPr/>
          <a:lstStyle/>
          <a:p>
            <a:endParaRPr lang="en-US"/>
          </a:p>
        </p:txBody>
      </p:sp>
      <p:sp>
        <p:nvSpPr>
          <p:cNvPr id="17" name="Text 15"/>
          <p:cNvSpPr/>
          <p:nvPr/>
        </p:nvSpPr>
        <p:spPr>
          <a:xfrm>
            <a:off x="548640" y="2770632"/>
            <a:ext cx="1572768" cy="365760"/>
          </a:xfrm>
          <a:prstGeom prst="rect">
            <a:avLst/>
          </a:prstGeom>
          <a:noFill/>
          <a:ln/>
        </p:spPr>
        <p:txBody>
          <a:bodyPr wrap="square" lIns="0" tIns="0" rIns="0" bIns="0" rtlCol="0" anchor="ctr"/>
          <a:lstStyle/>
          <a:p>
            <a:pPr marL="0" indent="0" algn="ctr">
              <a:buNone/>
            </a:pPr>
            <a:r>
              <a:rPr lang="en-US" sz="2000" b="1" dirty="0">
                <a:solidFill>
                  <a:srgbClr val="DC2626"/>
                </a:solidFill>
                <a:latin typeface="Cambria" pitchFamily="34" charset="0"/>
                <a:ea typeface="Cambria" pitchFamily="34" charset="-122"/>
                <a:cs typeface="Cambria" pitchFamily="34" charset="-120"/>
              </a:rPr>
              <a:t>FN</a:t>
            </a:r>
            <a:endParaRPr lang="en-US" sz="2000" dirty="0"/>
          </a:p>
        </p:txBody>
      </p:sp>
      <p:sp>
        <p:nvSpPr>
          <p:cNvPr id="18" name="Text 16"/>
          <p:cNvSpPr/>
          <p:nvPr/>
        </p:nvSpPr>
        <p:spPr>
          <a:xfrm>
            <a:off x="548640" y="3154680"/>
            <a:ext cx="1572768" cy="530352"/>
          </a:xfrm>
          <a:prstGeom prst="rect">
            <a:avLst/>
          </a:prstGeom>
          <a:noFill/>
          <a:ln/>
        </p:spPr>
        <p:txBody>
          <a:bodyPr wrap="square" lIns="0" tIns="0" rIns="0" bIns="0" rtlCol="0" anchor="t"/>
          <a:lstStyle/>
          <a:p>
            <a:pPr marL="0" indent="0" algn="ctr">
              <a:buNone/>
            </a:pPr>
            <a:r>
              <a:rPr lang="en-US" sz="800" dirty="0">
                <a:solidFill>
                  <a:srgbClr val="475569"/>
                </a:solidFill>
                <a:latin typeface="Calibri" pitchFamily="34" charset="0"/>
                <a:ea typeface="Calibri" pitchFamily="34" charset="-122"/>
                <a:cs typeface="Calibri" pitchFamily="34" charset="-120"/>
              </a:rPr>
              <a:t>False Negative</a:t>
            </a:r>
            <a:endParaRPr lang="en-US" sz="800" dirty="0"/>
          </a:p>
          <a:p>
            <a:pPr marL="0" indent="0" algn="ctr">
              <a:buNone/>
            </a:pPr>
            <a:r>
              <a:rPr lang="en-US" sz="800" dirty="0">
                <a:solidFill>
                  <a:srgbClr val="475569"/>
                </a:solidFill>
                <a:latin typeface="Calibri" pitchFamily="34" charset="0"/>
                <a:ea typeface="Calibri" pitchFamily="34" charset="-122"/>
                <a:cs typeface="Calibri" pitchFamily="34" charset="-120"/>
              </a:rPr>
              <a:t>Fraud → Legit ✗</a:t>
            </a:r>
            <a:endParaRPr lang="en-US" sz="800" dirty="0"/>
          </a:p>
        </p:txBody>
      </p:sp>
      <p:sp>
        <p:nvSpPr>
          <p:cNvPr id="19" name="Shape 17"/>
          <p:cNvSpPr/>
          <p:nvPr/>
        </p:nvSpPr>
        <p:spPr>
          <a:xfrm>
            <a:off x="2258568" y="2715768"/>
            <a:ext cx="1572768" cy="1051560"/>
          </a:xfrm>
          <a:prstGeom prst="roundRect">
            <a:avLst>
              <a:gd name="adj" fmla="val 8696"/>
            </a:avLst>
          </a:prstGeom>
          <a:solidFill>
            <a:srgbClr val="DBEAFE"/>
          </a:solidFill>
          <a:ln w="19050">
            <a:solidFill>
              <a:srgbClr val="2563EB"/>
            </a:solidFill>
            <a:prstDash val="solid"/>
          </a:ln>
        </p:spPr>
        <p:txBody>
          <a:bodyPr/>
          <a:lstStyle/>
          <a:p>
            <a:endParaRPr lang="en-US"/>
          </a:p>
        </p:txBody>
      </p:sp>
      <p:sp>
        <p:nvSpPr>
          <p:cNvPr id="20" name="Text 18"/>
          <p:cNvSpPr/>
          <p:nvPr/>
        </p:nvSpPr>
        <p:spPr>
          <a:xfrm>
            <a:off x="2258568" y="2770632"/>
            <a:ext cx="1572768" cy="365760"/>
          </a:xfrm>
          <a:prstGeom prst="rect">
            <a:avLst/>
          </a:prstGeom>
          <a:noFill/>
          <a:ln/>
        </p:spPr>
        <p:txBody>
          <a:bodyPr wrap="square" lIns="0" tIns="0" rIns="0" bIns="0" rtlCol="0" anchor="ctr"/>
          <a:lstStyle/>
          <a:p>
            <a:pPr marL="0" indent="0" algn="ctr">
              <a:buNone/>
            </a:pPr>
            <a:r>
              <a:rPr lang="en-US" sz="2000" b="1" dirty="0">
                <a:solidFill>
                  <a:srgbClr val="2563EB"/>
                </a:solidFill>
                <a:latin typeface="Cambria" pitchFamily="34" charset="0"/>
                <a:ea typeface="Cambria" pitchFamily="34" charset="-122"/>
                <a:cs typeface="Cambria" pitchFamily="34" charset="-120"/>
              </a:rPr>
              <a:t>TP</a:t>
            </a:r>
            <a:endParaRPr lang="en-US" sz="2000" dirty="0"/>
          </a:p>
        </p:txBody>
      </p:sp>
      <p:sp>
        <p:nvSpPr>
          <p:cNvPr id="21" name="Text 19"/>
          <p:cNvSpPr/>
          <p:nvPr/>
        </p:nvSpPr>
        <p:spPr>
          <a:xfrm>
            <a:off x="2258568" y="3154680"/>
            <a:ext cx="1572768" cy="530352"/>
          </a:xfrm>
          <a:prstGeom prst="rect">
            <a:avLst/>
          </a:prstGeom>
          <a:noFill/>
          <a:ln/>
        </p:spPr>
        <p:txBody>
          <a:bodyPr wrap="square" lIns="0" tIns="0" rIns="0" bIns="0" rtlCol="0" anchor="t"/>
          <a:lstStyle/>
          <a:p>
            <a:pPr marL="0" indent="0" algn="ctr">
              <a:buNone/>
            </a:pPr>
            <a:r>
              <a:rPr lang="en-US" sz="800" dirty="0">
                <a:solidFill>
                  <a:srgbClr val="475569"/>
                </a:solidFill>
                <a:latin typeface="Calibri" pitchFamily="34" charset="0"/>
                <a:ea typeface="Calibri" pitchFamily="34" charset="-122"/>
                <a:cs typeface="Calibri" pitchFamily="34" charset="-120"/>
              </a:rPr>
              <a:t>True Positive</a:t>
            </a:r>
            <a:endParaRPr lang="en-US" sz="800" dirty="0"/>
          </a:p>
          <a:p>
            <a:pPr marL="0" indent="0" algn="ctr">
              <a:buNone/>
            </a:pPr>
            <a:r>
              <a:rPr lang="en-US" sz="800" dirty="0">
                <a:solidFill>
                  <a:srgbClr val="475569"/>
                </a:solidFill>
                <a:latin typeface="Calibri" pitchFamily="34" charset="0"/>
                <a:ea typeface="Calibri" pitchFamily="34" charset="-122"/>
                <a:cs typeface="Calibri" pitchFamily="34" charset="-120"/>
              </a:rPr>
              <a:t>Fraud → Fraud ✓</a:t>
            </a:r>
            <a:endParaRPr lang="en-US" sz="800" dirty="0"/>
          </a:p>
        </p:txBody>
      </p:sp>
      <p:sp>
        <p:nvSpPr>
          <p:cNvPr id="22" name="Text 20"/>
          <p:cNvSpPr/>
          <p:nvPr/>
        </p:nvSpPr>
        <p:spPr>
          <a:xfrm>
            <a:off x="548640" y="3858768"/>
            <a:ext cx="3291840" cy="228600"/>
          </a:xfrm>
          <a:prstGeom prst="rect">
            <a:avLst/>
          </a:prstGeom>
          <a:noFill/>
          <a:ln/>
        </p:spPr>
        <p:txBody>
          <a:bodyPr wrap="square" lIns="0" tIns="0" rIns="0" bIns="0" rtlCol="0" anchor="ctr"/>
          <a:lstStyle/>
          <a:p>
            <a:pPr marL="0" indent="0" algn="ctr">
              <a:buNone/>
            </a:pPr>
            <a:r>
              <a:rPr lang="en-US" sz="900" b="1" dirty="0">
                <a:solidFill>
                  <a:srgbClr val="475569"/>
                </a:solidFill>
                <a:latin typeface="Calibri" pitchFamily="34" charset="0"/>
                <a:ea typeface="Calibri" pitchFamily="34" charset="-122"/>
                <a:cs typeface="Calibri" pitchFamily="34" charset="-120"/>
              </a:rPr>
              <a:t>Predicted</a:t>
            </a:r>
            <a:endParaRPr lang="en-US" sz="900" dirty="0"/>
          </a:p>
        </p:txBody>
      </p:sp>
      <p:sp>
        <p:nvSpPr>
          <p:cNvPr id="23" name="Shape 21"/>
          <p:cNvSpPr/>
          <p:nvPr/>
        </p:nvSpPr>
        <p:spPr>
          <a:xfrm>
            <a:off x="4709160" y="987552"/>
            <a:ext cx="4114800" cy="896112"/>
          </a:xfrm>
          <a:prstGeom prst="roundRect">
            <a:avLst>
              <a:gd name="adj" fmla="val 10204"/>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24" name="Shape 22"/>
          <p:cNvSpPr/>
          <p:nvPr/>
        </p:nvSpPr>
        <p:spPr>
          <a:xfrm>
            <a:off x="4800600" y="1051560"/>
            <a:ext cx="914400" cy="182880"/>
          </a:xfrm>
          <a:prstGeom prst="roundRect">
            <a:avLst>
              <a:gd name="adj" fmla="val 30000"/>
            </a:avLst>
          </a:prstGeom>
          <a:solidFill>
            <a:srgbClr val="2563EB"/>
          </a:solidFill>
          <a:ln w="12700">
            <a:solidFill>
              <a:srgbClr val="2563EB"/>
            </a:solidFill>
            <a:prstDash val="solid"/>
          </a:ln>
        </p:spPr>
        <p:txBody>
          <a:bodyPr/>
          <a:lstStyle/>
          <a:p>
            <a:endParaRPr lang="en-US"/>
          </a:p>
        </p:txBody>
      </p:sp>
      <p:sp>
        <p:nvSpPr>
          <p:cNvPr id="25" name="Text 23"/>
          <p:cNvSpPr/>
          <p:nvPr/>
        </p:nvSpPr>
        <p:spPr>
          <a:xfrm>
            <a:off x="4800600" y="1051560"/>
            <a:ext cx="914400" cy="182880"/>
          </a:xfrm>
          <a:prstGeom prst="rect">
            <a:avLst/>
          </a:prstGeom>
          <a:noFill/>
          <a:ln/>
        </p:spPr>
        <p:txBody>
          <a:bodyPr wrap="square" lIns="0" tIns="0" rIns="0" bIns="0" rtlCol="0" anchor="ctr"/>
          <a:lstStyle/>
          <a:p>
            <a:pPr marL="0" indent="0" algn="ctr">
              <a:buNone/>
            </a:pPr>
            <a:r>
              <a:rPr lang="en-US" sz="650" b="1" kern="0" spc="50" dirty="0">
                <a:solidFill>
                  <a:srgbClr val="FFFFFF"/>
                </a:solidFill>
                <a:latin typeface="Calibri" pitchFamily="34" charset="0"/>
                <a:ea typeface="Calibri" pitchFamily="34" charset="-122"/>
                <a:cs typeface="Calibri" pitchFamily="34" charset="-120"/>
              </a:rPr>
              <a:t>PRIMARY</a:t>
            </a:r>
            <a:endParaRPr lang="en-US" sz="650" dirty="0"/>
          </a:p>
        </p:txBody>
      </p:sp>
      <p:sp>
        <p:nvSpPr>
          <p:cNvPr id="26" name="Text 24"/>
          <p:cNvSpPr/>
          <p:nvPr/>
        </p:nvSpPr>
        <p:spPr>
          <a:xfrm>
            <a:off x="5806440" y="1042416"/>
            <a:ext cx="2926080" cy="201168"/>
          </a:xfrm>
          <a:prstGeom prst="rect">
            <a:avLst/>
          </a:prstGeom>
          <a:noFill/>
          <a:ln/>
        </p:spPr>
        <p:txBody>
          <a:bodyPr wrap="square" lIns="0" tIns="0" rIns="0" bIns="0" rtlCol="0" anchor="ctr"/>
          <a:lstStyle/>
          <a:p>
            <a:pPr marL="0" indent="0" algn="l">
              <a:buNone/>
            </a:pPr>
            <a:r>
              <a:rPr lang="en-US" sz="1050" b="1" dirty="0">
                <a:solidFill>
                  <a:srgbClr val="1A3A5C"/>
                </a:solidFill>
                <a:latin typeface="Cambria" pitchFamily="34" charset="0"/>
                <a:ea typeface="Cambria" pitchFamily="34" charset="-122"/>
                <a:cs typeface="Cambria" pitchFamily="34" charset="-120"/>
              </a:rPr>
              <a:t>Recall (Sensitivity)</a:t>
            </a:r>
            <a:endParaRPr lang="en-US" sz="1050" dirty="0"/>
          </a:p>
        </p:txBody>
      </p:sp>
      <p:sp>
        <p:nvSpPr>
          <p:cNvPr id="27" name="Text 25"/>
          <p:cNvSpPr/>
          <p:nvPr/>
        </p:nvSpPr>
        <p:spPr>
          <a:xfrm>
            <a:off x="4800600" y="1280160"/>
            <a:ext cx="3886200" cy="182880"/>
          </a:xfrm>
          <a:prstGeom prst="rect">
            <a:avLst/>
          </a:prstGeom>
          <a:noFill/>
          <a:ln/>
        </p:spPr>
        <p:txBody>
          <a:bodyPr wrap="square" lIns="0" tIns="0" rIns="0" bIns="0" rtlCol="0" anchor="ctr"/>
          <a:lstStyle/>
          <a:p>
            <a:pPr marL="0" indent="0" algn="l">
              <a:buNone/>
            </a:pPr>
            <a:r>
              <a:rPr lang="en-US" sz="850" dirty="0">
                <a:solidFill>
                  <a:srgbClr val="2563EB"/>
                </a:solidFill>
                <a:latin typeface="Calibri" pitchFamily="34" charset="0"/>
                <a:ea typeface="Calibri" pitchFamily="34" charset="-122"/>
                <a:cs typeface="Calibri" pitchFamily="34" charset="-120"/>
              </a:rPr>
              <a:t>Formula: TP / (TP + FN)</a:t>
            </a:r>
            <a:endParaRPr lang="en-US" sz="850" dirty="0"/>
          </a:p>
        </p:txBody>
      </p:sp>
      <p:sp>
        <p:nvSpPr>
          <p:cNvPr id="28" name="Text 26"/>
          <p:cNvSpPr/>
          <p:nvPr/>
        </p:nvSpPr>
        <p:spPr>
          <a:xfrm>
            <a:off x="4800600" y="1463040"/>
            <a:ext cx="3886200" cy="320040"/>
          </a:xfrm>
          <a:prstGeom prst="rect">
            <a:avLst/>
          </a:prstGeom>
          <a:noFill/>
          <a:ln/>
        </p:spPr>
        <p:txBody>
          <a:bodyPr wrap="square" lIns="0" tIns="0" rIns="0" bIns="0" rtlCol="0" anchor="t"/>
          <a:lstStyle/>
          <a:p>
            <a:pPr marL="0" indent="0" algn="l">
              <a:buNone/>
            </a:pPr>
            <a:r>
              <a:rPr lang="en-US" sz="850" dirty="0">
                <a:solidFill>
                  <a:srgbClr val="475569"/>
                </a:solidFill>
                <a:latin typeface="Calibri" pitchFamily="34" charset="0"/>
                <a:ea typeface="Calibri" pitchFamily="34" charset="-122"/>
                <a:cs typeface="Calibri" pitchFamily="34" charset="-120"/>
              </a:rPr>
              <a:t>Minimise missed fraud. A missed fraud = financial loss.</a:t>
            </a:r>
            <a:endParaRPr lang="en-US" sz="850" dirty="0"/>
          </a:p>
        </p:txBody>
      </p:sp>
      <p:sp>
        <p:nvSpPr>
          <p:cNvPr id="29" name="Shape 27"/>
          <p:cNvSpPr/>
          <p:nvPr/>
        </p:nvSpPr>
        <p:spPr>
          <a:xfrm>
            <a:off x="4709160" y="2011680"/>
            <a:ext cx="4114800" cy="896112"/>
          </a:xfrm>
          <a:prstGeom prst="roundRect">
            <a:avLst>
              <a:gd name="adj" fmla="val 10204"/>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30" name="Shape 28"/>
          <p:cNvSpPr/>
          <p:nvPr/>
        </p:nvSpPr>
        <p:spPr>
          <a:xfrm>
            <a:off x="4800600" y="2075688"/>
            <a:ext cx="914400" cy="182880"/>
          </a:xfrm>
          <a:prstGeom prst="roundRect">
            <a:avLst>
              <a:gd name="adj" fmla="val 30000"/>
            </a:avLst>
          </a:prstGeom>
          <a:solidFill>
            <a:srgbClr val="3B82F6"/>
          </a:solidFill>
          <a:ln w="12700">
            <a:solidFill>
              <a:srgbClr val="3B82F6"/>
            </a:solidFill>
            <a:prstDash val="solid"/>
          </a:ln>
        </p:spPr>
        <p:txBody>
          <a:bodyPr/>
          <a:lstStyle/>
          <a:p>
            <a:endParaRPr lang="en-US"/>
          </a:p>
        </p:txBody>
      </p:sp>
      <p:sp>
        <p:nvSpPr>
          <p:cNvPr id="31" name="Text 29"/>
          <p:cNvSpPr/>
          <p:nvPr/>
        </p:nvSpPr>
        <p:spPr>
          <a:xfrm>
            <a:off x="4800600" y="2075688"/>
            <a:ext cx="914400" cy="182880"/>
          </a:xfrm>
          <a:prstGeom prst="rect">
            <a:avLst/>
          </a:prstGeom>
          <a:noFill/>
          <a:ln/>
        </p:spPr>
        <p:txBody>
          <a:bodyPr wrap="square" lIns="0" tIns="0" rIns="0" bIns="0" rtlCol="0" anchor="ctr"/>
          <a:lstStyle/>
          <a:p>
            <a:pPr marL="0" indent="0" algn="ctr">
              <a:buNone/>
            </a:pPr>
            <a:r>
              <a:rPr lang="en-US" sz="650" b="1" kern="0" spc="50" dirty="0">
                <a:solidFill>
                  <a:srgbClr val="FFFFFF"/>
                </a:solidFill>
                <a:latin typeface="Calibri" pitchFamily="34" charset="0"/>
                <a:ea typeface="Calibri" pitchFamily="34" charset="-122"/>
                <a:cs typeface="Calibri" pitchFamily="34" charset="-120"/>
              </a:rPr>
              <a:t>SECONDARY</a:t>
            </a:r>
            <a:endParaRPr lang="en-US" sz="650" dirty="0"/>
          </a:p>
        </p:txBody>
      </p:sp>
      <p:sp>
        <p:nvSpPr>
          <p:cNvPr id="32" name="Text 30"/>
          <p:cNvSpPr/>
          <p:nvPr/>
        </p:nvSpPr>
        <p:spPr>
          <a:xfrm>
            <a:off x="5806440" y="2066544"/>
            <a:ext cx="2926080" cy="201168"/>
          </a:xfrm>
          <a:prstGeom prst="rect">
            <a:avLst/>
          </a:prstGeom>
          <a:noFill/>
          <a:ln/>
        </p:spPr>
        <p:txBody>
          <a:bodyPr wrap="square" lIns="0" tIns="0" rIns="0" bIns="0" rtlCol="0" anchor="ctr"/>
          <a:lstStyle/>
          <a:p>
            <a:pPr marL="0" indent="0" algn="l">
              <a:buNone/>
            </a:pPr>
            <a:r>
              <a:rPr lang="en-US" sz="1050" b="1" dirty="0">
                <a:solidFill>
                  <a:srgbClr val="1A3A5C"/>
                </a:solidFill>
                <a:latin typeface="Cambria" pitchFamily="34" charset="0"/>
                <a:ea typeface="Cambria" pitchFamily="34" charset="-122"/>
                <a:cs typeface="Cambria" pitchFamily="34" charset="-120"/>
              </a:rPr>
              <a:t>Precision</a:t>
            </a:r>
            <a:endParaRPr lang="en-US" sz="1050" dirty="0"/>
          </a:p>
        </p:txBody>
      </p:sp>
      <p:sp>
        <p:nvSpPr>
          <p:cNvPr id="33" name="Text 31"/>
          <p:cNvSpPr/>
          <p:nvPr/>
        </p:nvSpPr>
        <p:spPr>
          <a:xfrm>
            <a:off x="4800600" y="2304288"/>
            <a:ext cx="3886200" cy="182880"/>
          </a:xfrm>
          <a:prstGeom prst="rect">
            <a:avLst/>
          </a:prstGeom>
          <a:noFill/>
          <a:ln/>
        </p:spPr>
        <p:txBody>
          <a:bodyPr wrap="square" lIns="0" tIns="0" rIns="0" bIns="0" rtlCol="0" anchor="ctr"/>
          <a:lstStyle/>
          <a:p>
            <a:pPr marL="0" indent="0" algn="l">
              <a:buNone/>
            </a:pPr>
            <a:r>
              <a:rPr lang="en-US" sz="850" dirty="0">
                <a:solidFill>
                  <a:srgbClr val="2563EB"/>
                </a:solidFill>
                <a:latin typeface="Calibri" pitchFamily="34" charset="0"/>
                <a:ea typeface="Calibri" pitchFamily="34" charset="-122"/>
                <a:cs typeface="Calibri" pitchFamily="34" charset="-120"/>
              </a:rPr>
              <a:t>Formula: TP / (TP + FP)</a:t>
            </a:r>
            <a:endParaRPr lang="en-US" sz="850" dirty="0"/>
          </a:p>
        </p:txBody>
      </p:sp>
      <p:sp>
        <p:nvSpPr>
          <p:cNvPr id="34" name="Text 32"/>
          <p:cNvSpPr/>
          <p:nvPr/>
        </p:nvSpPr>
        <p:spPr>
          <a:xfrm>
            <a:off x="4800600" y="2487168"/>
            <a:ext cx="3886200" cy="320040"/>
          </a:xfrm>
          <a:prstGeom prst="rect">
            <a:avLst/>
          </a:prstGeom>
          <a:noFill/>
          <a:ln/>
        </p:spPr>
        <p:txBody>
          <a:bodyPr wrap="square" lIns="0" tIns="0" rIns="0" bIns="0" rtlCol="0" anchor="t"/>
          <a:lstStyle/>
          <a:p>
            <a:pPr marL="0" indent="0" algn="l">
              <a:buNone/>
            </a:pPr>
            <a:r>
              <a:rPr lang="en-US" sz="850" dirty="0">
                <a:solidFill>
                  <a:srgbClr val="475569"/>
                </a:solidFill>
                <a:latin typeface="Calibri" pitchFamily="34" charset="0"/>
                <a:ea typeface="Calibri" pitchFamily="34" charset="-122"/>
                <a:cs typeface="Calibri" pitchFamily="34" charset="-120"/>
              </a:rPr>
              <a:t>Avoid flagging too many legitimate transactions.</a:t>
            </a:r>
            <a:endParaRPr lang="en-US" sz="850" dirty="0"/>
          </a:p>
        </p:txBody>
      </p:sp>
      <p:sp>
        <p:nvSpPr>
          <p:cNvPr id="35" name="Shape 33"/>
          <p:cNvSpPr/>
          <p:nvPr/>
        </p:nvSpPr>
        <p:spPr>
          <a:xfrm>
            <a:off x="4709160" y="3035808"/>
            <a:ext cx="4114800" cy="896112"/>
          </a:xfrm>
          <a:prstGeom prst="roundRect">
            <a:avLst>
              <a:gd name="adj" fmla="val 10204"/>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36" name="Shape 34"/>
          <p:cNvSpPr/>
          <p:nvPr/>
        </p:nvSpPr>
        <p:spPr>
          <a:xfrm>
            <a:off x="4800600" y="3099816"/>
            <a:ext cx="914400" cy="182880"/>
          </a:xfrm>
          <a:prstGeom prst="roundRect">
            <a:avLst>
              <a:gd name="adj" fmla="val 30000"/>
            </a:avLst>
          </a:prstGeom>
          <a:solidFill>
            <a:srgbClr val="3B82F6"/>
          </a:solidFill>
          <a:ln w="12700">
            <a:solidFill>
              <a:srgbClr val="3B82F6"/>
            </a:solidFill>
            <a:prstDash val="solid"/>
          </a:ln>
        </p:spPr>
        <p:txBody>
          <a:bodyPr/>
          <a:lstStyle/>
          <a:p>
            <a:endParaRPr lang="en-US"/>
          </a:p>
        </p:txBody>
      </p:sp>
      <p:sp>
        <p:nvSpPr>
          <p:cNvPr id="37" name="Text 35"/>
          <p:cNvSpPr/>
          <p:nvPr/>
        </p:nvSpPr>
        <p:spPr>
          <a:xfrm>
            <a:off x="4800600" y="3099816"/>
            <a:ext cx="914400" cy="182880"/>
          </a:xfrm>
          <a:prstGeom prst="rect">
            <a:avLst/>
          </a:prstGeom>
          <a:noFill/>
          <a:ln/>
        </p:spPr>
        <p:txBody>
          <a:bodyPr wrap="square" lIns="0" tIns="0" rIns="0" bIns="0" rtlCol="0" anchor="ctr"/>
          <a:lstStyle/>
          <a:p>
            <a:pPr marL="0" indent="0" algn="ctr">
              <a:buNone/>
            </a:pPr>
            <a:r>
              <a:rPr lang="en-US" sz="650" b="1" kern="0" spc="50" dirty="0">
                <a:solidFill>
                  <a:srgbClr val="FFFFFF"/>
                </a:solidFill>
                <a:latin typeface="Calibri" pitchFamily="34" charset="0"/>
                <a:ea typeface="Calibri" pitchFamily="34" charset="-122"/>
                <a:cs typeface="Calibri" pitchFamily="34" charset="-120"/>
              </a:rPr>
              <a:t>SECONDARY</a:t>
            </a:r>
            <a:endParaRPr lang="en-US" sz="650" dirty="0"/>
          </a:p>
        </p:txBody>
      </p:sp>
      <p:sp>
        <p:nvSpPr>
          <p:cNvPr id="38" name="Text 36"/>
          <p:cNvSpPr/>
          <p:nvPr/>
        </p:nvSpPr>
        <p:spPr>
          <a:xfrm>
            <a:off x="5806440" y="3090672"/>
            <a:ext cx="2926080" cy="201168"/>
          </a:xfrm>
          <a:prstGeom prst="rect">
            <a:avLst/>
          </a:prstGeom>
          <a:noFill/>
          <a:ln/>
        </p:spPr>
        <p:txBody>
          <a:bodyPr wrap="square" lIns="0" tIns="0" rIns="0" bIns="0" rtlCol="0" anchor="ctr"/>
          <a:lstStyle/>
          <a:p>
            <a:pPr marL="0" indent="0" algn="l">
              <a:buNone/>
            </a:pPr>
            <a:r>
              <a:rPr lang="en-US" sz="1050" b="1" dirty="0">
                <a:solidFill>
                  <a:srgbClr val="1A3A5C"/>
                </a:solidFill>
                <a:latin typeface="Cambria" pitchFamily="34" charset="0"/>
                <a:ea typeface="Cambria" pitchFamily="34" charset="-122"/>
                <a:cs typeface="Cambria" pitchFamily="34" charset="-120"/>
              </a:rPr>
              <a:t>F1-Score</a:t>
            </a:r>
            <a:endParaRPr lang="en-US" sz="1050" dirty="0"/>
          </a:p>
        </p:txBody>
      </p:sp>
      <p:sp>
        <p:nvSpPr>
          <p:cNvPr id="39" name="Text 37"/>
          <p:cNvSpPr/>
          <p:nvPr/>
        </p:nvSpPr>
        <p:spPr>
          <a:xfrm>
            <a:off x="4800600" y="3328416"/>
            <a:ext cx="3886200" cy="182880"/>
          </a:xfrm>
          <a:prstGeom prst="rect">
            <a:avLst/>
          </a:prstGeom>
          <a:noFill/>
          <a:ln/>
        </p:spPr>
        <p:txBody>
          <a:bodyPr wrap="square" lIns="0" tIns="0" rIns="0" bIns="0" rtlCol="0" anchor="ctr"/>
          <a:lstStyle/>
          <a:p>
            <a:pPr marL="0" indent="0" algn="l">
              <a:buNone/>
            </a:pPr>
            <a:r>
              <a:rPr lang="en-US" sz="850" dirty="0">
                <a:solidFill>
                  <a:srgbClr val="2563EB"/>
                </a:solidFill>
                <a:latin typeface="Calibri" pitchFamily="34" charset="0"/>
                <a:ea typeface="Calibri" pitchFamily="34" charset="-122"/>
                <a:cs typeface="Calibri" pitchFamily="34" charset="-120"/>
              </a:rPr>
              <a:t>Formula: 2×P×R / (P + R)</a:t>
            </a:r>
            <a:endParaRPr lang="en-US" sz="850" dirty="0"/>
          </a:p>
        </p:txBody>
      </p:sp>
      <p:sp>
        <p:nvSpPr>
          <p:cNvPr id="40" name="Text 38"/>
          <p:cNvSpPr/>
          <p:nvPr/>
        </p:nvSpPr>
        <p:spPr>
          <a:xfrm>
            <a:off x="4800600" y="3511296"/>
            <a:ext cx="3886200" cy="320040"/>
          </a:xfrm>
          <a:prstGeom prst="rect">
            <a:avLst/>
          </a:prstGeom>
          <a:noFill/>
          <a:ln/>
        </p:spPr>
        <p:txBody>
          <a:bodyPr wrap="square" lIns="0" tIns="0" rIns="0" bIns="0" rtlCol="0" anchor="t"/>
          <a:lstStyle/>
          <a:p>
            <a:pPr marL="0" indent="0" algn="l">
              <a:buNone/>
            </a:pPr>
            <a:r>
              <a:rPr lang="en-US" sz="850" dirty="0">
                <a:solidFill>
                  <a:srgbClr val="475569"/>
                </a:solidFill>
                <a:latin typeface="Calibri" pitchFamily="34" charset="0"/>
                <a:ea typeface="Calibri" pitchFamily="34" charset="-122"/>
                <a:cs typeface="Calibri" pitchFamily="34" charset="-120"/>
              </a:rPr>
              <a:t>Harmonic mean — balance when both Precision and Recall matter.</a:t>
            </a:r>
            <a:endParaRPr lang="en-US" sz="850" dirty="0"/>
          </a:p>
        </p:txBody>
      </p:sp>
      <p:sp>
        <p:nvSpPr>
          <p:cNvPr id="41" name="Shape 39"/>
          <p:cNvSpPr/>
          <p:nvPr/>
        </p:nvSpPr>
        <p:spPr>
          <a:xfrm>
            <a:off x="4709160" y="4059936"/>
            <a:ext cx="4114800" cy="896112"/>
          </a:xfrm>
          <a:prstGeom prst="roundRect">
            <a:avLst>
              <a:gd name="adj" fmla="val 10204"/>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42" name="Shape 40"/>
          <p:cNvSpPr/>
          <p:nvPr/>
        </p:nvSpPr>
        <p:spPr>
          <a:xfrm>
            <a:off x="4800600" y="4123944"/>
            <a:ext cx="914400" cy="182880"/>
          </a:xfrm>
          <a:prstGeom prst="roundRect">
            <a:avLst>
              <a:gd name="adj" fmla="val 30000"/>
            </a:avLst>
          </a:prstGeom>
          <a:solidFill>
            <a:srgbClr val="2563EB"/>
          </a:solidFill>
          <a:ln w="12700">
            <a:solidFill>
              <a:srgbClr val="2563EB"/>
            </a:solidFill>
            <a:prstDash val="solid"/>
          </a:ln>
        </p:spPr>
        <p:txBody>
          <a:bodyPr/>
          <a:lstStyle/>
          <a:p>
            <a:endParaRPr lang="en-US"/>
          </a:p>
        </p:txBody>
      </p:sp>
      <p:sp>
        <p:nvSpPr>
          <p:cNvPr id="43" name="Text 41"/>
          <p:cNvSpPr/>
          <p:nvPr/>
        </p:nvSpPr>
        <p:spPr>
          <a:xfrm>
            <a:off x="4800600" y="4123944"/>
            <a:ext cx="914400" cy="182880"/>
          </a:xfrm>
          <a:prstGeom prst="rect">
            <a:avLst/>
          </a:prstGeom>
          <a:noFill/>
          <a:ln/>
        </p:spPr>
        <p:txBody>
          <a:bodyPr wrap="square" lIns="0" tIns="0" rIns="0" bIns="0" rtlCol="0" anchor="ctr"/>
          <a:lstStyle/>
          <a:p>
            <a:pPr marL="0" indent="0" algn="ctr">
              <a:buNone/>
            </a:pPr>
            <a:r>
              <a:rPr lang="en-US" sz="650" b="1" kern="0" spc="50" dirty="0">
                <a:solidFill>
                  <a:srgbClr val="FFFFFF"/>
                </a:solidFill>
                <a:latin typeface="Calibri" pitchFamily="34" charset="0"/>
                <a:ea typeface="Calibri" pitchFamily="34" charset="-122"/>
                <a:cs typeface="Calibri" pitchFamily="34" charset="-120"/>
              </a:rPr>
              <a:t>PRIMARY</a:t>
            </a:r>
            <a:endParaRPr lang="en-US" sz="650" dirty="0"/>
          </a:p>
        </p:txBody>
      </p:sp>
      <p:sp>
        <p:nvSpPr>
          <p:cNvPr id="44" name="Text 42"/>
          <p:cNvSpPr/>
          <p:nvPr/>
        </p:nvSpPr>
        <p:spPr>
          <a:xfrm>
            <a:off x="5806440" y="4114800"/>
            <a:ext cx="2926080" cy="201168"/>
          </a:xfrm>
          <a:prstGeom prst="rect">
            <a:avLst/>
          </a:prstGeom>
          <a:noFill/>
          <a:ln/>
        </p:spPr>
        <p:txBody>
          <a:bodyPr wrap="square" lIns="0" tIns="0" rIns="0" bIns="0" rtlCol="0" anchor="ctr"/>
          <a:lstStyle/>
          <a:p>
            <a:pPr marL="0" indent="0" algn="l">
              <a:buNone/>
            </a:pPr>
            <a:r>
              <a:rPr lang="en-US" sz="1050" b="1" dirty="0">
                <a:solidFill>
                  <a:srgbClr val="1A3A5C"/>
                </a:solidFill>
                <a:latin typeface="Cambria" pitchFamily="34" charset="0"/>
                <a:ea typeface="Cambria" pitchFamily="34" charset="-122"/>
                <a:cs typeface="Cambria" pitchFamily="34" charset="-120"/>
              </a:rPr>
              <a:t>PR-AUC</a:t>
            </a:r>
            <a:endParaRPr lang="en-US" sz="1050" dirty="0"/>
          </a:p>
        </p:txBody>
      </p:sp>
      <p:sp>
        <p:nvSpPr>
          <p:cNvPr id="45" name="Text 43"/>
          <p:cNvSpPr/>
          <p:nvPr/>
        </p:nvSpPr>
        <p:spPr>
          <a:xfrm>
            <a:off x="4800600" y="4352544"/>
            <a:ext cx="3886200" cy="182880"/>
          </a:xfrm>
          <a:prstGeom prst="rect">
            <a:avLst/>
          </a:prstGeom>
          <a:noFill/>
          <a:ln/>
        </p:spPr>
        <p:txBody>
          <a:bodyPr wrap="square" lIns="0" tIns="0" rIns="0" bIns="0" rtlCol="0" anchor="ctr"/>
          <a:lstStyle/>
          <a:p>
            <a:pPr marL="0" indent="0" algn="l">
              <a:buNone/>
            </a:pPr>
            <a:r>
              <a:rPr lang="en-US" sz="850" dirty="0">
                <a:solidFill>
                  <a:srgbClr val="2563EB"/>
                </a:solidFill>
                <a:latin typeface="Calibri" pitchFamily="34" charset="0"/>
                <a:ea typeface="Calibri" pitchFamily="34" charset="-122"/>
                <a:cs typeface="Calibri" pitchFamily="34" charset="-120"/>
              </a:rPr>
              <a:t>Formula: Area under PR curve</a:t>
            </a:r>
            <a:endParaRPr lang="en-US" sz="850" dirty="0"/>
          </a:p>
        </p:txBody>
      </p:sp>
      <p:sp>
        <p:nvSpPr>
          <p:cNvPr id="46" name="Text 44"/>
          <p:cNvSpPr/>
          <p:nvPr/>
        </p:nvSpPr>
        <p:spPr>
          <a:xfrm>
            <a:off x="4800600" y="4535424"/>
            <a:ext cx="3886200" cy="320040"/>
          </a:xfrm>
          <a:prstGeom prst="rect">
            <a:avLst/>
          </a:prstGeom>
          <a:noFill/>
          <a:ln/>
        </p:spPr>
        <p:txBody>
          <a:bodyPr wrap="square" lIns="0" tIns="0" rIns="0" bIns="0" rtlCol="0" anchor="t"/>
          <a:lstStyle/>
          <a:p>
            <a:pPr marL="0" indent="0" algn="l">
              <a:buNone/>
            </a:pPr>
            <a:r>
              <a:rPr lang="en-US" sz="850" dirty="0">
                <a:solidFill>
                  <a:srgbClr val="475569"/>
                </a:solidFill>
                <a:latin typeface="Calibri" pitchFamily="34" charset="0"/>
                <a:ea typeface="Calibri" pitchFamily="34" charset="-122"/>
                <a:cs typeface="Calibri" pitchFamily="34" charset="-120"/>
              </a:rPr>
              <a:t>Summarises model performance across all thresholds. Best for imbalanced classes.</a:t>
            </a:r>
            <a:endParaRPr lang="en-US" sz="850" dirty="0"/>
          </a:p>
        </p:txBody>
      </p:sp>
      <p:sp>
        <p:nvSpPr>
          <p:cNvPr id="47" name="Shape 3">
            <a:extLst>
              <a:ext uri="{FF2B5EF4-FFF2-40B4-BE49-F238E27FC236}">
                <a16:creationId xmlns:a16="http://schemas.microsoft.com/office/drawing/2014/main" id="{81D5EAD0-9322-6150-908E-5BE43BD9C199}"/>
              </a:ext>
            </a:extLst>
          </p:cNvPr>
          <p:cNvSpPr/>
          <p:nvPr/>
        </p:nvSpPr>
        <p:spPr>
          <a:xfrm>
            <a:off x="457200" y="171626"/>
            <a:ext cx="3291840" cy="237744"/>
          </a:xfrm>
          <a:prstGeom prst="roundRect">
            <a:avLst>
              <a:gd name="adj" fmla="val 50000"/>
            </a:avLst>
          </a:prstGeom>
          <a:solidFill>
            <a:srgbClr val="2563EB"/>
          </a:solidFill>
          <a:ln w="12700">
            <a:solidFill>
              <a:srgbClr val="2563EB"/>
            </a:solidFill>
            <a:prstDash val="solid"/>
          </a:ln>
        </p:spPr>
        <p:txBody>
          <a:bodyPr/>
          <a:lstStyle/>
          <a:p>
            <a:r>
              <a:rPr lang="en-US" sz="800" b="1" kern="0" spc="150">
                <a:solidFill>
                  <a:srgbClr val="FFFFFF"/>
                </a:solidFill>
              </a:rPr>
              <a:t>PHASE 4 · MODELLING — VALIDATION &amp; TUNING</a:t>
            </a:r>
            <a:endParaRPr lang="en-US" sz="800"/>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6" name="Text 4"/>
          <p:cNvSpPr/>
          <p:nvPr/>
        </p:nvSpPr>
        <p:spPr>
          <a:xfrm>
            <a:off x="457200" y="164592"/>
            <a:ext cx="256032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5 · EVALUATION — RESULTS</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Model Comparison — Baseline 5-Fold CV Average</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347724614"/>
              </p:ext>
            </p:extLst>
          </p:nvPr>
        </p:nvGraphicFramePr>
        <p:xfrm>
          <a:off x="320040" y="987552"/>
          <a:ext cx="7406640" cy="1920240"/>
        </p:xfrm>
        <a:graphic>
          <a:graphicData uri="http://schemas.openxmlformats.org/drawingml/2006/table">
            <a:tbl>
              <a:tblPr/>
              <a:tblGrid>
                <a:gridCol w="19202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384048">
                <a:tc>
                  <a:txBody>
                    <a:bodyPr/>
                    <a:lstStyle/>
                    <a:p>
                      <a:pPr marL="0" indent="0" algn="ctr">
                        <a:buNone/>
                      </a:pPr>
                      <a:r>
                        <a:rPr lang="en-US" sz="1000" b="1" dirty="0">
                          <a:solidFill>
                            <a:srgbClr val="FFFFFF"/>
                          </a:solidFill>
                          <a:latin typeface="Cambria" pitchFamily="34" charset="0"/>
                          <a:ea typeface="Cambria" pitchFamily="34" charset="-122"/>
                          <a:cs typeface="Cambria" pitchFamily="34" charset="-120"/>
                        </a:rPr>
                        <a:t>Model</a:t>
                      </a:r>
                      <a:endParaRPr lang="en-US" sz="1000" dirty="0">
                        <a:latin typeface="Cambria" charset="0"/>
                        <a:ea typeface="Cambria" charset="0"/>
                        <a:cs typeface="Cambria"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latin typeface="Cambria" pitchFamily="34" charset="0"/>
                          <a:ea typeface="Cambria" pitchFamily="34" charset="-122"/>
                          <a:cs typeface="Cambria" pitchFamily="34" charset="-120"/>
                        </a:rPr>
                        <a:t>Accuracy</a:t>
                      </a:r>
                      <a:endParaRPr lang="en-US" sz="1000" dirty="0">
                        <a:latin typeface="Cambria" charset="0"/>
                        <a:ea typeface="Cambria" charset="0"/>
                        <a:cs typeface="Cambria"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latin typeface="Cambria" pitchFamily="34" charset="0"/>
                          <a:ea typeface="Cambria" pitchFamily="34" charset="-122"/>
                          <a:cs typeface="Cambria" pitchFamily="34" charset="-120"/>
                        </a:rPr>
                        <a:t>Precision</a:t>
                      </a:r>
                      <a:endParaRPr lang="en-US" sz="1000" dirty="0">
                        <a:latin typeface="Cambria" charset="0"/>
                        <a:ea typeface="Cambria" charset="0"/>
                        <a:cs typeface="Cambria"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latin typeface="Cambria" pitchFamily="34" charset="0"/>
                          <a:ea typeface="Cambria" pitchFamily="34" charset="-122"/>
                          <a:cs typeface="Cambria" pitchFamily="34" charset="-120"/>
                        </a:rPr>
                        <a:t>Recall</a:t>
                      </a:r>
                      <a:endParaRPr lang="en-US" sz="1000" dirty="0">
                        <a:latin typeface="Cambria" charset="0"/>
                        <a:ea typeface="Cambria" charset="0"/>
                        <a:cs typeface="Cambria"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latin typeface="Cambria" pitchFamily="34" charset="0"/>
                          <a:ea typeface="Cambria" pitchFamily="34" charset="-122"/>
                          <a:cs typeface="Cambria" pitchFamily="34" charset="-120"/>
                        </a:rPr>
                        <a:t>F1-Score</a:t>
                      </a:r>
                      <a:endParaRPr lang="en-US" sz="1000" dirty="0">
                        <a:latin typeface="Cambria" charset="0"/>
                        <a:ea typeface="Cambria" charset="0"/>
                        <a:cs typeface="Cambria"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latin typeface="Cambria" pitchFamily="34" charset="0"/>
                          <a:ea typeface="Cambria" pitchFamily="34" charset="-122"/>
                          <a:cs typeface="Cambria" pitchFamily="34" charset="-120"/>
                        </a:rPr>
                        <a:t>PR-AUC</a:t>
                      </a:r>
                      <a:endParaRPr lang="en-US" sz="1000" dirty="0">
                        <a:latin typeface="Cambria" charset="0"/>
                        <a:ea typeface="Cambria" charset="0"/>
                        <a:cs typeface="Cambria"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84048">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97.5%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90.7%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10.8%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0.740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99.9%</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90.1%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82.0%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kern="1200" dirty="0">
                          <a:solidFill>
                            <a:srgbClr val="2563EB"/>
                          </a:solidFill>
                          <a:latin typeface="Calibri" pitchFamily="34" charset="0"/>
                          <a:ea typeface="Calibri" pitchFamily="34" charset="-122"/>
                          <a:cs typeface="Calibri" pitchFamily="34" charset="-120"/>
                        </a:rPr>
                        <a:t>85.7%</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0.836</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84048">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XGBoost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99.9%</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78.3%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latinLnBrk="0" hangingPunct="1">
                        <a:buNone/>
                      </a:pPr>
                      <a:r>
                        <a:rPr lang="en-US" sz="1000" b="1" kern="1200" dirty="0">
                          <a:solidFill>
                            <a:srgbClr val="2563EB"/>
                          </a:solidFill>
                          <a:latin typeface="Calibri" pitchFamily="34" charset="0"/>
                          <a:ea typeface="Calibri" pitchFamily="34" charset="-122"/>
                          <a:cs typeface="Calibri" pitchFamily="34" charset="-120"/>
                        </a:rPr>
                        <a:t>82.5%</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80.1%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b="1" dirty="0">
                          <a:solidFill>
                            <a:srgbClr val="2563EB"/>
                          </a:solidFill>
                          <a:latin typeface="Calibri" pitchFamily="34" charset="0"/>
                          <a:ea typeface="Calibri" pitchFamily="34" charset="-122"/>
                          <a:cs typeface="Calibri" pitchFamily="34" charset="-120"/>
                        </a:rPr>
                        <a:t>0.848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384048">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LightGBM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99.9%</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63.3%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82.5%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71.5%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0.793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bl>
          </a:graphicData>
        </a:graphic>
      </p:graphicFrame>
      <p:graphicFrame>
        <p:nvGraphicFramePr>
          <p:cNvPr id="9" name="Chart 0"/>
          <p:cNvGraphicFramePr/>
          <p:nvPr>
            <p:extLst>
              <p:ext uri="{D42A27DB-BD31-4B8C-83A1-F6EECF244321}">
                <p14:modId xmlns:p14="http://schemas.microsoft.com/office/powerpoint/2010/main" val="1930260474"/>
              </p:ext>
            </p:extLst>
          </p:nvPr>
        </p:nvGraphicFramePr>
        <p:xfrm>
          <a:off x="1797153" y="3127248"/>
          <a:ext cx="530352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3">
            <a:extLst>
              <a:ext uri="{FF2B5EF4-FFF2-40B4-BE49-F238E27FC236}">
                <a16:creationId xmlns:a16="http://schemas.microsoft.com/office/drawing/2014/main" id="{C812F5B9-731A-B3BE-4869-02F6F8D3D4CB}"/>
              </a:ext>
            </a:extLst>
          </p:cNvPr>
          <p:cNvSpPr/>
          <p:nvPr/>
        </p:nvSpPr>
        <p:spPr>
          <a:xfrm>
            <a:off x="457200" y="171626"/>
            <a:ext cx="3291840" cy="237744"/>
          </a:xfrm>
          <a:prstGeom prst="roundRect">
            <a:avLst>
              <a:gd name="adj" fmla="val 50000"/>
            </a:avLst>
          </a:prstGeom>
          <a:solidFill>
            <a:srgbClr val="2563EB"/>
          </a:solidFill>
          <a:ln w="12700">
            <a:solidFill>
              <a:srgbClr val="2563EB"/>
            </a:solidFill>
            <a:prstDash val="solid"/>
          </a:ln>
        </p:spPr>
        <p:txBody>
          <a:bodyPr/>
          <a:lstStyle/>
          <a:p>
            <a:r>
              <a:rPr lang="en-US" sz="800" b="1" kern="0" spc="150">
                <a:solidFill>
                  <a:srgbClr val="FFFFFF"/>
                </a:solidFill>
              </a:rPr>
              <a:t>PHASE 4 · MODELLING — VALIDATION &amp; TUNING</a:t>
            </a:r>
            <a:endParaRPr lang="en-US" sz="800"/>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6" name="Text 4"/>
          <p:cNvSpPr/>
          <p:nvPr/>
        </p:nvSpPr>
        <p:spPr>
          <a:xfrm>
            <a:off x="457200" y="164592"/>
            <a:ext cx="274320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5 · EVALUATION — CV STABILITY</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Cross-Validation Stability Analysis</a:t>
            </a:r>
            <a:endParaRPr lang="en-US" sz="2600" dirty="0"/>
          </a:p>
        </p:txBody>
      </p:sp>
      <p:graphicFrame>
        <p:nvGraphicFramePr>
          <p:cNvPr id="8" name="Chart 0"/>
          <p:cNvGraphicFramePr/>
          <p:nvPr/>
        </p:nvGraphicFramePr>
        <p:xfrm>
          <a:off x="320040" y="987552"/>
          <a:ext cx="502920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5532120" y="987552"/>
            <a:ext cx="3291840" cy="2560320"/>
          </a:xfrm>
          <a:prstGeom prst="roundRect">
            <a:avLst>
              <a:gd name="adj" fmla="val 3571"/>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0" name="Text 7"/>
          <p:cNvSpPr/>
          <p:nvPr/>
        </p:nvSpPr>
        <p:spPr>
          <a:xfrm>
            <a:off x="5715000" y="1078992"/>
            <a:ext cx="2926080" cy="256032"/>
          </a:xfrm>
          <a:prstGeom prst="rect">
            <a:avLst/>
          </a:prstGeom>
          <a:noFill/>
          <a:ln/>
        </p:spPr>
        <p:txBody>
          <a:bodyPr wrap="square" lIns="0" tIns="0" rIns="0" bIns="0" rtlCol="0" anchor="ctr"/>
          <a:lstStyle/>
          <a:p>
            <a:pPr marL="0" indent="0" algn="l">
              <a:buNone/>
            </a:pPr>
            <a:r>
              <a:rPr lang="en-US" sz="1100" b="1" dirty="0">
                <a:solidFill>
                  <a:srgbClr val="1A3A5C"/>
                </a:solidFill>
                <a:latin typeface="Cambria" pitchFamily="34" charset="0"/>
                <a:ea typeface="Cambria" pitchFamily="34" charset="-122"/>
                <a:cs typeface="Cambria" pitchFamily="34" charset="-120"/>
              </a:rPr>
              <a:t>Variance Across Folds (PR-AUC)</a:t>
            </a:r>
            <a:endParaRPr lang="en-US" sz="1100" dirty="0"/>
          </a:p>
        </p:txBody>
      </p:sp>
      <p:sp>
        <p:nvSpPr>
          <p:cNvPr id="11" name="Text 8"/>
          <p:cNvSpPr/>
          <p:nvPr/>
        </p:nvSpPr>
        <p:spPr>
          <a:xfrm>
            <a:off x="5715000" y="1444752"/>
            <a:ext cx="1828800" cy="228600"/>
          </a:xfrm>
          <a:prstGeom prst="rect">
            <a:avLst/>
          </a:prstGeom>
          <a:noFill/>
          <a:ln/>
        </p:spPr>
        <p:txBody>
          <a:bodyPr wrap="square" lIns="0" tIns="0" rIns="0" bIns="0" rtlCol="0" anchor="ctr"/>
          <a:lstStyle/>
          <a:p>
            <a:pPr marL="0" indent="0" algn="l">
              <a:buNone/>
            </a:pPr>
            <a:r>
              <a:rPr lang="en-US" sz="950" b="1" dirty="0">
                <a:solidFill>
                  <a:srgbClr val="1A3A5C"/>
                </a:solidFill>
                <a:latin typeface="Calibri" pitchFamily="34" charset="0"/>
                <a:ea typeface="Calibri" pitchFamily="34" charset="-122"/>
                <a:cs typeface="Calibri" pitchFamily="34" charset="-120"/>
              </a:rPr>
              <a:t>Logistic Regression</a:t>
            </a:r>
            <a:endParaRPr lang="en-US" sz="950" dirty="0"/>
          </a:p>
        </p:txBody>
      </p:sp>
      <p:sp>
        <p:nvSpPr>
          <p:cNvPr id="12" name="Text 9"/>
          <p:cNvSpPr/>
          <p:nvPr/>
        </p:nvSpPr>
        <p:spPr>
          <a:xfrm>
            <a:off x="7498080" y="1444752"/>
            <a:ext cx="731520" cy="22860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0.740</a:t>
            </a:r>
            <a:endParaRPr lang="en-US" sz="950" dirty="0"/>
          </a:p>
        </p:txBody>
      </p:sp>
      <p:sp>
        <p:nvSpPr>
          <p:cNvPr id="13" name="Text 10"/>
          <p:cNvSpPr/>
          <p:nvPr/>
        </p:nvSpPr>
        <p:spPr>
          <a:xfrm>
            <a:off x="5715000" y="1645920"/>
            <a:ext cx="2926080" cy="182880"/>
          </a:xfrm>
          <a:prstGeom prst="rect">
            <a:avLst/>
          </a:prstGeom>
          <a:noFill/>
          <a:ln/>
        </p:spPr>
        <p:txBody>
          <a:bodyPr wrap="square" lIns="0" tIns="0" rIns="0" bIns="0" rtlCol="0" anchor="ctr"/>
          <a:lstStyle/>
          <a:p>
            <a:pPr marL="0" indent="0" algn="l">
              <a:buNone/>
            </a:pPr>
            <a:r>
              <a:rPr lang="en-US" sz="850" dirty="0">
                <a:solidFill>
                  <a:srgbClr val="059669"/>
                </a:solidFill>
                <a:latin typeface="Calibri" pitchFamily="34" charset="0"/>
                <a:ea typeface="Calibri" pitchFamily="34" charset="-122"/>
                <a:cs typeface="Calibri" pitchFamily="34" charset="-120"/>
              </a:rPr>
              <a:t>±0.015</a:t>
            </a:r>
            <a:endParaRPr lang="en-US" sz="850" dirty="0"/>
          </a:p>
        </p:txBody>
      </p:sp>
      <p:sp>
        <p:nvSpPr>
          <p:cNvPr id="14" name="Text 11"/>
          <p:cNvSpPr/>
          <p:nvPr/>
        </p:nvSpPr>
        <p:spPr>
          <a:xfrm>
            <a:off x="5715000" y="1947672"/>
            <a:ext cx="1828800" cy="228600"/>
          </a:xfrm>
          <a:prstGeom prst="rect">
            <a:avLst/>
          </a:prstGeom>
          <a:noFill/>
          <a:ln/>
        </p:spPr>
        <p:txBody>
          <a:bodyPr wrap="square" lIns="0" tIns="0" rIns="0" bIns="0" rtlCol="0" anchor="ctr"/>
          <a:lstStyle/>
          <a:p>
            <a:pPr marL="0" indent="0" algn="l">
              <a:buNone/>
            </a:pPr>
            <a:r>
              <a:rPr lang="en-US" sz="950" b="1" dirty="0">
                <a:solidFill>
                  <a:srgbClr val="1A3A5C"/>
                </a:solidFill>
                <a:latin typeface="Calibri" pitchFamily="34" charset="0"/>
                <a:ea typeface="Calibri" pitchFamily="34" charset="-122"/>
                <a:cs typeface="Calibri" pitchFamily="34" charset="-120"/>
              </a:rPr>
              <a:t>Random Forest</a:t>
            </a:r>
            <a:endParaRPr lang="en-US" sz="950" dirty="0"/>
          </a:p>
        </p:txBody>
      </p:sp>
      <p:sp>
        <p:nvSpPr>
          <p:cNvPr id="15" name="Text 12"/>
          <p:cNvSpPr/>
          <p:nvPr/>
        </p:nvSpPr>
        <p:spPr>
          <a:xfrm>
            <a:off x="7498080" y="1947672"/>
            <a:ext cx="731520" cy="22860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0.836</a:t>
            </a:r>
            <a:endParaRPr lang="en-US" sz="950" dirty="0"/>
          </a:p>
        </p:txBody>
      </p:sp>
      <p:sp>
        <p:nvSpPr>
          <p:cNvPr id="16" name="Text 13"/>
          <p:cNvSpPr/>
          <p:nvPr/>
        </p:nvSpPr>
        <p:spPr>
          <a:xfrm>
            <a:off x="5715000" y="2148840"/>
            <a:ext cx="2926080" cy="182880"/>
          </a:xfrm>
          <a:prstGeom prst="rect">
            <a:avLst/>
          </a:prstGeom>
          <a:noFill/>
          <a:ln/>
        </p:spPr>
        <p:txBody>
          <a:bodyPr wrap="square" lIns="0" tIns="0" rIns="0" bIns="0" rtlCol="0" anchor="ctr"/>
          <a:lstStyle/>
          <a:p>
            <a:pPr marL="0" indent="0" algn="l">
              <a:buNone/>
            </a:pPr>
            <a:r>
              <a:rPr lang="en-US" sz="850" dirty="0">
                <a:solidFill>
                  <a:srgbClr val="059669"/>
                </a:solidFill>
                <a:latin typeface="Calibri" pitchFamily="34" charset="0"/>
                <a:ea typeface="Calibri" pitchFamily="34" charset="-122"/>
                <a:cs typeface="Calibri" pitchFamily="34" charset="-120"/>
              </a:rPr>
              <a:t>±0.021</a:t>
            </a:r>
            <a:endParaRPr lang="en-US" sz="850" dirty="0"/>
          </a:p>
        </p:txBody>
      </p:sp>
      <p:sp>
        <p:nvSpPr>
          <p:cNvPr id="17" name="Text 14"/>
          <p:cNvSpPr/>
          <p:nvPr/>
        </p:nvSpPr>
        <p:spPr>
          <a:xfrm>
            <a:off x="5715000" y="2450592"/>
            <a:ext cx="1828800" cy="228600"/>
          </a:xfrm>
          <a:prstGeom prst="rect">
            <a:avLst/>
          </a:prstGeom>
          <a:noFill/>
          <a:ln/>
        </p:spPr>
        <p:txBody>
          <a:bodyPr wrap="square" lIns="0" tIns="0" rIns="0" bIns="0" rtlCol="0" anchor="ctr"/>
          <a:lstStyle/>
          <a:p>
            <a:pPr marL="0" indent="0" algn="l">
              <a:buNone/>
            </a:pPr>
            <a:r>
              <a:rPr lang="en-US" sz="950" b="1" dirty="0">
                <a:solidFill>
                  <a:srgbClr val="1A3A5C"/>
                </a:solidFill>
                <a:latin typeface="Calibri" pitchFamily="34" charset="0"/>
                <a:ea typeface="Calibri" pitchFamily="34" charset="-122"/>
                <a:cs typeface="Calibri" pitchFamily="34" charset="-120"/>
              </a:rPr>
              <a:t>XGBoost</a:t>
            </a:r>
            <a:endParaRPr lang="en-US" sz="950" dirty="0"/>
          </a:p>
        </p:txBody>
      </p:sp>
      <p:sp>
        <p:nvSpPr>
          <p:cNvPr id="18" name="Text 15"/>
          <p:cNvSpPr/>
          <p:nvPr/>
        </p:nvSpPr>
        <p:spPr>
          <a:xfrm>
            <a:off x="7498080" y="2450592"/>
            <a:ext cx="731520" cy="22860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0.848</a:t>
            </a:r>
            <a:endParaRPr lang="en-US" sz="950" dirty="0"/>
          </a:p>
        </p:txBody>
      </p:sp>
      <p:sp>
        <p:nvSpPr>
          <p:cNvPr id="19" name="Text 16"/>
          <p:cNvSpPr/>
          <p:nvPr/>
        </p:nvSpPr>
        <p:spPr>
          <a:xfrm>
            <a:off x="5715000" y="2651760"/>
            <a:ext cx="2926080" cy="182880"/>
          </a:xfrm>
          <a:prstGeom prst="rect">
            <a:avLst/>
          </a:prstGeom>
          <a:noFill/>
          <a:ln/>
        </p:spPr>
        <p:txBody>
          <a:bodyPr wrap="square" lIns="0" tIns="0" rIns="0" bIns="0" rtlCol="0" anchor="ctr"/>
          <a:lstStyle/>
          <a:p>
            <a:pPr marL="0" indent="0" algn="l">
              <a:buNone/>
            </a:pPr>
            <a:r>
              <a:rPr lang="en-US" sz="850" dirty="0">
                <a:solidFill>
                  <a:srgbClr val="059669"/>
                </a:solidFill>
                <a:latin typeface="Calibri" pitchFamily="34" charset="0"/>
                <a:ea typeface="Calibri" pitchFamily="34" charset="-122"/>
                <a:cs typeface="Calibri" pitchFamily="34" charset="-120"/>
              </a:rPr>
              <a:t>±0.012</a:t>
            </a:r>
            <a:endParaRPr lang="en-US" sz="850" dirty="0"/>
          </a:p>
        </p:txBody>
      </p:sp>
      <p:sp>
        <p:nvSpPr>
          <p:cNvPr id="20" name="Text 17"/>
          <p:cNvSpPr/>
          <p:nvPr/>
        </p:nvSpPr>
        <p:spPr>
          <a:xfrm>
            <a:off x="5715000" y="2953512"/>
            <a:ext cx="1828800" cy="228600"/>
          </a:xfrm>
          <a:prstGeom prst="rect">
            <a:avLst/>
          </a:prstGeom>
          <a:noFill/>
          <a:ln/>
        </p:spPr>
        <p:txBody>
          <a:bodyPr wrap="square" lIns="0" tIns="0" rIns="0" bIns="0" rtlCol="0" anchor="ctr"/>
          <a:lstStyle/>
          <a:p>
            <a:pPr marL="0" indent="0" algn="l">
              <a:buNone/>
            </a:pPr>
            <a:r>
              <a:rPr lang="en-US" sz="950" b="1" dirty="0">
                <a:solidFill>
                  <a:srgbClr val="1A3A5C"/>
                </a:solidFill>
                <a:latin typeface="Calibri" pitchFamily="34" charset="0"/>
                <a:ea typeface="Calibri" pitchFamily="34" charset="-122"/>
                <a:cs typeface="Calibri" pitchFamily="34" charset="-120"/>
              </a:rPr>
              <a:t>LightGBM</a:t>
            </a:r>
            <a:endParaRPr lang="en-US" sz="950" dirty="0"/>
          </a:p>
        </p:txBody>
      </p:sp>
      <p:sp>
        <p:nvSpPr>
          <p:cNvPr id="21" name="Text 18"/>
          <p:cNvSpPr/>
          <p:nvPr/>
        </p:nvSpPr>
        <p:spPr>
          <a:xfrm>
            <a:off x="7498080" y="2953512"/>
            <a:ext cx="731520" cy="22860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0.793</a:t>
            </a:r>
            <a:endParaRPr lang="en-US" sz="950" dirty="0"/>
          </a:p>
        </p:txBody>
      </p:sp>
      <p:sp>
        <p:nvSpPr>
          <p:cNvPr id="22" name="Text 19"/>
          <p:cNvSpPr/>
          <p:nvPr/>
        </p:nvSpPr>
        <p:spPr>
          <a:xfrm>
            <a:off x="5715000" y="3154680"/>
            <a:ext cx="2926080" cy="182880"/>
          </a:xfrm>
          <a:prstGeom prst="rect">
            <a:avLst/>
          </a:prstGeom>
          <a:noFill/>
          <a:ln/>
        </p:spPr>
        <p:txBody>
          <a:bodyPr wrap="square" lIns="0" tIns="0" rIns="0" bIns="0" rtlCol="0" anchor="ctr"/>
          <a:lstStyle/>
          <a:p>
            <a:pPr marL="0" indent="0" algn="l">
              <a:buNone/>
            </a:pPr>
            <a:r>
              <a:rPr lang="en-US" sz="850" dirty="0">
                <a:solidFill>
                  <a:srgbClr val="059669"/>
                </a:solidFill>
                <a:latin typeface="Calibri" pitchFamily="34" charset="0"/>
                <a:ea typeface="Calibri" pitchFamily="34" charset="-122"/>
                <a:cs typeface="Calibri" pitchFamily="34" charset="-120"/>
              </a:rPr>
              <a:t>±0.018</a:t>
            </a:r>
            <a:endParaRPr lang="en-US" sz="850" dirty="0"/>
          </a:p>
        </p:txBody>
      </p:sp>
      <p:sp>
        <p:nvSpPr>
          <p:cNvPr id="23" name="Text 20"/>
          <p:cNvSpPr/>
          <p:nvPr/>
        </p:nvSpPr>
        <p:spPr>
          <a:xfrm>
            <a:off x="5715000" y="3380000"/>
            <a:ext cx="2926080" cy="160000"/>
          </a:xfrm>
          <a:prstGeom prst="rect">
            <a:avLst/>
          </a:prstGeom>
          <a:noFill/>
          <a:ln/>
        </p:spPr>
        <p:txBody>
          <a:bodyPr wrap="square" lIns="0" tIns="0" rIns="0" bIns="0" rtlCol="0" anchor="t"/>
          <a:lstStyle/>
          <a:p>
            <a:pPr marL="0" indent="0" algn="l">
              <a:buNone/>
            </a:pPr>
            <a:endParaRPr lang="en-US" sz="750" dirty="0"/>
          </a:p>
        </p:txBody>
      </p:sp>
      <p:sp>
        <p:nvSpPr>
          <p:cNvPr id="24" name="Shape 21"/>
          <p:cNvSpPr/>
          <p:nvPr/>
        </p:nvSpPr>
        <p:spPr>
          <a:xfrm>
            <a:off x="320040" y="3703320"/>
            <a:ext cx="2743200" cy="1097280"/>
          </a:xfrm>
          <a:prstGeom prst="roundRect">
            <a:avLst>
              <a:gd name="adj" fmla="val 8333"/>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25" name="Image 0" descr="preencoded.png"/>
          <p:cNvPicPr>
            <a:picLocks noChangeAspect="1"/>
          </p:cNvPicPr>
          <p:nvPr/>
        </p:nvPicPr>
        <p:blipFill>
          <a:blip r:embed="rId4"/>
          <a:stretch>
            <a:fillRect/>
          </a:stretch>
        </p:blipFill>
        <p:spPr>
          <a:xfrm>
            <a:off x="457200" y="3822192"/>
            <a:ext cx="274320" cy="274320"/>
          </a:xfrm>
          <a:prstGeom prst="rect">
            <a:avLst/>
          </a:prstGeom>
        </p:spPr>
      </p:pic>
      <p:sp>
        <p:nvSpPr>
          <p:cNvPr id="26" name="Text 22"/>
          <p:cNvSpPr/>
          <p:nvPr/>
        </p:nvSpPr>
        <p:spPr>
          <a:xfrm>
            <a:off x="804672" y="3803904"/>
            <a:ext cx="2148840" cy="274320"/>
          </a:xfrm>
          <a:prstGeom prst="rect">
            <a:avLst/>
          </a:prstGeom>
          <a:noFill/>
          <a:ln/>
        </p:spPr>
        <p:txBody>
          <a:bodyPr wrap="square" lIns="0" tIns="0" rIns="0" bIns="0" rtlCol="0" anchor="ctr"/>
          <a:lstStyle/>
          <a:p>
            <a:pPr marL="0" indent="0" algn="l">
              <a:buNone/>
            </a:pPr>
            <a:r>
              <a:rPr lang="en-US" sz="1000" b="1" dirty="0">
                <a:solidFill>
                  <a:srgbClr val="1A3A5C"/>
                </a:solidFill>
                <a:latin typeface="Cambria" pitchFamily="34" charset="0"/>
                <a:ea typeface="Cambria" pitchFamily="34" charset="-122"/>
                <a:cs typeface="Cambria" pitchFamily="34" charset="-120"/>
              </a:rPr>
              <a:t>Consistent Performance</a:t>
            </a:r>
            <a:endParaRPr lang="en-US" sz="1000" dirty="0"/>
          </a:p>
        </p:txBody>
      </p:sp>
      <p:sp>
        <p:nvSpPr>
          <p:cNvPr id="27" name="Text 23"/>
          <p:cNvSpPr/>
          <p:nvPr/>
        </p:nvSpPr>
        <p:spPr>
          <a:xfrm>
            <a:off x="457200" y="4133088"/>
            <a:ext cx="2487168" cy="594360"/>
          </a:xfrm>
          <a:prstGeom prst="rect">
            <a:avLst/>
          </a:prstGeom>
          <a:noFill/>
          <a:ln/>
        </p:spPr>
        <p:txBody>
          <a:bodyPr wrap="square" lIns="0" tIns="0" rIns="0" bIns="0" rtlCol="0" anchor="t"/>
          <a:lstStyle/>
          <a:p>
            <a:pPr marL="0" indent="0" algn="l">
              <a:buNone/>
            </a:pPr>
            <a:r>
              <a:rPr lang="en-US" sz="900" dirty="0">
                <a:solidFill>
                  <a:srgbClr val="475569"/>
                </a:solidFill>
                <a:latin typeface="Calibri" pitchFamily="34" charset="0"/>
                <a:ea typeface="Calibri" pitchFamily="34" charset="-122"/>
                <a:cs typeface="Calibri" pitchFamily="34" charset="-120"/>
              </a:rPr>
              <a:t>All tree-based models show &lt;0.021 PR-AUC std across 5 folds — no sign of high variance or fold-dependence.</a:t>
            </a:r>
            <a:endParaRPr lang="en-US" sz="900" dirty="0"/>
          </a:p>
        </p:txBody>
      </p:sp>
      <p:sp>
        <p:nvSpPr>
          <p:cNvPr id="28" name="Shape 24"/>
          <p:cNvSpPr/>
          <p:nvPr/>
        </p:nvSpPr>
        <p:spPr>
          <a:xfrm>
            <a:off x="3246120" y="3703320"/>
            <a:ext cx="2743200" cy="1097280"/>
          </a:xfrm>
          <a:prstGeom prst="roundRect">
            <a:avLst>
              <a:gd name="adj" fmla="val 8333"/>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29" name="Image 1" descr="preencoded.png"/>
          <p:cNvPicPr>
            <a:picLocks noChangeAspect="1"/>
          </p:cNvPicPr>
          <p:nvPr/>
        </p:nvPicPr>
        <p:blipFill>
          <a:blip r:embed="rId4"/>
          <a:stretch>
            <a:fillRect/>
          </a:stretch>
        </p:blipFill>
        <p:spPr>
          <a:xfrm>
            <a:off x="3383280" y="3822192"/>
            <a:ext cx="274320" cy="274320"/>
          </a:xfrm>
          <a:prstGeom prst="rect">
            <a:avLst/>
          </a:prstGeom>
        </p:spPr>
      </p:pic>
      <p:sp>
        <p:nvSpPr>
          <p:cNvPr id="30" name="Text 25"/>
          <p:cNvSpPr/>
          <p:nvPr/>
        </p:nvSpPr>
        <p:spPr>
          <a:xfrm>
            <a:off x="3730752" y="3803904"/>
            <a:ext cx="2148840" cy="274320"/>
          </a:xfrm>
          <a:prstGeom prst="rect">
            <a:avLst/>
          </a:prstGeom>
          <a:noFill/>
          <a:ln/>
        </p:spPr>
        <p:txBody>
          <a:bodyPr wrap="square" lIns="0" tIns="0" rIns="0" bIns="0" rtlCol="0" anchor="ctr"/>
          <a:lstStyle/>
          <a:p>
            <a:pPr marL="0" indent="0" algn="l">
              <a:buNone/>
            </a:pPr>
            <a:r>
              <a:rPr lang="en-US" sz="1000" b="1" dirty="0">
                <a:solidFill>
                  <a:srgbClr val="1A3A5C"/>
                </a:solidFill>
                <a:latin typeface="Cambria" pitchFamily="34" charset="0"/>
                <a:ea typeface="Cambria" pitchFamily="34" charset="-122"/>
                <a:cs typeface="Cambria" pitchFamily="34" charset="-120"/>
              </a:rPr>
              <a:t>XGBoost Most Stable</a:t>
            </a:r>
            <a:endParaRPr lang="en-US" sz="1000" dirty="0"/>
          </a:p>
        </p:txBody>
      </p:sp>
      <p:sp>
        <p:nvSpPr>
          <p:cNvPr id="31" name="Text 26"/>
          <p:cNvSpPr/>
          <p:nvPr/>
        </p:nvSpPr>
        <p:spPr>
          <a:xfrm>
            <a:off x="3383280" y="4133088"/>
            <a:ext cx="2487168" cy="594360"/>
          </a:xfrm>
          <a:prstGeom prst="rect">
            <a:avLst/>
          </a:prstGeom>
          <a:noFill/>
          <a:ln/>
        </p:spPr>
        <p:txBody>
          <a:bodyPr wrap="square" lIns="0" tIns="0" rIns="0" bIns="0" rtlCol="0" anchor="t"/>
          <a:lstStyle/>
          <a:p>
            <a:pPr marL="0" indent="0" algn="l">
              <a:buNone/>
            </a:pPr>
            <a:r>
              <a:rPr lang="en-US" sz="900" dirty="0">
                <a:solidFill>
                  <a:srgbClr val="475569"/>
                </a:solidFill>
                <a:latin typeface="Calibri" pitchFamily="34" charset="0"/>
                <a:ea typeface="Calibri" pitchFamily="34" charset="-122"/>
                <a:cs typeface="Calibri" pitchFamily="34" charset="-120"/>
              </a:rPr>
              <a:t>Std of ±0.012 is the lowest among tree-based models, and XGBoost also achieves the highest mean PR-AUC (0.848).</a:t>
            </a:r>
            <a:endParaRPr lang="en-US" sz="900" dirty="0"/>
          </a:p>
        </p:txBody>
      </p:sp>
      <p:sp>
        <p:nvSpPr>
          <p:cNvPr id="32" name="Shape 27"/>
          <p:cNvSpPr/>
          <p:nvPr/>
        </p:nvSpPr>
        <p:spPr>
          <a:xfrm>
            <a:off x="6172200" y="3703320"/>
            <a:ext cx="2743200" cy="1097280"/>
          </a:xfrm>
          <a:prstGeom prst="roundRect">
            <a:avLst>
              <a:gd name="adj" fmla="val 8333"/>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33" name="Image 2" descr="preencoded.png"/>
          <p:cNvPicPr>
            <a:picLocks noChangeAspect="1"/>
          </p:cNvPicPr>
          <p:nvPr/>
        </p:nvPicPr>
        <p:blipFill>
          <a:blip r:embed="rId4"/>
          <a:stretch>
            <a:fillRect/>
          </a:stretch>
        </p:blipFill>
        <p:spPr>
          <a:xfrm>
            <a:off x="6309360" y="3822192"/>
            <a:ext cx="274320" cy="274320"/>
          </a:xfrm>
          <a:prstGeom prst="rect">
            <a:avLst/>
          </a:prstGeom>
        </p:spPr>
      </p:pic>
      <p:sp>
        <p:nvSpPr>
          <p:cNvPr id="34" name="Text 28"/>
          <p:cNvSpPr/>
          <p:nvPr/>
        </p:nvSpPr>
        <p:spPr>
          <a:xfrm>
            <a:off x="6656832" y="3803904"/>
            <a:ext cx="2148840" cy="274320"/>
          </a:xfrm>
          <a:prstGeom prst="rect">
            <a:avLst/>
          </a:prstGeom>
          <a:noFill/>
          <a:ln/>
        </p:spPr>
        <p:txBody>
          <a:bodyPr wrap="square" lIns="0" tIns="0" rIns="0" bIns="0" rtlCol="0" anchor="ctr"/>
          <a:lstStyle/>
          <a:p>
            <a:pPr marL="0" indent="0" algn="l">
              <a:buNone/>
            </a:pPr>
            <a:r>
              <a:rPr lang="en-US" sz="1000" b="1" dirty="0">
                <a:solidFill>
                  <a:srgbClr val="1A3A5C"/>
                </a:solidFill>
                <a:latin typeface="Cambria" pitchFamily="34" charset="0"/>
                <a:ea typeface="Cambria" pitchFamily="34" charset="-122"/>
                <a:cs typeface="Cambria" pitchFamily="34" charset="-120"/>
              </a:rPr>
              <a:t>SMOTE Applied Correctly</a:t>
            </a:r>
            <a:endParaRPr lang="en-US" sz="1000" dirty="0"/>
          </a:p>
        </p:txBody>
      </p:sp>
      <p:sp>
        <p:nvSpPr>
          <p:cNvPr id="35" name="Text 29"/>
          <p:cNvSpPr/>
          <p:nvPr/>
        </p:nvSpPr>
        <p:spPr>
          <a:xfrm>
            <a:off x="6309360" y="4133088"/>
            <a:ext cx="2487168" cy="594360"/>
          </a:xfrm>
          <a:prstGeom prst="rect">
            <a:avLst/>
          </a:prstGeom>
          <a:noFill/>
          <a:ln/>
        </p:spPr>
        <p:txBody>
          <a:bodyPr wrap="square" lIns="0" tIns="0" rIns="0" bIns="0" rtlCol="0" anchor="t"/>
          <a:lstStyle/>
          <a:p>
            <a:pPr marL="0" indent="0" algn="l">
              <a:buNone/>
            </a:pPr>
            <a:r>
              <a:rPr lang="en-US" sz="900" dirty="0">
                <a:solidFill>
                  <a:srgbClr val="475569"/>
                </a:solidFill>
                <a:latin typeface="Calibri" pitchFamily="34" charset="0"/>
                <a:ea typeface="Calibri" pitchFamily="34" charset="-122"/>
                <a:cs typeface="Calibri" pitchFamily="34" charset="-120"/>
              </a:rPr>
              <a:t>Stable recall across folds confirms SMOTE was applied only inside training folds, preventing leakage.</a:t>
            </a:r>
            <a:endParaRPr lang="en-US" sz="900" dirty="0"/>
          </a:p>
        </p:txBody>
      </p:sp>
      <p:sp>
        <p:nvSpPr>
          <p:cNvPr id="36" name="Shape 3">
            <a:extLst>
              <a:ext uri="{FF2B5EF4-FFF2-40B4-BE49-F238E27FC236}">
                <a16:creationId xmlns:a16="http://schemas.microsoft.com/office/drawing/2014/main" id="{73DB7611-CD7A-7796-ABFD-90105AADC867}"/>
              </a:ext>
            </a:extLst>
          </p:cNvPr>
          <p:cNvSpPr/>
          <p:nvPr/>
        </p:nvSpPr>
        <p:spPr>
          <a:xfrm>
            <a:off x="457200" y="171626"/>
            <a:ext cx="3291840" cy="237744"/>
          </a:xfrm>
          <a:prstGeom prst="roundRect">
            <a:avLst>
              <a:gd name="adj" fmla="val 50000"/>
            </a:avLst>
          </a:prstGeom>
          <a:solidFill>
            <a:srgbClr val="2563EB"/>
          </a:solidFill>
          <a:ln w="12700">
            <a:solidFill>
              <a:srgbClr val="2563EB"/>
            </a:solidFill>
            <a:prstDash val="solid"/>
          </a:ln>
        </p:spPr>
        <p:txBody>
          <a:bodyPr/>
          <a:lstStyle/>
          <a:p>
            <a:r>
              <a:rPr lang="en-US" sz="800" b="1" kern="0" spc="150">
                <a:solidFill>
                  <a:srgbClr val="FFFFFF"/>
                </a:solidFill>
              </a:rPr>
              <a:t>PHASE 4 · MODELLING — VALIDATION &amp; TUNING</a:t>
            </a:r>
            <a:endParaRPr lang="en-US" sz="800"/>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6859AFF-51AB-84DA-6081-2D4C4F9C11E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8BF25AC-2B82-FE8A-65CB-783F1D88C8B3}"/>
              </a:ext>
            </a:extLst>
          </p:cNvPr>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a:extLst>
              <a:ext uri="{FF2B5EF4-FFF2-40B4-BE49-F238E27FC236}">
                <a16:creationId xmlns:a16="http://schemas.microsoft.com/office/drawing/2014/main" id="{D2B0EFBF-CD2F-914C-2C68-087F4656AC4C}"/>
              </a:ext>
            </a:extLst>
          </p:cNvPr>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Shape 3">
            <a:extLst>
              <a:ext uri="{FF2B5EF4-FFF2-40B4-BE49-F238E27FC236}">
                <a16:creationId xmlns:a16="http://schemas.microsoft.com/office/drawing/2014/main" id="{05A27E78-0378-B383-EC8E-465C70C349A8}"/>
              </a:ext>
            </a:extLst>
          </p:cNvPr>
          <p:cNvSpPr/>
          <p:nvPr/>
        </p:nvSpPr>
        <p:spPr>
          <a:xfrm>
            <a:off x="457200" y="164592"/>
            <a:ext cx="3291840" cy="237744"/>
          </a:xfrm>
          <a:prstGeom prst="roundRect">
            <a:avLst>
              <a:gd name="adj" fmla="val 50000"/>
            </a:avLst>
          </a:prstGeom>
          <a:solidFill>
            <a:srgbClr val="2563EB"/>
          </a:solidFill>
          <a:ln w="12700">
            <a:solidFill>
              <a:srgbClr val="2563EB"/>
            </a:solidFill>
            <a:prstDash val="solid"/>
          </a:ln>
        </p:spPr>
        <p:txBody>
          <a:bodyPr/>
          <a:lstStyle/>
          <a:p>
            <a:endParaRPr lang="en-US"/>
          </a:p>
        </p:txBody>
      </p:sp>
      <p:sp>
        <p:nvSpPr>
          <p:cNvPr id="6" name="Text 4">
            <a:extLst>
              <a:ext uri="{FF2B5EF4-FFF2-40B4-BE49-F238E27FC236}">
                <a16:creationId xmlns:a16="http://schemas.microsoft.com/office/drawing/2014/main" id="{9803DECD-F955-6727-7EF0-2276F63D7A88}"/>
              </a:ext>
            </a:extLst>
          </p:cNvPr>
          <p:cNvSpPr/>
          <p:nvPr/>
        </p:nvSpPr>
        <p:spPr>
          <a:xfrm>
            <a:off x="457200" y="164592"/>
            <a:ext cx="329184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4 · MODELLING — VALIDATION &amp; TUNING</a:t>
            </a:r>
            <a:endParaRPr lang="en-US" sz="700" dirty="0"/>
          </a:p>
        </p:txBody>
      </p:sp>
      <p:sp>
        <p:nvSpPr>
          <p:cNvPr id="7" name="Text 5">
            <a:extLst>
              <a:ext uri="{FF2B5EF4-FFF2-40B4-BE49-F238E27FC236}">
                <a16:creationId xmlns:a16="http://schemas.microsoft.com/office/drawing/2014/main" id="{51D3B694-37C2-EE04-9913-F36B0B814D5E}"/>
              </a:ext>
            </a:extLst>
          </p:cNvPr>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a:solidFill>
                  <a:srgbClr val="1A3A5C"/>
                </a:solidFill>
                <a:latin typeface="Cambria" pitchFamily="34" charset="0"/>
                <a:ea typeface="Cambria" pitchFamily="34" charset="-122"/>
                <a:cs typeface="Cambria" pitchFamily="34" charset="-120"/>
              </a:rPr>
              <a:t>Hyperparameter </a:t>
            </a:r>
            <a:r>
              <a:rPr lang="en-US" sz="2600" b="1" dirty="0">
                <a:solidFill>
                  <a:srgbClr val="1A3A5C"/>
                </a:solidFill>
                <a:latin typeface="Cambria" pitchFamily="34" charset="0"/>
                <a:ea typeface="Cambria" pitchFamily="34" charset="-122"/>
                <a:cs typeface="Cambria" pitchFamily="34" charset="-120"/>
              </a:rPr>
              <a:t>Tuning</a:t>
            </a:r>
            <a:endParaRPr lang="en-US" sz="2600" dirty="0"/>
          </a:p>
        </p:txBody>
      </p:sp>
      <p:sp>
        <p:nvSpPr>
          <p:cNvPr id="69" name="Shape 67">
            <a:extLst>
              <a:ext uri="{FF2B5EF4-FFF2-40B4-BE49-F238E27FC236}">
                <a16:creationId xmlns:a16="http://schemas.microsoft.com/office/drawing/2014/main" id="{4A316918-5C2C-9F94-7503-94D23F023152}"/>
              </a:ext>
            </a:extLst>
          </p:cNvPr>
          <p:cNvSpPr/>
          <p:nvPr/>
        </p:nvSpPr>
        <p:spPr>
          <a:xfrm>
            <a:off x="1888588" y="941832"/>
            <a:ext cx="4438357" cy="3475425"/>
          </a:xfrm>
          <a:prstGeom prst="roundRect">
            <a:avLst>
              <a:gd name="adj" fmla="val 3279"/>
            </a:avLst>
          </a:prstGeom>
          <a:solidFill>
            <a:srgbClr val="FFFFFF"/>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sz="2400"/>
          </a:p>
        </p:txBody>
      </p:sp>
      <p:sp>
        <p:nvSpPr>
          <p:cNvPr id="70" name="Text 68">
            <a:extLst>
              <a:ext uri="{FF2B5EF4-FFF2-40B4-BE49-F238E27FC236}">
                <a16:creationId xmlns:a16="http://schemas.microsoft.com/office/drawing/2014/main" id="{6856AB8D-4770-CDAC-2470-2EA59CCC19AD}"/>
              </a:ext>
            </a:extLst>
          </p:cNvPr>
          <p:cNvSpPr/>
          <p:nvPr/>
        </p:nvSpPr>
        <p:spPr>
          <a:xfrm>
            <a:off x="2269198" y="1239011"/>
            <a:ext cx="3520048" cy="328226"/>
          </a:xfrm>
          <a:prstGeom prst="rect">
            <a:avLst/>
          </a:prstGeom>
          <a:noFill/>
          <a:ln/>
        </p:spPr>
        <p:txBody>
          <a:bodyPr wrap="square" lIns="0" tIns="0" rIns="0" bIns="0" rtlCol="0" anchor="ctr"/>
          <a:lstStyle/>
          <a:p>
            <a:pPr marL="0" indent="0" algn="l">
              <a:buNone/>
            </a:pPr>
            <a:r>
              <a:rPr lang="en-US" sz="1400" b="1" dirty="0">
                <a:solidFill>
                  <a:srgbClr val="1A3A5C"/>
                </a:solidFill>
                <a:latin typeface="Cambria" pitchFamily="34" charset="0"/>
                <a:ea typeface="Cambria" pitchFamily="34" charset="-122"/>
                <a:cs typeface="Cambria" pitchFamily="34" charset="-120"/>
              </a:rPr>
              <a:t>RandomizedSearchCV — Top 2 Models</a:t>
            </a:r>
            <a:endParaRPr lang="en-US" sz="1400" dirty="0"/>
          </a:p>
        </p:txBody>
      </p:sp>
      <p:sp>
        <p:nvSpPr>
          <p:cNvPr id="71" name="Text 69">
            <a:extLst>
              <a:ext uri="{FF2B5EF4-FFF2-40B4-BE49-F238E27FC236}">
                <a16:creationId xmlns:a16="http://schemas.microsoft.com/office/drawing/2014/main" id="{6B8E70EE-E50B-4906-1F78-B4946FD9546F}"/>
              </a:ext>
            </a:extLst>
          </p:cNvPr>
          <p:cNvSpPr/>
          <p:nvPr/>
        </p:nvSpPr>
        <p:spPr>
          <a:xfrm>
            <a:off x="2269198" y="1640644"/>
            <a:ext cx="3520048" cy="293059"/>
          </a:xfrm>
          <a:prstGeom prst="rect">
            <a:avLst/>
          </a:prstGeom>
          <a:noFill/>
          <a:ln/>
        </p:spPr>
        <p:txBody>
          <a:bodyPr wrap="square" lIns="0" tIns="0" rIns="0" bIns="0" rtlCol="0" anchor="ctr"/>
          <a:lstStyle/>
          <a:p>
            <a:pPr marL="0" indent="0" algn="l">
              <a:buNone/>
            </a:pPr>
            <a:r>
              <a:rPr lang="en-US" sz="1100" b="1" dirty="0">
                <a:solidFill>
                  <a:srgbClr val="2563EB"/>
                </a:solidFill>
                <a:latin typeface="Calibri" pitchFamily="34" charset="0"/>
                <a:ea typeface="Calibri" pitchFamily="34" charset="-122"/>
                <a:cs typeface="Calibri" pitchFamily="34" charset="-120"/>
              </a:rPr>
              <a:t>Random Forest</a:t>
            </a:r>
            <a:endParaRPr lang="en-US" sz="1100" dirty="0"/>
          </a:p>
        </p:txBody>
      </p:sp>
      <p:sp>
        <p:nvSpPr>
          <p:cNvPr id="72" name="Text 70">
            <a:extLst>
              <a:ext uri="{FF2B5EF4-FFF2-40B4-BE49-F238E27FC236}">
                <a16:creationId xmlns:a16="http://schemas.microsoft.com/office/drawing/2014/main" id="{AA836147-F6CA-54EE-6AAF-C1D13CE147D1}"/>
              </a:ext>
            </a:extLst>
          </p:cNvPr>
          <p:cNvSpPr/>
          <p:nvPr/>
        </p:nvSpPr>
        <p:spPr>
          <a:xfrm>
            <a:off x="2269198" y="1896677"/>
            <a:ext cx="3520048" cy="11136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n_estimators: [100, 200, 300]
• max_depth: [10, 20, 30, None]
• min_samples_split: [2,5,10]
• max_features: [sqrt, log2]
</a:t>
            </a:r>
            <a:endParaRPr lang="en-US" sz="1000" dirty="0"/>
          </a:p>
        </p:txBody>
      </p:sp>
      <p:sp>
        <p:nvSpPr>
          <p:cNvPr id="73" name="Text 71">
            <a:extLst>
              <a:ext uri="{FF2B5EF4-FFF2-40B4-BE49-F238E27FC236}">
                <a16:creationId xmlns:a16="http://schemas.microsoft.com/office/drawing/2014/main" id="{8CCD82DD-74AC-2395-A77F-2163FFCDEF83}"/>
              </a:ext>
            </a:extLst>
          </p:cNvPr>
          <p:cNvSpPr/>
          <p:nvPr/>
        </p:nvSpPr>
        <p:spPr>
          <a:xfrm>
            <a:off x="4469229" y="1634057"/>
            <a:ext cx="3520048" cy="293059"/>
          </a:xfrm>
          <a:prstGeom prst="rect">
            <a:avLst/>
          </a:prstGeom>
          <a:noFill/>
          <a:ln/>
        </p:spPr>
        <p:txBody>
          <a:bodyPr wrap="square" lIns="0" tIns="0" rIns="0" bIns="0" rtlCol="0" anchor="ctr"/>
          <a:lstStyle/>
          <a:p>
            <a:pPr marL="0" indent="0" algn="l">
              <a:buNone/>
            </a:pPr>
            <a:r>
              <a:rPr lang="en-US" sz="1100" b="1" dirty="0">
                <a:solidFill>
                  <a:srgbClr val="2563EB"/>
                </a:solidFill>
                <a:latin typeface="Calibri" pitchFamily="34" charset="0"/>
                <a:ea typeface="Calibri" pitchFamily="34" charset="-122"/>
                <a:cs typeface="Calibri" pitchFamily="34" charset="-120"/>
              </a:rPr>
              <a:t>XGBoost</a:t>
            </a:r>
            <a:endParaRPr lang="en-US" sz="1100" dirty="0"/>
          </a:p>
        </p:txBody>
      </p:sp>
      <p:sp>
        <p:nvSpPr>
          <p:cNvPr id="74" name="Text 72">
            <a:extLst>
              <a:ext uri="{FF2B5EF4-FFF2-40B4-BE49-F238E27FC236}">
                <a16:creationId xmlns:a16="http://schemas.microsoft.com/office/drawing/2014/main" id="{6F4B596D-2957-26AD-369F-5C02FFD6D4F8}"/>
              </a:ext>
            </a:extLst>
          </p:cNvPr>
          <p:cNvSpPr/>
          <p:nvPr/>
        </p:nvSpPr>
        <p:spPr>
          <a:xfrm>
            <a:off x="4469229" y="1847882"/>
            <a:ext cx="3520048" cy="11136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learning_rate: [0.01–0.2]
• max_depth: [3,5,7,10]
• subsample: [0.6–1.0]
• gamma, lambda, alpha
</a:t>
            </a:r>
            <a:endParaRPr lang="en-US" sz="1000" dirty="0"/>
          </a:p>
        </p:txBody>
      </p:sp>
      <p:sp>
        <p:nvSpPr>
          <p:cNvPr id="75" name="Shape 73">
            <a:extLst>
              <a:ext uri="{FF2B5EF4-FFF2-40B4-BE49-F238E27FC236}">
                <a16:creationId xmlns:a16="http://schemas.microsoft.com/office/drawing/2014/main" id="{E2925EF3-2073-FAFD-EE41-F556329508C6}"/>
              </a:ext>
            </a:extLst>
          </p:cNvPr>
          <p:cNvSpPr/>
          <p:nvPr/>
        </p:nvSpPr>
        <p:spPr>
          <a:xfrm>
            <a:off x="2110154" y="2951804"/>
            <a:ext cx="3960055" cy="844006"/>
          </a:xfrm>
          <a:prstGeom prst="roundRect">
            <a:avLst>
              <a:gd name="adj" fmla="val 11111"/>
            </a:avLst>
          </a:prstGeom>
          <a:solidFill>
            <a:srgbClr val="DBEAFE"/>
          </a:solidFill>
          <a:ln w="6350">
            <a:solidFill>
              <a:srgbClr val="2563EB"/>
            </a:solidFill>
            <a:prstDash val="solid"/>
          </a:ln>
        </p:spPr>
        <p:txBody>
          <a:bodyPr/>
          <a:lstStyle/>
          <a:p>
            <a:endParaRPr lang="en-US" sz="2400"/>
          </a:p>
        </p:txBody>
      </p:sp>
      <p:sp>
        <p:nvSpPr>
          <p:cNvPr id="76" name="Text 74">
            <a:extLst>
              <a:ext uri="{FF2B5EF4-FFF2-40B4-BE49-F238E27FC236}">
                <a16:creationId xmlns:a16="http://schemas.microsoft.com/office/drawing/2014/main" id="{D8495A6A-6E48-ED00-B31E-D7AA9CE5D38F}"/>
              </a:ext>
            </a:extLst>
          </p:cNvPr>
          <p:cNvSpPr/>
          <p:nvPr/>
        </p:nvSpPr>
        <p:spPr>
          <a:xfrm>
            <a:off x="2292742" y="3018624"/>
            <a:ext cx="3630050" cy="703338"/>
          </a:xfrm>
          <a:prstGeom prst="rect">
            <a:avLst/>
          </a:prstGeom>
          <a:noFill/>
          <a:ln/>
        </p:spPr>
        <p:txBody>
          <a:bodyPr wrap="square" lIns="0" tIns="0" rIns="0" bIns="0" rtlCol="0" anchor="t"/>
          <a:lstStyle/>
          <a:p>
            <a:pPr marL="0" indent="0" algn="l">
              <a:buNone/>
            </a:pPr>
            <a:r>
              <a:rPr lang="en-US" sz="1050" b="1" dirty="0">
                <a:solidFill>
                  <a:srgbClr val="1A3A5C"/>
                </a:solidFill>
                <a:latin typeface="Calibri" pitchFamily="34" charset="0"/>
                <a:ea typeface="Calibri" pitchFamily="34" charset="-122"/>
                <a:cs typeface="Calibri" pitchFamily="34" charset="-120"/>
              </a:rPr>
              <a:t>Scoring metric: </a:t>
            </a:r>
            <a:r>
              <a:rPr lang="en-US" sz="1050" b="1" dirty="0">
                <a:solidFill>
                  <a:srgbClr val="2563EB"/>
                </a:solidFill>
                <a:latin typeface="Calibri" pitchFamily="34" charset="0"/>
                <a:ea typeface="Calibri" pitchFamily="34" charset="-122"/>
                <a:cs typeface="Calibri" pitchFamily="34" charset="-120"/>
              </a:rPr>
              <a:t>average_precision (PR-AUC)
</a:t>
            </a:r>
            <a:r>
              <a:rPr lang="en-US" sz="1000" dirty="0">
                <a:solidFill>
                  <a:srgbClr val="475569"/>
                </a:solidFill>
                <a:latin typeface="Calibri" pitchFamily="34" charset="0"/>
                <a:ea typeface="Calibri" pitchFamily="34" charset="-122"/>
                <a:cs typeface="Calibri" pitchFamily="34" charset="-120"/>
              </a:rPr>
              <a:t>More informative than ROC-AUC under heavy imbalance. (Tuning used a 2% data subset for speed — best PR-AUC: 0.900.)</a:t>
            </a:r>
            <a:endParaRPr lang="en-US" sz="1050" dirty="0"/>
          </a:p>
        </p:txBody>
      </p:sp>
    </p:spTree>
    <p:extLst>
      <p:ext uri="{BB962C8B-B14F-4D97-AF65-F5344CB8AC3E}">
        <p14:creationId xmlns:p14="http://schemas.microsoft.com/office/powerpoint/2010/main" val="2627715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3A796EA-752C-A266-37E5-080271676A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A746AD2-62A3-C011-001A-2743B2B99178}"/>
              </a:ext>
            </a:extLst>
          </p:cNvPr>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6" name="Text 4">
            <a:extLst>
              <a:ext uri="{FF2B5EF4-FFF2-40B4-BE49-F238E27FC236}">
                <a16:creationId xmlns:a16="http://schemas.microsoft.com/office/drawing/2014/main" id="{8FB21272-C13D-92EF-D255-618FA5349133}"/>
              </a:ext>
            </a:extLst>
          </p:cNvPr>
          <p:cNvSpPr/>
          <p:nvPr/>
        </p:nvSpPr>
        <p:spPr>
          <a:xfrm>
            <a:off x="457200" y="164592"/>
            <a:ext cx="329184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4 · MODELLING — VALIDATION &amp; TUNING</a:t>
            </a:r>
            <a:endParaRPr lang="en-US" sz="700" dirty="0"/>
          </a:p>
        </p:txBody>
      </p:sp>
      <p:sp>
        <p:nvSpPr>
          <p:cNvPr id="7" name="Text 5">
            <a:extLst>
              <a:ext uri="{FF2B5EF4-FFF2-40B4-BE49-F238E27FC236}">
                <a16:creationId xmlns:a16="http://schemas.microsoft.com/office/drawing/2014/main" id="{9E3F70B9-BA37-58FF-08A7-62FD059A9EF0}"/>
              </a:ext>
            </a:extLst>
          </p:cNvPr>
          <p:cNvSpPr/>
          <p:nvPr/>
        </p:nvSpPr>
        <p:spPr>
          <a:xfrm>
            <a:off x="457200" y="448760"/>
            <a:ext cx="8046720" cy="502920"/>
          </a:xfrm>
          <a:prstGeom prst="rect">
            <a:avLst/>
          </a:prstGeom>
          <a:noFill/>
          <a:ln/>
        </p:spPr>
        <p:txBody>
          <a:bodyPr wrap="square" lIns="0" tIns="0" rIns="0" bIns="0" rtlCol="0" anchor="ctr"/>
          <a:lstStyle/>
          <a:p>
            <a:endParaRPr lang="en-US"/>
          </a:p>
          <a:p>
            <a:r>
              <a:rPr lang="en-US" sz="2600" b="1">
                <a:solidFill>
                  <a:srgbClr val="1A3A5C"/>
                </a:solidFill>
                <a:latin typeface="Cambria" pitchFamily="34" charset="0"/>
                <a:ea typeface="Cambria" pitchFamily="34" charset="-122"/>
              </a:rPr>
              <a:t>Final Model Training and Evaluation on Test Set</a:t>
            </a:r>
          </a:p>
          <a:p>
            <a:pPr marL="0" indent="0" algn="l">
              <a:buNone/>
            </a:pPr>
            <a:endParaRPr lang="en-US" sz="2600" dirty="0"/>
          </a:p>
        </p:txBody>
      </p:sp>
      <p:sp>
        <p:nvSpPr>
          <p:cNvPr id="8" name="Shape 6">
            <a:extLst>
              <a:ext uri="{FF2B5EF4-FFF2-40B4-BE49-F238E27FC236}">
                <a16:creationId xmlns:a16="http://schemas.microsoft.com/office/drawing/2014/main" id="{FDEA7B33-9CBD-F355-41F0-BFF50A3A7819}"/>
              </a:ext>
            </a:extLst>
          </p:cNvPr>
          <p:cNvSpPr/>
          <p:nvPr/>
        </p:nvSpPr>
        <p:spPr>
          <a:xfrm>
            <a:off x="1148275" y="1363862"/>
            <a:ext cx="3017520" cy="1828800"/>
          </a:xfrm>
          <a:prstGeom prst="roundRect">
            <a:avLst>
              <a:gd name="adj" fmla="val 5000"/>
            </a:avLst>
          </a:prstGeom>
          <a:solidFill>
            <a:srgbClr val="DBEAFE"/>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pic>
        <p:nvPicPr>
          <p:cNvPr id="10" name="Image 0" descr="preencoded.png">
            <a:extLst>
              <a:ext uri="{FF2B5EF4-FFF2-40B4-BE49-F238E27FC236}">
                <a16:creationId xmlns:a16="http://schemas.microsoft.com/office/drawing/2014/main" id="{EF28DBE6-071D-CA86-4807-7D12BEEFCA39}"/>
              </a:ext>
            </a:extLst>
          </p:cNvPr>
          <p:cNvPicPr>
            <a:picLocks noChangeAspect="1"/>
          </p:cNvPicPr>
          <p:nvPr/>
        </p:nvPicPr>
        <p:blipFill>
          <a:blip r:embed="rId3"/>
          <a:stretch>
            <a:fillRect/>
          </a:stretch>
        </p:blipFill>
        <p:spPr>
          <a:xfrm>
            <a:off x="1285435" y="1482734"/>
            <a:ext cx="347472" cy="347472"/>
          </a:xfrm>
          <a:prstGeom prst="rect">
            <a:avLst/>
          </a:prstGeom>
        </p:spPr>
      </p:pic>
      <p:sp>
        <p:nvSpPr>
          <p:cNvPr id="12" name="Text 7">
            <a:extLst>
              <a:ext uri="{FF2B5EF4-FFF2-40B4-BE49-F238E27FC236}">
                <a16:creationId xmlns:a16="http://schemas.microsoft.com/office/drawing/2014/main" id="{5640B754-2B51-C842-6E58-B3A53C0FE443}"/>
              </a:ext>
            </a:extLst>
          </p:cNvPr>
          <p:cNvSpPr/>
          <p:nvPr/>
        </p:nvSpPr>
        <p:spPr>
          <a:xfrm>
            <a:off x="1696915" y="1482734"/>
            <a:ext cx="2331720" cy="347472"/>
          </a:xfrm>
          <a:prstGeom prst="rect">
            <a:avLst/>
          </a:prstGeom>
          <a:noFill/>
          <a:ln/>
        </p:spPr>
        <p:txBody>
          <a:bodyPr wrap="square" lIns="0" tIns="0" rIns="0" bIns="0" rtlCol="0" anchor="ctr"/>
          <a:lstStyle/>
          <a:p>
            <a:pPr marL="0" indent="0" algn="l">
              <a:buNone/>
            </a:pPr>
            <a:r>
              <a:rPr lang="en-US" sz="1400" b="1" dirty="0">
                <a:solidFill>
                  <a:srgbClr val="1A3A5C"/>
                </a:solidFill>
                <a:latin typeface="Cambria" pitchFamily="34" charset="0"/>
                <a:ea typeface="Cambria" pitchFamily="34" charset="-122"/>
                <a:cs typeface="Cambria" pitchFamily="34" charset="-120"/>
              </a:rPr>
              <a:t>Tuned Models: Held-Out Test Set</a:t>
            </a:r>
            <a:endParaRPr lang="en-US" sz="1400" dirty="0"/>
          </a:p>
        </p:txBody>
      </p:sp>
      <p:sp>
        <p:nvSpPr>
          <p:cNvPr id="14" name="Text 8">
            <a:extLst>
              <a:ext uri="{FF2B5EF4-FFF2-40B4-BE49-F238E27FC236}">
                <a16:creationId xmlns:a16="http://schemas.microsoft.com/office/drawing/2014/main" id="{38AB192F-EB89-E933-09EE-926533CF8C65}"/>
              </a:ext>
            </a:extLst>
          </p:cNvPr>
          <p:cNvSpPr/>
          <p:nvPr/>
        </p:nvSpPr>
        <p:spPr>
          <a:xfrm>
            <a:off x="1285435" y="1894214"/>
            <a:ext cx="2743200" cy="1188720"/>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 XGBoost Recall: </a:t>
            </a:r>
            <a:r>
              <a:rPr lang="en-US" sz="950" dirty="0">
                <a:solidFill>
                  <a:srgbClr val="1E293B"/>
                </a:solidFill>
                <a:latin typeface="Calibri" pitchFamily="34" charset="0"/>
                <a:ea typeface="Calibri" pitchFamily="34" charset="-122"/>
                <a:cs typeface="Calibri" pitchFamily="34" charset="-120"/>
              </a:rPr>
              <a:t>85.3% (vs RF 77.9%) — most frauds caught
</a:t>
            </a:r>
            <a:r>
              <a:rPr lang="en-US" sz="950" b="1" dirty="0">
                <a:solidFill>
                  <a:srgbClr val="2563EB"/>
                </a:solidFill>
                <a:latin typeface="Calibri" pitchFamily="34" charset="0"/>
                <a:ea typeface="Calibri" pitchFamily="34" charset="-122"/>
                <a:cs typeface="Calibri" pitchFamily="34" charset="-120"/>
              </a:rPr>
              <a:t>• Random Forest PR-AUC: </a:t>
            </a:r>
            <a:r>
              <a:rPr lang="en-US" sz="950" dirty="0">
                <a:solidFill>
                  <a:srgbClr val="1E293B"/>
                </a:solidFill>
                <a:latin typeface="Calibri" pitchFamily="34" charset="0"/>
                <a:ea typeface="Calibri" pitchFamily="34" charset="-122"/>
                <a:cs typeface="Calibri" pitchFamily="34" charset="-120"/>
              </a:rPr>
              <a:t>0.820 (vs XGB 0.666)
• RF Precision: 84.1% vs XGBoost 9.1% — XGBoost over-flags legit transactions
• Missed frauds: RF 21 vs XGBoost 14 (of 95 test cases)
• False alarms: RF ~14 vs XGBoost ~813 legit transactions flagged</a:t>
            </a:r>
            <a:endParaRPr lang="en-US" sz="950" dirty="0"/>
          </a:p>
        </p:txBody>
      </p:sp>
      <p:sp>
        <p:nvSpPr>
          <p:cNvPr id="30" name="Shape Metrics Card"/>
          <p:cNvSpPr/>
          <p:nvPr/>
        </p:nvSpPr>
        <p:spPr>
          <a:xfrm>
            <a:off x="4500000" y="1363862"/>
            <a:ext cx="4186320" cy="1828800"/>
          </a:xfrm>
          <a:prstGeom prst="roundRect">
            <a:avLst>
              <a:gd name="adj" fmla="val 5000"/>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31" name="Text Metrics Header"/>
          <p:cNvSpPr/>
          <p:nvPr/>
        </p:nvSpPr>
        <p:spPr>
          <a:xfrm>
            <a:off x="4650000" y="1482734"/>
            <a:ext cx="3800000" cy="300000"/>
          </a:xfrm>
          <a:prstGeom prst="rect">
            <a:avLst/>
          </a:prstGeom>
          <a:noFill/>
          <a:ln/>
        </p:spPr>
        <p:txBody>
          <a:bodyPr wrap="square" lIns="0" tIns="0" rIns="0" bIns="0" rtlCol="0" anchor="ctr"/>
          <a:lstStyle/>
          <a:p>
            <a:pPr marL="0" indent="0" algn="l">
              <a:buNone/>
            </a:pPr>
            <a:r>
              <a:rPr lang="en-US" sz="1400" b="1" dirty="0">
                <a:solidFill>
                  <a:srgbClr val="1A3A5C"/>
                </a:solidFill>
                <a:latin typeface="Cambria" pitchFamily="34" charset="0"/>
                <a:ea typeface="Cambria" pitchFamily="34" charset="-122"/>
                <a:cs typeface="Cambria" pitchFamily="34" charset="-120"/>
              </a:rPr>
              <a:t>Key Metrics — Test Set</a:t>
            </a:r>
            <a:endParaRPr lang="en-US" sz="1400" dirty="0"/>
          </a:p>
        </p:txBody>
      </p:sp>
      <p:sp>
        <p:nvSpPr>
          <p:cNvPr id="32" name="Text Metrics Col Header Metric"/>
          <p:cNvSpPr/>
          <p:nvPr/>
        </p:nvSpPr>
        <p:spPr>
          <a:xfrm>
            <a:off x="4650000" y="1842734"/>
            <a:ext cx="1500000" cy="220000"/>
          </a:xfrm>
          <a:prstGeom prst="rect">
            <a:avLst/>
          </a:prstGeom>
          <a:noFill/>
          <a:ln/>
        </p:spPr>
        <p:txBody>
          <a:bodyPr wrap="square" lIns="0" tIns="0" rIns="0" bIns="0" rtlCol="0" anchor="ctr"/>
          <a:lstStyle/>
          <a:p>
            <a:pPr marL="0" indent="0" algn="l">
              <a:buNone/>
            </a:pPr>
            <a:r>
              <a:rPr lang="en-US" sz="800" b="1" dirty="0">
                <a:solidFill>
                  <a:srgbClr val="1A3A5C"/>
                </a:solidFill>
                <a:latin typeface="Calibri" pitchFamily="34" charset="0"/>
                <a:ea typeface="Calibri" pitchFamily="34" charset="-122"/>
                <a:cs typeface="Calibri" pitchFamily="34" charset="-120"/>
              </a:rPr>
              <a:t>Metric</a:t>
            </a:r>
            <a:endParaRPr lang="en-US" sz="800" dirty="0"/>
          </a:p>
        </p:txBody>
      </p:sp>
      <p:sp>
        <p:nvSpPr>
          <p:cNvPr id="33" name="Text Metrics Col Header RF"/>
          <p:cNvSpPr/>
          <p:nvPr/>
        </p:nvSpPr>
        <p:spPr>
          <a:xfrm>
            <a:off x="6200000" y="1842734"/>
            <a:ext cx="1200000" cy="220000"/>
          </a:xfrm>
          <a:prstGeom prst="rect">
            <a:avLst/>
          </a:prstGeom>
          <a:noFill/>
          <a:ln/>
        </p:spPr>
        <p:txBody>
          <a:bodyPr wrap="square" lIns="0" tIns="0" rIns="0" bIns="0" rtlCol="0" anchor="ctr"/>
          <a:lstStyle/>
          <a:p>
            <a:pPr marL="0" indent="0" algn="ctr">
              <a:buNone/>
            </a:pPr>
            <a:r>
              <a:rPr lang="en-US" sz="800" b="1" dirty="0">
                <a:solidFill>
                  <a:srgbClr val="1A3A5C"/>
                </a:solidFill>
                <a:latin typeface="Calibri" pitchFamily="34" charset="0"/>
                <a:ea typeface="Calibri" pitchFamily="34" charset="-122"/>
                <a:cs typeface="Calibri" pitchFamily="34" charset="-120"/>
              </a:rPr>
              <a:t>RF</a:t>
            </a:r>
            <a:endParaRPr lang="en-US" sz="800" dirty="0"/>
          </a:p>
        </p:txBody>
      </p:sp>
      <p:sp>
        <p:nvSpPr>
          <p:cNvPr id="34" name="Text Metrics Col Header XGB"/>
          <p:cNvSpPr/>
          <p:nvPr/>
        </p:nvSpPr>
        <p:spPr>
          <a:xfrm>
            <a:off x="7450000" y="1842734"/>
            <a:ext cx="1150000" cy="220000"/>
          </a:xfrm>
          <a:prstGeom prst="rect">
            <a:avLst/>
          </a:prstGeom>
          <a:noFill/>
          <a:ln/>
        </p:spPr>
        <p:txBody>
          <a:bodyPr wrap="square" lIns="0" tIns="0" rIns="0" bIns="0" rtlCol="0" anchor="ctr"/>
          <a:lstStyle/>
          <a:p>
            <a:pPr marL="0" indent="0" algn="ctr">
              <a:buNone/>
            </a:pPr>
            <a:r>
              <a:rPr lang="en-US" sz="800" b="1" dirty="0">
                <a:solidFill>
                  <a:srgbClr val="1A3A5C"/>
                </a:solidFill>
                <a:latin typeface="Calibri" pitchFamily="34" charset="0"/>
                <a:ea typeface="Calibri" pitchFamily="34" charset="-122"/>
                <a:cs typeface="Calibri" pitchFamily="34" charset="-120"/>
              </a:rPr>
              <a:t>XGBoost</a:t>
            </a:r>
            <a:endParaRPr lang="en-US" sz="800" dirty="0"/>
          </a:p>
        </p:txBody>
      </p:sp>
      <p:sp>
        <p:nvSpPr>
          <p:cNvPr id="40" name="Metric Label 0"/>
          <p:cNvSpPr/>
          <p:nvPr/>
        </p:nvSpPr>
        <p:spPr>
          <a:xfrm>
            <a:off x="4650000" y="2062734"/>
            <a:ext cx="1500000" cy="220000"/>
          </a:xfrm>
          <a:prstGeom prst="rect">
            <a:avLst/>
          </a:prstGeom>
          <a:noFill/>
          <a:ln/>
        </p:spPr>
        <p:txBody>
          <a:bodyPr wrap="square" lIns="0" tIns="0" rIns="0" bIns="0" rtlCol="0" anchor="ctr"/>
          <a:lstStyle/>
          <a:p>
            <a:pPr marL="0" indent="0" algn="l">
              <a:buNone/>
            </a:pPr>
            <a:r>
              <a:rPr lang="en-US" sz="800" dirty="0">
                <a:solidFill>
                  <a:srgbClr val="475569"/>
                </a:solidFill>
                <a:latin typeface="Calibri" pitchFamily="34" charset="0"/>
                <a:ea typeface="Calibri" pitchFamily="34" charset="-122"/>
                <a:cs typeface="Calibri" pitchFamily="34" charset="-120"/>
              </a:rPr>
              <a:t>Accuracy</a:t>
            </a:r>
            <a:endParaRPr lang="en-US" sz="800" dirty="0"/>
          </a:p>
        </p:txBody>
      </p:sp>
      <p:sp>
        <p:nvSpPr>
          <p:cNvPr id="41" name="RF Value 0"/>
          <p:cNvSpPr/>
          <p:nvPr/>
        </p:nvSpPr>
        <p:spPr>
          <a:xfrm>
            <a:off x="6200000" y="2062734"/>
            <a:ext cx="1200000" cy="220000"/>
          </a:xfrm>
          <a:prstGeom prst="rect">
            <a:avLst/>
          </a:prstGeom>
          <a:noFill/>
          <a:ln/>
        </p:spPr>
        <p:txBody>
          <a:bodyPr wrap="square" lIns="0" tIns="0" rIns="0" bIns="0" rtlCol="0" anchor="ctr"/>
          <a:lstStyle/>
          <a:p>
            <a:pPr marL="0" indent="0" algn="ctr">
              <a:buNone/>
            </a:pPr>
            <a:r>
              <a:rPr lang="en-US" sz="800" b="1" dirty="0">
                <a:solidFill>
                  <a:srgbClr val="1E293B"/>
                </a:solidFill>
                <a:latin typeface="Calibri" pitchFamily="34" charset="0"/>
                <a:ea typeface="Calibri" pitchFamily="34" charset="-122"/>
                <a:cs typeface="Calibri" pitchFamily="34" charset="-120"/>
              </a:rPr>
              <a:t>99.9%</a:t>
            </a:r>
            <a:endParaRPr lang="en-US" sz="800" dirty="0"/>
          </a:p>
        </p:txBody>
      </p:sp>
      <p:sp>
        <p:nvSpPr>
          <p:cNvPr id="42" name="XGB Value 0"/>
          <p:cNvSpPr/>
          <p:nvPr/>
        </p:nvSpPr>
        <p:spPr>
          <a:xfrm>
            <a:off x="7450000" y="2062734"/>
            <a:ext cx="1150000" cy="220000"/>
          </a:xfrm>
          <a:prstGeom prst="rect">
            <a:avLst/>
          </a:prstGeom>
          <a:noFill/>
          <a:ln/>
        </p:spPr>
        <p:txBody>
          <a:bodyPr wrap="square" lIns="0" tIns="0" rIns="0" bIns="0" rtlCol="0" anchor="ctr"/>
          <a:lstStyle/>
          <a:p>
            <a:pPr marL="0" indent="0" algn="ctr">
              <a:buNone/>
            </a:pPr>
            <a:r>
              <a:rPr lang="en-US" sz="800" b="1" dirty="0">
                <a:solidFill>
                  <a:srgbClr val="1E293B"/>
                </a:solidFill>
                <a:latin typeface="Calibri" pitchFamily="34" charset="0"/>
                <a:ea typeface="Calibri" pitchFamily="34" charset="-122"/>
                <a:cs typeface="Calibri" pitchFamily="34" charset="-120"/>
              </a:rPr>
              <a:t>98.5%</a:t>
            </a:r>
            <a:endParaRPr lang="en-US" sz="800" dirty="0"/>
          </a:p>
        </p:txBody>
      </p:sp>
      <p:sp>
        <p:nvSpPr>
          <p:cNvPr id="43" name="Metric Label 1"/>
          <p:cNvSpPr/>
          <p:nvPr/>
        </p:nvSpPr>
        <p:spPr>
          <a:xfrm>
            <a:off x="4650000" y="2282734"/>
            <a:ext cx="1500000" cy="220000"/>
          </a:xfrm>
          <a:prstGeom prst="rect">
            <a:avLst/>
          </a:prstGeom>
          <a:noFill/>
          <a:ln/>
        </p:spPr>
        <p:txBody>
          <a:bodyPr wrap="square" lIns="0" tIns="0" rIns="0" bIns="0" rtlCol="0" anchor="ctr"/>
          <a:lstStyle/>
          <a:p>
            <a:pPr marL="0" indent="0" algn="l">
              <a:buNone/>
            </a:pPr>
            <a:r>
              <a:rPr lang="en-US" sz="800" dirty="0">
                <a:solidFill>
                  <a:srgbClr val="475569"/>
                </a:solidFill>
                <a:latin typeface="Calibri" pitchFamily="34" charset="0"/>
                <a:ea typeface="Calibri" pitchFamily="34" charset="-122"/>
                <a:cs typeface="Calibri" pitchFamily="34" charset="-120"/>
              </a:rPr>
              <a:t>Precision</a:t>
            </a:r>
            <a:endParaRPr lang="en-US" sz="800" dirty="0"/>
          </a:p>
        </p:txBody>
      </p:sp>
      <p:sp>
        <p:nvSpPr>
          <p:cNvPr id="44" name="RF Value 1"/>
          <p:cNvSpPr/>
          <p:nvPr/>
        </p:nvSpPr>
        <p:spPr>
          <a:xfrm>
            <a:off x="6200000" y="2282734"/>
            <a:ext cx="1200000" cy="220000"/>
          </a:xfrm>
          <a:prstGeom prst="rect">
            <a:avLst/>
          </a:prstGeom>
          <a:noFill/>
          <a:ln/>
        </p:spPr>
        <p:txBody>
          <a:bodyPr wrap="square" lIns="0" tIns="0" rIns="0" bIns="0" rtlCol="0" anchor="ctr"/>
          <a:lstStyle/>
          <a:p>
            <a:pPr marL="0" indent="0" algn="ctr">
              <a:buNone/>
            </a:pPr>
            <a:r>
              <a:rPr lang="en-US" sz="800" b="1" dirty="0">
                <a:solidFill>
                  <a:srgbClr val="059669"/>
                </a:solidFill>
                <a:latin typeface="Calibri" pitchFamily="34" charset="0"/>
                <a:ea typeface="Calibri" pitchFamily="34" charset="-122"/>
                <a:cs typeface="Calibri" pitchFamily="34" charset="-120"/>
              </a:rPr>
              <a:t>84.1%</a:t>
            </a:r>
            <a:endParaRPr lang="en-US" sz="800" dirty="0"/>
          </a:p>
        </p:txBody>
      </p:sp>
      <p:sp>
        <p:nvSpPr>
          <p:cNvPr id="45" name="XGB Value 1"/>
          <p:cNvSpPr/>
          <p:nvPr/>
        </p:nvSpPr>
        <p:spPr>
          <a:xfrm>
            <a:off x="7450000" y="2282734"/>
            <a:ext cx="1150000" cy="220000"/>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9.1%</a:t>
            </a:r>
            <a:endParaRPr lang="en-US" sz="800" dirty="0"/>
          </a:p>
        </p:txBody>
      </p:sp>
      <p:sp>
        <p:nvSpPr>
          <p:cNvPr id="46" name="Metric Label 2"/>
          <p:cNvSpPr/>
          <p:nvPr/>
        </p:nvSpPr>
        <p:spPr>
          <a:xfrm>
            <a:off x="4650000" y="2502734"/>
            <a:ext cx="1500000" cy="220000"/>
          </a:xfrm>
          <a:prstGeom prst="rect">
            <a:avLst/>
          </a:prstGeom>
          <a:noFill/>
          <a:ln/>
        </p:spPr>
        <p:txBody>
          <a:bodyPr wrap="square" lIns="0" tIns="0" rIns="0" bIns="0" rtlCol="0" anchor="ctr"/>
          <a:lstStyle/>
          <a:p>
            <a:pPr marL="0" indent="0" algn="l">
              <a:buNone/>
            </a:pPr>
            <a:r>
              <a:rPr lang="en-US" sz="800" dirty="0">
                <a:solidFill>
                  <a:srgbClr val="475569"/>
                </a:solidFill>
                <a:latin typeface="Calibri" pitchFamily="34" charset="0"/>
                <a:ea typeface="Calibri" pitchFamily="34" charset="-122"/>
                <a:cs typeface="Calibri" pitchFamily="34" charset="-120"/>
              </a:rPr>
              <a:t>Recall</a:t>
            </a:r>
            <a:endParaRPr lang="en-US" sz="800" dirty="0"/>
          </a:p>
        </p:txBody>
      </p:sp>
      <p:sp>
        <p:nvSpPr>
          <p:cNvPr id="47" name="RF Value 2"/>
          <p:cNvSpPr/>
          <p:nvPr/>
        </p:nvSpPr>
        <p:spPr>
          <a:xfrm>
            <a:off x="6200000" y="2502734"/>
            <a:ext cx="1200000" cy="220000"/>
          </a:xfrm>
          <a:prstGeom prst="rect">
            <a:avLst/>
          </a:prstGeom>
          <a:noFill/>
          <a:ln/>
        </p:spPr>
        <p:txBody>
          <a:bodyPr wrap="square" lIns="0" tIns="0" rIns="0" bIns="0" rtlCol="0" anchor="ctr"/>
          <a:lstStyle/>
          <a:p>
            <a:pPr marL="0" indent="0" algn="ctr">
              <a:buNone/>
            </a:pPr>
            <a:r>
              <a:rPr lang="en-US" sz="800" b="1" dirty="0">
                <a:solidFill>
                  <a:srgbClr val="1E293B"/>
                </a:solidFill>
                <a:latin typeface="Calibri" pitchFamily="34" charset="0"/>
                <a:ea typeface="Calibri" pitchFamily="34" charset="-122"/>
                <a:cs typeface="Calibri" pitchFamily="34" charset="-120"/>
              </a:rPr>
              <a:t>77.9%</a:t>
            </a:r>
            <a:endParaRPr lang="en-US" sz="800" dirty="0"/>
          </a:p>
        </p:txBody>
      </p:sp>
      <p:sp>
        <p:nvSpPr>
          <p:cNvPr id="48" name="XGB Value 2"/>
          <p:cNvSpPr/>
          <p:nvPr/>
        </p:nvSpPr>
        <p:spPr>
          <a:xfrm>
            <a:off x="7450000" y="2502734"/>
            <a:ext cx="1150000" cy="220000"/>
          </a:xfrm>
          <a:prstGeom prst="rect">
            <a:avLst/>
          </a:prstGeom>
          <a:noFill/>
          <a:ln/>
        </p:spPr>
        <p:txBody>
          <a:bodyPr wrap="square" lIns="0" tIns="0" rIns="0" bIns="0" rtlCol="0" anchor="ctr"/>
          <a:lstStyle/>
          <a:p>
            <a:pPr marL="0" indent="0" algn="ctr">
              <a:buNone/>
            </a:pPr>
            <a:r>
              <a:rPr lang="en-US" sz="800" b="1" dirty="0">
                <a:solidFill>
                  <a:srgbClr val="059669"/>
                </a:solidFill>
                <a:latin typeface="Calibri" pitchFamily="34" charset="0"/>
                <a:ea typeface="Calibri" pitchFamily="34" charset="-122"/>
                <a:cs typeface="Calibri" pitchFamily="34" charset="-120"/>
              </a:rPr>
              <a:t>85.3%</a:t>
            </a:r>
            <a:endParaRPr lang="en-US" sz="800" dirty="0"/>
          </a:p>
        </p:txBody>
      </p:sp>
      <p:sp>
        <p:nvSpPr>
          <p:cNvPr id="49" name="Metric Label 3"/>
          <p:cNvSpPr/>
          <p:nvPr/>
        </p:nvSpPr>
        <p:spPr>
          <a:xfrm>
            <a:off x="4650000" y="2722734"/>
            <a:ext cx="1500000" cy="220000"/>
          </a:xfrm>
          <a:prstGeom prst="rect">
            <a:avLst/>
          </a:prstGeom>
          <a:noFill/>
          <a:ln/>
        </p:spPr>
        <p:txBody>
          <a:bodyPr wrap="square" lIns="0" tIns="0" rIns="0" bIns="0" rtlCol="0" anchor="ctr"/>
          <a:lstStyle/>
          <a:p>
            <a:pPr marL="0" indent="0" algn="l">
              <a:buNone/>
            </a:pPr>
            <a:r>
              <a:rPr lang="en-US" sz="800" dirty="0">
                <a:solidFill>
                  <a:srgbClr val="475569"/>
                </a:solidFill>
                <a:latin typeface="Calibri" pitchFamily="34" charset="0"/>
                <a:ea typeface="Calibri" pitchFamily="34" charset="-122"/>
                <a:cs typeface="Calibri" pitchFamily="34" charset="-120"/>
              </a:rPr>
              <a:t>F1-Score</a:t>
            </a:r>
            <a:endParaRPr lang="en-US" sz="800" dirty="0"/>
          </a:p>
        </p:txBody>
      </p:sp>
      <p:sp>
        <p:nvSpPr>
          <p:cNvPr id="50" name="RF Value 3"/>
          <p:cNvSpPr/>
          <p:nvPr/>
        </p:nvSpPr>
        <p:spPr>
          <a:xfrm>
            <a:off x="6200000" y="2722734"/>
            <a:ext cx="1200000" cy="220000"/>
          </a:xfrm>
          <a:prstGeom prst="rect">
            <a:avLst/>
          </a:prstGeom>
          <a:noFill/>
          <a:ln/>
        </p:spPr>
        <p:txBody>
          <a:bodyPr wrap="square" lIns="0" tIns="0" rIns="0" bIns="0" rtlCol="0" anchor="ctr"/>
          <a:lstStyle/>
          <a:p>
            <a:pPr marL="0" indent="0" algn="ctr">
              <a:buNone/>
            </a:pPr>
            <a:r>
              <a:rPr lang="en-US" sz="800" b="1" dirty="0">
                <a:solidFill>
                  <a:srgbClr val="059669"/>
                </a:solidFill>
                <a:latin typeface="Calibri" pitchFamily="34" charset="0"/>
                <a:ea typeface="Calibri" pitchFamily="34" charset="-122"/>
                <a:cs typeface="Calibri" pitchFamily="34" charset="-120"/>
              </a:rPr>
              <a:t>80.9%</a:t>
            </a:r>
            <a:endParaRPr lang="en-US" sz="800" dirty="0"/>
          </a:p>
        </p:txBody>
      </p:sp>
      <p:sp>
        <p:nvSpPr>
          <p:cNvPr id="51" name="XGB Value 3"/>
          <p:cNvSpPr/>
          <p:nvPr/>
        </p:nvSpPr>
        <p:spPr>
          <a:xfrm>
            <a:off x="7450000" y="2722734"/>
            <a:ext cx="1150000" cy="220000"/>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16.4%</a:t>
            </a:r>
            <a:endParaRPr lang="en-US" sz="800" dirty="0"/>
          </a:p>
        </p:txBody>
      </p:sp>
      <p:sp>
        <p:nvSpPr>
          <p:cNvPr id="52" name="Metric Label 4"/>
          <p:cNvSpPr/>
          <p:nvPr/>
        </p:nvSpPr>
        <p:spPr>
          <a:xfrm>
            <a:off x="4650000" y="2942734"/>
            <a:ext cx="1500000" cy="220000"/>
          </a:xfrm>
          <a:prstGeom prst="rect">
            <a:avLst/>
          </a:prstGeom>
          <a:noFill/>
          <a:ln/>
        </p:spPr>
        <p:txBody>
          <a:bodyPr wrap="square" lIns="0" tIns="0" rIns="0" bIns="0" rtlCol="0" anchor="ctr"/>
          <a:lstStyle/>
          <a:p>
            <a:pPr marL="0" indent="0" algn="l">
              <a:buNone/>
            </a:pPr>
            <a:r>
              <a:rPr lang="en-US" sz="800" dirty="0">
                <a:solidFill>
                  <a:srgbClr val="475569"/>
                </a:solidFill>
                <a:latin typeface="Calibri" pitchFamily="34" charset="0"/>
                <a:ea typeface="Calibri" pitchFamily="34" charset="-122"/>
                <a:cs typeface="Calibri" pitchFamily="34" charset="-120"/>
              </a:rPr>
              <a:t>PR-AUC</a:t>
            </a:r>
            <a:endParaRPr lang="en-US" sz="800" dirty="0"/>
          </a:p>
        </p:txBody>
      </p:sp>
      <p:sp>
        <p:nvSpPr>
          <p:cNvPr id="53" name="RF Value 4"/>
          <p:cNvSpPr/>
          <p:nvPr/>
        </p:nvSpPr>
        <p:spPr>
          <a:xfrm>
            <a:off x="6200000" y="2942734"/>
            <a:ext cx="1200000" cy="220000"/>
          </a:xfrm>
          <a:prstGeom prst="rect">
            <a:avLst/>
          </a:prstGeom>
          <a:noFill/>
          <a:ln/>
        </p:spPr>
        <p:txBody>
          <a:bodyPr wrap="square" lIns="0" tIns="0" rIns="0" bIns="0" rtlCol="0" anchor="ctr"/>
          <a:lstStyle/>
          <a:p>
            <a:pPr marL="0" indent="0" algn="ctr">
              <a:buNone/>
            </a:pPr>
            <a:r>
              <a:rPr lang="en-US" sz="800" b="1" dirty="0">
                <a:solidFill>
                  <a:srgbClr val="059669"/>
                </a:solidFill>
                <a:latin typeface="Calibri" pitchFamily="34" charset="0"/>
                <a:ea typeface="Calibri" pitchFamily="34" charset="-122"/>
                <a:cs typeface="Calibri" pitchFamily="34" charset="-120"/>
              </a:rPr>
              <a:t>0.820</a:t>
            </a:r>
            <a:endParaRPr lang="en-US" sz="800" dirty="0"/>
          </a:p>
        </p:txBody>
      </p:sp>
      <p:sp>
        <p:nvSpPr>
          <p:cNvPr id="54" name="XGB Value 4"/>
          <p:cNvSpPr/>
          <p:nvPr/>
        </p:nvSpPr>
        <p:spPr>
          <a:xfrm>
            <a:off x="7450000" y="2942734"/>
            <a:ext cx="1150000" cy="220000"/>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0.666</a:t>
            </a:r>
            <a:endParaRPr lang="en-US" sz="800" dirty="0"/>
          </a:p>
        </p:txBody>
      </p:sp>
      <p:sp>
        <p:nvSpPr>
          <p:cNvPr id="16" name="Shape 3">
            <a:extLst>
              <a:ext uri="{FF2B5EF4-FFF2-40B4-BE49-F238E27FC236}">
                <a16:creationId xmlns:a16="http://schemas.microsoft.com/office/drawing/2014/main" id="{B673CA76-E695-AA7F-1DB9-DDB24B6A222D}"/>
              </a:ext>
            </a:extLst>
          </p:cNvPr>
          <p:cNvSpPr/>
          <p:nvPr/>
        </p:nvSpPr>
        <p:spPr>
          <a:xfrm>
            <a:off x="457200" y="164592"/>
            <a:ext cx="2926080" cy="237744"/>
          </a:xfrm>
          <a:prstGeom prst="roundRect">
            <a:avLst>
              <a:gd name="adj" fmla="val 50000"/>
            </a:avLst>
          </a:prstGeom>
          <a:solidFill>
            <a:srgbClr val="2563EB"/>
          </a:solidFill>
          <a:ln w="12700">
            <a:solidFill>
              <a:srgbClr val="2563EB"/>
            </a:solidFill>
            <a:prstDash val="solid"/>
          </a:ln>
        </p:spPr>
        <p:txBody>
          <a:bodyPr/>
          <a:lstStyle/>
          <a:p>
            <a:endParaRPr lang="en-US"/>
          </a:p>
        </p:txBody>
      </p:sp>
      <p:sp>
        <p:nvSpPr>
          <p:cNvPr id="18" name="TextBox 17">
            <a:extLst>
              <a:ext uri="{FF2B5EF4-FFF2-40B4-BE49-F238E27FC236}">
                <a16:creationId xmlns:a16="http://schemas.microsoft.com/office/drawing/2014/main" id="{6D6AEF31-560A-CA6D-6397-7D8A3509C598}"/>
              </a:ext>
            </a:extLst>
          </p:cNvPr>
          <p:cNvSpPr txBox="1"/>
          <p:nvPr/>
        </p:nvSpPr>
        <p:spPr>
          <a:xfrm>
            <a:off x="-369277" y="156542"/>
            <a:ext cx="4579034" cy="215444"/>
          </a:xfrm>
          <a:prstGeom prst="rect">
            <a:avLst/>
          </a:prstGeom>
          <a:noFill/>
        </p:spPr>
        <p:txBody>
          <a:bodyPr wrap="square">
            <a:spAutoFit/>
          </a:bodyPr>
          <a:lstStyle/>
          <a:p>
            <a:pPr marL="0" indent="0" algn="ctr">
              <a:buNone/>
            </a:pPr>
            <a:r>
              <a:rPr lang="en-US" sz="800" b="1" kern="0" spc="150">
                <a:solidFill>
                  <a:srgbClr val="FFFFFF"/>
                </a:solidFill>
              </a:rPr>
              <a:t>PHASE 5 · EVALUATION — FEATURE INSIGHTS</a:t>
            </a:r>
            <a:endParaRPr lang="en-US" sz="800" dirty="0"/>
          </a:p>
        </p:txBody>
      </p:sp>
      <p:sp>
        <p:nvSpPr>
          <p:cNvPr id="11" name="Shape 73">
            <a:extLst>
              <a:ext uri="{FF2B5EF4-FFF2-40B4-BE49-F238E27FC236}">
                <a16:creationId xmlns:a16="http://schemas.microsoft.com/office/drawing/2014/main" id="{4573910D-ED0B-DEA4-51D6-8D61A27663D4}"/>
              </a:ext>
            </a:extLst>
          </p:cNvPr>
          <p:cNvSpPr/>
          <p:nvPr/>
        </p:nvSpPr>
        <p:spPr>
          <a:xfrm>
            <a:off x="2363372" y="3475623"/>
            <a:ext cx="4621237" cy="844006"/>
          </a:xfrm>
          <a:prstGeom prst="roundRect">
            <a:avLst>
              <a:gd name="adj" fmla="val 11111"/>
            </a:avLst>
          </a:prstGeom>
          <a:solidFill>
            <a:srgbClr val="DBEAFE"/>
          </a:solidFill>
          <a:ln w="6350">
            <a:solidFill>
              <a:srgbClr val="2563EB"/>
            </a:solidFill>
            <a:prstDash val="solid"/>
          </a:ln>
        </p:spPr>
        <p:txBody>
          <a:bodyPr/>
          <a:lstStyle/>
          <a:p>
            <a:pPr algn="ctr"/>
            <a:r>
              <a:rPr lang="en-US" b="1">
                <a:solidFill>
                  <a:srgbClr val="1A3A5C"/>
                </a:solidFill>
                <a:latin typeface="Cambria" pitchFamily="34" charset="0"/>
                <a:ea typeface="Cambria" pitchFamily="34" charset="-122"/>
              </a:rPr>
              <a:t>Random Forest performs better than XGBoost on test set</a:t>
            </a:r>
          </a:p>
        </p:txBody>
      </p:sp>
    </p:spTree>
    <p:extLst>
      <p:ext uri="{BB962C8B-B14F-4D97-AF65-F5344CB8AC3E}">
        <p14:creationId xmlns:p14="http://schemas.microsoft.com/office/powerpoint/2010/main" val="1821046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Shape 3"/>
          <p:cNvSpPr/>
          <p:nvPr/>
        </p:nvSpPr>
        <p:spPr>
          <a:xfrm>
            <a:off x="457200" y="164592"/>
            <a:ext cx="2926080" cy="237744"/>
          </a:xfrm>
          <a:prstGeom prst="roundRect">
            <a:avLst>
              <a:gd name="adj" fmla="val 50000"/>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457200" y="164592"/>
            <a:ext cx="292608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5 · EVALUATION — FEATURE INSIGHTS</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Random Forest Feature Importance</a:t>
            </a:r>
            <a:endParaRPr lang="en-US" sz="2600" dirty="0"/>
          </a:p>
        </p:txBody>
      </p:sp>
      <p:graphicFrame>
        <p:nvGraphicFramePr>
          <p:cNvPr id="8" name="Chart 0"/>
          <p:cNvGraphicFramePr/>
          <p:nvPr/>
        </p:nvGraphicFramePr>
        <p:xfrm>
          <a:off x="320040" y="987552"/>
          <a:ext cx="53035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5760720" y="987552"/>
            <a:ext cx="3063240" cy="3108960"/>
          </a:xfrm>
          <a:prstGeom prst="roundRect">
            <a:avLst>
              <a:gd name="adj" fmla="val 2985"/>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0" name="Text 7"/>
          <p:cNvSpPr/>
          <p:nvPr/>
        </p:nvSpPr>
        <p:spPr>
          <a:xfrm>
            <a:off x="5943600" y="1078992"/>
            <a:ext cx="2743200" cy="256032"/>
          </a:xfrm>
          <a:prstGeom prst="rect">
            <a:avLst/>
          </a:prstGeom>
          <a:noFill/>
          <a:ln/>
        </p:spPr>
        <p:txBody>
          <a:bodyPr wrap="square" lIns="0" tIns="0" rIns="0" bIns="0" rtlCol="0" anchor="ctr"/>
          <a:lstStyle/>
          <a:p>
            <a:pPr marL="0" indent="0" algn="l">
              <a:buNone/>
            </a:pPr>
            <a:r>
              <a:rPr lang="en-US" sz="1300" b="1" dirty="0">
                <a:solidFill>
                  <a:srgbClr val="1A3A5C"/>
                </a:solidFill>
                <a:latin typeface="Cambria" pitchFamily="34" charset="0"/>
                <a:ea typeface="Cambria" pitchFamily="34" charset="-122"/>
                <a:cs typeface="Cambria" pitchFamily="34" charset="-120"/>
              </a:rPr>
              <a:t>Key Observations</a:t>
            </a:r>
            <a:endParaRPr lang="en-US" sz="1300" dirty="0"/>
          </a:p>
        </p:txBody>
      </p:sp>
      <p:sp>
        <p:nvSpPr>
          <p:cNvPr id="11" name="Shape 8"/>
          <p:cNvSpPr/>
          <p:nvPr/>
        </p:nvSpPr>
        <p:spPr>
          <a:xfrm>
            <a:off x="5943600" y="1417320"/>
            <a:ext cx="2560320" cy="566928"/>
          </a:xfrm>
          <a:prstGeom prst="roundRect">
            <a:avLst>
              <a:gd name="adj" fmla="val 11290"/>
            </a:avLst>
          </a:prstGeom>
          <a:solidFill>
            <a:srgbClr val="DBEAFE"/>
          </a:solidFill>
          <a:ln w="6350">
            <a:solidFill>
              <a:srgbClr val="E2E8F0"/>
            </a:solidFill>
            <a:prstDash val="solid"/>
          </a:ln>
        </p:spPr>
        <p:txBody>
          <a:bodyPr/>
          <a:lstStyle/>
          <a:p>
            <a:endParaRPr lang="en-US"/>
          </a:p>
        </p:txBody>
      </p:sp>
      <p:sp>
        <p:nvSpPr>
          <p:cNvPr id="12" name="Text 9"/>
          <p:cNvSpPr/>
          <p:nvPr/>
        </p:nvSpPr>
        <p:spPr>
          <a:xfrm>
            <a:off x="6080760" y="1463040"/>
            <a:ext cx="2377440" cy="475488"/>
          </a:xfrm>
          <a:prstGeom prst="rect">
            <a:avLst/>
          </a:prstGeom>
          <a:noFill/>
          <a:ln/>
        </p:spPr>
        <p:txBody>
          <a:bodyPr wrap="square" lIns="0" tIns="0" rIns="0" bIns="0" rtlCol="0" anchor="t"/>
          <a:lstStyle/>
          <a:p>
            <a:pPr marL="0" indent="0" algn="l">
              <a:buNone/>
            </a:pPr>
            <a:r>
              <a:rPr lang="en-US" sz="950" b="1" dirty="0">
                <a:solidFill>
                  <a:srgbClr val="1A3A5C"/>
                </a:solidFill>
                <a:latin typeface="Cambria" pitchFamily="34" charset="0"/>
                <a:ea typeface="Cambria" pitchFamily="34" charset="-122"/>
                <a:cs typeface="Cambria" pitchFamily="34" charset="-120"/>
              </a:rPr>
              <a:t>V14 leads
</a:t>
            </a:r>
            <a:r>
              <a:rPr lang="en-US" sz="850" dirty="0">
                <a:solidFill>
                  <a:srgbClr val="475569"/>
                </a:solidFill>
                <a:latin typeface="Calibri" pitchFamily="34" charset="0"/>
                <a:ea typeface="Calibri" pitchFamily="34" charset="-122"/>
                <a:cs typeface="Calibri" pitchFamily="34" charset="-120"/>
              </a:rPr>
              <a:t>Highest Random Forest importance among all 28 PCA components (20.9% of total Gini importance) — roughly 1.7× the next-ranked feature (V10).</a:t>
            </a:r>
            <a:endParaRPr lang="en-US" sz="950" dirty="0"/>
          </a:p>
        </p:txBody>
      </p:sp>
      <p:sp>
        <p:nvSpPr>
          <p:cNvPr id="13" name="Shape 10"/>
          <p:cNvSpPr/>
          <p:nvPr/>
        </p:nvSpPr>
        <p:spPr>
          <a:xfrm>
            <a:off x="5943600" y="2075688"/>
            <a:ext cx="2560320" cy="566928"/>
          </a:xfrm>
          <a:prstGeom prst="roundRect">
            <a:avLst>
              <a:gd name="adj" fmla="val 11290"/>
            </a:avLst>
          </a:prstGeom>
          <a:solidFill>
            <a:srgbClr val="DBEAFE"/>
          </a:solidFill>
          <a:ln w="6350">
            <a:solidFill>
              <a:srgbClr val="E2E8F0"/>
            </a:solidFill>
            <a:prstDash val="solid"/>
          </a:ln>
        </p:spPr>
        <p:txBody>
          <a:bodyPr/>
          <a:lstStyle/>
          <a:p>
            <a:endParaRPr lang="en-US"/>
          </a:p>
        </p:txBody>
      </p:sp>
      <p:sp>
        <p:nvSpPr>
          <p:cNvPr id="14" name="Text 11"/>
          <p:cNvSpPr/>
          <p:nvPr/>
        </p:nvSpPr>
        <p:spPr>
          <a:xfrm>
            <a:off x="6080760" y="2107340"/>
            <a:ext cx="2377440" cy="475488"/>
          </a:xfrm>
          <a:prstGeom prst="rect">
            <a:avLst/>
          </a:prstGeom>
          <a:noFill/>
          <a:ln/>
        </p:spPr>
        <p:txBody>
          <a:bodyPr wrap="square" lIns="0" tIns="0" rIns="0" bIns="0" rtlCol="0" anchor="t"/>
          <a:lstStyle/>
          <a:p>
            <a:pPr marL="0" indent="0" algn="l">
              <a:buNone/>
            </a:pPr>
            <a:r>
              <a:rPr lang="en-US" sz="950" b="1" dirty="0">
                <a:solidFill>
                  <a:srgbClr val="1A3A5C"/>
                </a:solidFill>
                <a:latin typeface="Cambria" pitchFamily="34" charset="0"/>
                <a:ea typeface="Cambria" pitchFamily="34" charset="-122"/>
                <a:cs typeface="Cambria" pitchFamily="34" charset="-120"/>
              </a:rPr>
              <a:t>V10 close second
</a:t>
            </a:r>
            <a:r>
              <a:rPr lang="en-US" sz="850" dirty="0">
                <a:solidFill>
                  <a:srgbClr val="475569"/>
                </a:solidFill>
                <a:latin typeface="Calibri" pitchFamily="34" charset="0"/>
                <a:ea typeface="Calibri" pitchFamily="34" charset="-122"/>
                <a:cs typeface="Calibri" pitchFamily="34" charset="-120"/>
              </a:rPr>
              <a:t>12.4% importance, the second-highest. Together V14 and V10 explain over a third of the model’s total decision weight.</a:t>
            </a:r>
            <a:endParaRPr lang="en-US" sz="950" dirty="0"/>
          </a:p>
        </p:txBody>
      </p:sp>
      <p:sp>
        <p:nvSpPr>
          <p:cNvPr id="15" name="Shape 12"/>
          <p:cNvSpPr/>
          <p:nvPr/>
        </p:nvSpPr>
        <p:spPr>
          <a:xfrm>
            <a:off x="5943600" y="2734056"/>
            <a:ext cx="2560320" cy="703388"/>
          </a:xfrm>
          <a:prstGeom prst="roundRect">
            <a:avLst>
              <a:gd name="adj" fmla="val 11290"/>
            </a:avLst>
          </a:prstGeom>
          <a:solidFill>
            <a:srgbClr val="FFFFFF"/>
          </a:solidFill>
          <a:ln w="6350">
            <a:solidFill>
              <a:srgbClr val="E2E8F0"/>
            </a:solidFill>
            <a:prstDash val="solid"/>
          </a:ln>
        </p:spPr>
        <p:txBody>
          <a:bodyPr/>
          <a:lstStyle/>
          <a:p>
            <a:endParaRPr lang="en-US"/>
          </a:p>
        </p:txBody>
      </p:sp>
      <p:sp>
        <p:nvSpPr>
          <p:cNvPr id="16" name="Text 13"/>
          <p:cNvSpPr/>
          <p:nvPr/>
        </p:nvSpPr>
        <p:spPr>
          <a:xfrm>
            <a:off x="6080760" y="2779776"/>
            <a:ext cx="2377440" cy="521208"/>
          </a:xfrm>
          <a:prstGeom prst="rect">
            <a:avLst/>
          </a:prstGeom>
          <a:noFill/>
          <a:ln/>
        </p:spPr>
        <p:txBody>
          <a:bodyPr wrap="square" lIns="0" tIns="0" rIns="0" bIns="0" rtlCol="0" anchor="t"/>
          <a:lstStyle/>
          <a:p>
            <a:pPr marL="0" indent="0" algn="l">
              <a:buNone/>
            </a:pPr>
            <a:r>
              <a:rPr lang="en-US" sz="950" b="1" dirty="0">
                <a:solidFill>
                  <a:srgbClr val="1A3A5C"/>
                </a:solidFill>
                <a:latin typeface="Cambria" pitchFamily="34" charset="0"/>
                <a:ea typeface="Cambria" pitchFamily="34" charset="-122"/>
                <a:cs typeface="Cambria" pitchFamily="34" charset="-120"/>
              </a:rPr>
              <a:t>Amount ranks low
</a:t>
            </a:r>
            <a:r>
              <a:rPr lang="en-US" sz="850" dirty="0">
                <a:solidFill>
                  <a:srgbClr val="475569"/>
                </a:solidFill>
                <a:latin typeface="Calibri" pitchFamily="34" charset="0"/>
                <a:ea typeface="Calibri" pitchFamily="34" charset="-122"/>
                <a:cs typeface="Calibri" pitchFamily="34" charset="-120"/>
              </a:rPr>
              <a:t>Fraud amount is NOT the primary signal — Amount did not place in the Random Forest’s top-10 features by importance; fraudsters mimic normal transaction sizes to avoid detection.</a:t>
            </a:r>
            <a:endParaRPr lang="en-US" sz="950" dirty="0"/>
          </a:p>
        </p:txBody>
      </p:sp>
      <p:sp>
        <p:nvSpPr>
          <p:cNvPr id="17" name="Shape 14"/>
          <p:cNvSpPr/>
          <p:nvPr/>
        </p:nvSpPr>
        <p:spPr>
          <a:xfrm>
            <a:off x="5943600" y="3538026"/>
            <a:ext cx="2560320" cy="484632"/>
          </a:xfrm>
          <a:prstGeom prst="roundRect">
            <a:avLst>
              <a:gd name="adj" fmla="val 11290"/>
            </a:avLst>
          </a:prstGeom>
          <a:solidFill>
            <a:srgbClr val="FFFFFF"/>
          </a:solidFill>
          <a:ln w="6350">
            <a:solidFill>
              <a:srgbClr val="E2E8F0"/>
            </a:solidFill>
            <a:prstDash val="solid"/>
          </a:ln>
        </p:spPr>
        <p:txBody>
          <a:bodyPr/>
          <a:lstStyle/>
          <a:p>
            <a:endParaRPr lang="en-US"/>
          </a:p>
        </p:txBody>
      </p:sp>
      <p:sp>
        <p:nvSpPr>
          <p:cNvPr id="18" name="Text 15"/>
          <p:cNvSpPr/>
          <p:nvPr/>
        </p:nvSpPr>
        <p:spPr>
          <a:xfrm>
            <a:off x="6080760" y="3592892"/>
            <a:ext cx="2377440" cy="475488"/>
          </a:xfrm>
          <a:prstGeom prst="rect">
            <a:avLst/>
          </a:prstGeom>
          <a:noFill/>
          <a:ln/>
        </p:spPr>
        <p:txBody>
          <a:bodyPr wrap="square" lIns="0" tIns="0" rIns="0" bIns="0" rtlCol="0" anchor="t"/>
          <a:lstStyle/>
          <a:p>
            <a:pPr marL="0" indent="0" algn="l">
              <a:buNone/>
            </a:pPr>
            <a:r>
              <a:rPr lang="en-US" sz="950" b="1" dirty="0">
                <a:solidFill>
                  <a:srgbClr val="1A3A5C"/>
                </a:solidFill>
                <a:latin typeface="Cambria" pitchFamily="34" charset="0"/>
                <a:ea typeface="Cambria" pitchFamily="34" charset="-122"/>
                <a:cs typeface="Cambria" pitchFamily="34" charset="-120"/>
              </a:rPr>
              <a:t>PCA limitation
</a:t>
            </a:r>
            <a:r>
              <a:rPr lang="en-US" sz="850" dirty="0">
                <a:solidFill>
                  <a:srgbClr val="475569"/>
                </a:solidFill>
                <a:latin typeface="Calibri" pitchFamily="34" charset="0"/>
                <a:ea typeface="Calibri" pitchFamily="34" charset="-122"/>
                <a:cs typeface="Calibri" pitchFamily="34" charset="-120"/>
              </a:rPr>
              <a:t>We cannot reverse-engineer V14 or V10 to business variables — a limitation of anonymised data.</a:t>
            </a:r>
            <a:endParaRPr lang="en-US" sz="950" dirty="0"/>
          </a:p>
        </p:txBody>
      </p:sp>
      <p:sp>
        <p:nvSpPr>
          <p:cNvPr id="19" name="Shape 16"/>
          <p:cNvSpPr/>
          <p:nvPr/>
        </p:nvSpPr>
        <p:spPr>
          <a:xfrm>
            <a:off x="320040" y="4251960"/>
            <a:ext cx="8503920" cy="658368"/>
          </a:xfrm>
          <a:prstGeom prst="roundRect">
            <a:avLst>
              <a:gd name="adj" fmla="val 11111"/>
            </a:avLst>
          </a:prstGeom>
          <a:solidFill>
            <a:srgbClr val="DBEAFE"/>
          </a:solidFill>
          <a:ln w="6350">
            <a:solidFill>
              <a:srgbClr val="2563EB"/>
            </a:solidFill>
            <a:prstDash val="solid"/>
          </a:ln>
        </p:spPr>
        <p:txBody>
          <a:bodyPr/>
          <a:lstStyle/>
          <a:p>
            <a:endParaRPr lang="en-US"/>
          </a:p>
        </p:txBody>
      </p:sp>
      <p:sp>
        <p:nvSpPr>
          <p:cNvPr id="20" name="Text 17"/>
          <p:cNvSpPr/>
          <p:nvPr/>
        </p:nvSpPr>
        <p:spPr>
          <a:xfrm>
            <a:off x="502920" y="4297680"/>
            <a:ext cx="8229600" cy="566928"/>
          </a:xfrm>
          <a:prstGeom prst="rect">
            <a:avLst/>
          </a:prstGeom>
          <a:noFill/>
          <a:ln/>
        </p:spPr>
        <p:txBody>
          <a:bodyPr wrap="square" lIns="0" tIns="0" rIns="0" bIns="0" rtlCol="0" anchor="t"/>
          <a:lstStyle/>
          <a:p>
            <a:pPr marL="0" indent="0" algn="l">
              <a:buNone/>
            </a:pPr>
            <a:r>
              <a:rPr lang="en-US" sz="1000" b="1" dirty="0">
                <a:solidFill>
                  <a:srgbClr val="1A3A5C"/>
                </a:solidFill>
                <a:latin typeface="Cambria" pitchFamily="34" charset="0"/>
                <a:ea typeface="Cambria" pitchFamily="34" charset="-122"/>
                <a:cs typeface="Cambria" pitchFamily="34" charset="-120"/>
              </a:rPr>
              <a:t>Business Implication: </a:t>
            </a:r>
            <a:r>
              <a:rPr lang="en-US" sz="950" dirty="0">
                <a:solidFill>
                  <a:srgbClr val="475569"/>
                </a:solidFill>
                <a:latin typeface="Calibri" pitchFamily="34" charset="0"/>
                <a:ea typeface="Calibri" pitchFamily="34" charset="-122"/>
                <a:cs typeface="Calibri" pitchFamily="34" charset="-120"/>
              </a:rPr>
              <a:t>If the data provider could reveal what V14 represents (e.g. merchant category, terminal ID, geographic anomaly), the fraud team could design targeted rule-based interventions to complement the ML model — a hybrid approach common in production fraud systems. The strong agreement between Random Forest importance and the earlier correlation ranking (V14, V10, V12, and V17 rank highly in both) reinforces that these components carry a genuine, non-linear fraud signal worth prioritising for interpretation.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3A5C"/>
          </a:solidFill>
          <a:ln w="12700">
            <a:solidFill>
              <a:srgbClr val="1A3A5C"/>
            </a:solidFill>
            <a:prstDash val="solid"/>
          </a:ln>
        </p:spPr>
        <p:txBody>
          <a:bodyPr/>
          <a:lstStyle/>
          <a:p>
            <a:endParaRPr lang="en-US"/>
          </a:p>
        </p:txBody>
      </p:sp>
      <p:sp>
        <p:nvSpPr>
          <p:cNvPr id="4" name="Text 2"/>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sp>
        <p:nvSpPr>
          <p:cNvPr id="5" name="Shape 3"/>
          <p:cNvSpPr/>
          <p:nvPr/>
        </p:nvSpPr>
        <p:spPr>
          <a:xfrm>
            <a:off x="457200" y="164592"/>
            <a:ext cx="1828800" cy="237744"/>
          </a:xfrm>
          <a:prstGeom prst="roundRect">
            <a:avLst>
              <a:gd name="adj" fmla="val 50000"/>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457200" y="164592"/>
            <a:ext cx="1828800" cy="237744"/>
          </a:xfrm>
          <a:prstGeom prst="rect">
            <a:avLst/>
          </a:prstGeom>
          <a:noFill/>
          <a:ln/>
        </p:spPr>
        <p:txBody>
          <a:bodyPr wrap="square" lIns="0" tIns="0" rIns="0" bIns="0" rtlCol="0" anchor="ctr"/>
          <a:lstStyle/>
          <a:p>
            <a:pPr marL="0" indent="0" algn="ctr">
              <a:buNone/>
            </a:pPr>
            <a:r>
              <a:rPr lang="en-US" sz="700" b="1" kern="0" spc="150" dirty="0">
                <a:solidFill>
                  <a:srgbClr val="FFFFFF"/>
                </a:solidFill>
              </a:rPr>
              <a:t>PHASE 6 · CONCLUSION</a:t>
            </a:r>
            <a:endParaRPr lang="en-US" sz="700" dirty="0"/>
          </a:p>
        </p:txBody>
      </p:sp>
      <p:sp>
        <p:nvSpPr>
          <p:cNvPr id="7" name="Text 5"/>
          <p:cNvSpPr/>
          <p:nvPr/>
        </p:nvSpPr>
        <p:spPr>
          <a:xfrm>
            <a:off x="457200" y="420624"/>
            <a:ext cx="8046720" cy="502920"/>
          </a:xfrm>
          <a:prstGeom prst="rect">
            <a:avLst/>
          </a:prstGeom>
          <a:noFill/>
          <a:ln/>
        </p:spPr>
        <p:txBody>
          <a:bodyPr wrap="square" lIns="0" tIns="0" rIns="0" bIns="0"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Summary &amp; Business Recommendations</a:t>
            </a:r>
            <a:endParaRPr lang="en-US" sz="2600" dirty="0"/>
          </a:p>
        </p:txBody>
      </p:sp>
      <p:sp>
        <p:nvSpPr>
          <p:cNvPr id="8" name="Shape 6"/>
          <p:cNvSpPr/>
          <p:nvPr/>
        </p:nvSpPr>
        <p:spPr>
          <a:xfrm>
            <a:off x="320040" y="987552"/>
            <a:ext cx="1572768" cy="868680"/>
          </a:xfrm>
          <a:prstGeom prst="roundRect">
            <a:avLst>
              <a:gd name="adj" fmla="val 9474"/>
            </a:avLst>
          </a:prstGeom>
          <a:solidFill>
            <a:srgbClr val="1A3A5C"/>
          </a:solidFill>
          <a:ln w="12700">
            <a:solidFill>
              <a:srgbClr val="1A3A5C"/>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886968" y="1033272"/>
            <a:ext cx="320040" cy="320040"/>
          </a:xfrm>
          <a:prstGeom prst="rect">
            <a:avLst/>
          </a:prstGeom>
        </p:spPr>
      </p:pic>
      <p:sp>
        <p:nvSpPr>
          <p:cNvPr id="10" name="Text 7"/>
          <p:cNvSpPr/>
          <p:nvPr/>
        </p:nvSpPr>
        <p:spPr>
          <a:xfrm>
            <a:off x="320040" y="1371600"/>
            <a:ext cx="1572768" cy="438912"/>
          </a:xfrm>
          <a:prstGeom prst="rect">
            <a:avLst/>
          </a:prstGeom>
          <a:noFill/>
          <a:ln/>
        </p:spPr>
        <p:txBody>
          <a:bodyPr wrap="square" lIns="0" tIns="0" rIns="0" bIns="0" rtlCol="0" anchor="t"/>
          <a:lstStyle/>
          <a:p>
            <a:pPr marL="0" indent="0" algn="ctr">
              <a:buNone/>
            </a:pPr>
            <a:r>
              <a:rPr lang="en-US" sz="800" dirty="0">
                <a:solidFill>
                  <a:srgbClr val="DBEAFE"/>
                </a:solidFill>
                <a:latin typeface="Calibri" pitchFamily="34" charset="0"/>
                <a:ea typeface="Calibri" pitchFamily="34" charset="-122"/>
                <a:cs typeface="Calibri" pitchFamily="34" charset="-120"/>
              </a:rPr>
              <a:t>Business</a:t>
            </a:r>
            <a:endParaRPr lang="en-US" sz="800" dirty="0"/>
          </a:p>
          <a:p>
            <a:pPr marL="0" indent="0" algn="ctr">
              <a:buNone/>
            </a:pPr>
            <a:r>
              <a:rPr lang="en-US" sz="800" dirty="0">
                <a:solidFill>
                  <a:srgbClr val="DBEAFE"/>
                </a:solidFill>
                <a:latin typeface="Calibri" pitchFamily="34" charset="0"/>
                <a:ea typeface="Calibri" pitchFamily="34" charset="-122"/>
                <a:cs typeface="Calibri" pitchFamily="34" charset="-120"/>
              </a:rPr>
              <a:t>Understanding</a:t>
            </a:r>
            <a:endParaRPr lang="en-US" sz="800" dirty="0"/>
          </a:p>
        </p:txBody>
      </p:sp>
      <p:sp>
        <p:nvSpPr>
          <p:cNvPr id="11" name="Text 8"/>
          <p:cNvSpPr/>
          <p:nvPr/>
        </p:nvSpPr>
        <p:spPr>
          <a:xfrm>
            <a:off x="1856232" y="1261872"/>
            <a:ext cx="201168" cy="228600"/>
          </a:xfrm>
          <a:prstGeom prst="rect">
            <a:avLst/>
          </a:prstGeom>
          <a:noFill/>
          <a:ln/>
        </p:spPr>
        <p:txBody>
          <a:bodyPr wrap="square" lIns="0" tIns="0" rIns="0" bIns="0" rtlCol="0" anchor="ctr"/>
          <a:lstStyle/>
          <a:p>
            <a:pPr marL="0" indent="0" algn="ctr">
              <a:buNone/>
            </a:pPr>
            <a:r>
              <a:rPr lang="en-US" sz="1200" dirty="0">
                <a:solidFill>
                  <a:srgbClr val="2563EB"/>
                </a:solidFill>
              </a:rPr>
              <a:t>→</a:t>
            </a:r>
            <a:endParaRPr lang="en-US" sz="1200" dirty="0"/>
          </a:p>
        </p:txBody>
      </p:sp>
      <p:sp>
        <p:nvSpPr>
          <p:cNvPr id="12" name="Shape 9"/>
          <p:cNvSpPr/>
          <p:nvPr/>
        </p:nvSpPr>
        <p:spPr>
          <a:xfrm>
            <a:off x="2039112" y="987552"/>
            <a:ext cx="1572768" cy="868680"/>
          </a:xfrm>
          <a:prstGeom prst="roundRect">
            <a:avLst>
              <a:gd name="adj" fmla="val 9474"/>
            </a:avLst>
          </a:prstGeom>
          <a:solidFill>
            <a:srgbClr val="1A3A5C"/>
          </a:solidFill>
          <a:ln w="12700">
            <a:solidFill>
              <a:srgbClr val="1A3A5C"/>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2606040" y="1033272"/>
            <a:ext cx="320040" cy="320040"/>
          </a:xfrm>
          <a:prstGeom prst="rect">
            <a:avLst/>
          </a:prstGeom>
        </p:spPr>
      </p:pic>
      <p:sp>
        <p:nvSpPr>
          <p:cNvPr id="14" name="Text 10"/>
          <p:cNvSpPr/>
          <p:nvPr/>
        </p:nvSpPr>
        <p:spPr>
          <a:xfrm>
            <a:off x="2039112" y="1371600"/>
            <a:ext cx="1572768" cy="438912"/>
          </a:xfrm>
          <a:prstGeom prst="rect">
            <a:avLst/>
          </a:prstGeom>
          <a:noFill/>
          <a:ln/>
        </p:spPr>
        <p:txBody>
          <a:bodyPr wrap="square" lIns="0" tIns="0" rIns="0" bIns="0" rtlCol="0" anchor="t"/>
          <a:lstStyle/>
          <a:p>
            <a:pPr marL="0" indent="0" algn="ctr">
              <a:buNone/>
            </a:pPr>
            <a:r>
              <a:rPr lang="en-US" sz="800" dirty="0">
                <a:solidFill>
                  <a:srgbClr val="DBEAFE"/>
                </a:solidFill>
                <a:latin typeface="Calibri" pitchFamily="34" charset="0"/>
                <a:ea typeface="Calibri" pitchFamily="34" charset="-122"/>
                <a:cs typeface="Calibri" pitchFamily="34" charset="-120"/>
              </a:rPr>
              <a:t>Data</a:t>
            </a:r>
            <a:endParaRPr lang="en-US" sz="800" dirty="0"/>
          </a:p>
          <a:p>
            <a:pPr marL="0" indent="0" algn="ctr">
              <a:buNone/>
            </a:pPr>
            <a:r>
              <a:rPr lang="en-US" sz="800" dirty="0">
                <a:solidFill>
                  <a:srgbClr val="DBEAFE"/>
                </a:solidFill>
                <a:latin typeface="Calibri" pitchFamily="34" charset="0"/>
                <a:ea typeface="Calibri" pitchFamily="34" charset="-122"/>
                <a:cs typeface="Calibri" pitchFamily="34" charset="-120"/>
              </a:rPr>
              <a:t>Understanding</a:t>
            </a:r>
            <a:endParaRPr lang="en-US" sz="800" dirty="0"/>
          </a:p>
        </p:txBody>
      </p:sp>
      <p:sp>
        <p:nvSpPr>
          <p:cNvPr id="15" name="Text 11"/>
          <p:cNvSpPr/>
          <p:nvPr/>
        </p:nvSpPr>
        <p:spPr>
          <a:xfrm>
            <a:off x="3575304" y="1261872"/>
            <a:ext cx="201168" cy="228600"/>
          </a:xfrm>
          <a:prstGeom prst="rect">
            <a:avLst/>
          </a:prstGeom>
          <a:noFill/>
          <a:ln/>
        </p:spPr>
        <p:txBody>
          <a:bodyPr wrap="square" lIns="0" tIns="0" rIns="0" bIns="0" rtlCol="0" anchor="ctr"/>
          <a:lstStyle/>
          <a:p>
            <a:pPr marL="0" indent="0" algn="ctr">
              <a:buNone/>
            </a:pPr>
            <a:r>
              <a:rPr lang="en-US" sz="1200" dirty="0">
                <a:solidFill>
                  <a:srgbClr val="2563EB"/>
                </a:solidFill>
              </a:rPr>
              <a:t>→</a:t>
            </a:r>
            <a:endParaRPr lang="en-US" sz="1200" dirty="0"/>
          </a:p>
        </p:txBody>
      </p:sp>
      <p:sp>
        <p:nvSpPr>
          <p:cNvPr id="16" name="Shape 12"/>
          <p:cNvSpPr/>
          <p:nvPr/>
        </p:nvSpPr>
        <p:spPr>
          <a:xfrm>
            <a:off x="3758184" y="987552"/>
            <a:ext cx="1572768" cy="868680"/>
          </a:xfrm>
          <a:prstGeom prst="roundRect">
            <a:avLst>
              <a:gd name="adj" fmla="val 9474"/>
            </a:avLst>
          </a:prstGeom>
          <a:solidFill>
            <a:srgbClr val="1A3A5C"/>
          </a:solidFill>
          <a:ln w="12700">
            <a:solidFill>
              <a:srgbClr val="1A3A5C"/>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325112" y="1033272"/>
            <a:ext cx="320040" cy="320040"/>
          </a:xfrm>
          <a:prstGeom prst="rect">
            <a:avLst/>
          </a:prstGeom>
        </p:spPr>
      </p:pic>
      <p:sp>
        <p:nvSpPr>
          <p:cNvPr id="18" name="Text 13"/>
          <p:cNvSpPr/>
          <p:nvPr/>
        </p:nvSpPr>
        <p:spPr>
          <a:xfrm>
            <a:off x="3758184" y="1371600"/>
            <a:ext cx="1572768" cy="438912"/>
          </a:xfrm>
          <a:prstGeom prst="rect">
            <a:avLst/>
          </a:prstGeom>
          <a:noFill/>
          <a:ln/>
        </p:spPr>
        <p:txBody>
          <a:bodyPr wrap="square" lIns="0" tIns="0" rIns="0" bIns="0" rtlCol="0" anchor="t"/>
          <a:lstStyle/>
          <a:p>
            <a:pPr marL="0" indent="0" algn="ctr">
              <a:buNone/>
            </a:pPr>
            <a:r>
              <a:rPr lang="en-US" sz="800" dirty="0">
                <a:solidFill>
                  <a:srgbClr val="DBEAFE"/>
                </a:solidFill>
                <a:latin typeface="Calibri" pitchFamily="34" charset="0"/>
                <a:ea typeface="Calibri" pitchFamily="34" charset="-122"/>
                <a:cs typeface="Calibri" pitchFamily="34" charset="-120"/>
              </a:rPr>
              <a:t>Data</a:t>
            </a:r>
            <a:endParaRPr lang="en-US" sz="800" dirty="0"/>
          </a:p>
          <a:p>
            <a:pPr marL="0" indent="0" algn="ctr">
              <a:buNone/>
            </a:pPr>
            <a:r>
              <a:rPr lang="en-US" sz="800" dirty="0">
                <a:solidFill>
                  <a:srgbClr val="DBEAFE"/>
                </a:solidFill>
                <a:latin typeface="Calibri" pitchFamily="34" charset="0"/>
                <a:ea typeface="Calibri" pitchFamily="34" charset="-122"/>
                <a:cs typeface="Calibri" pitchFamily="34" charset="-120"/>
              </a:rPr>
              <a:t>Preparation</a:t>
            </a:r>
            <a:endParaRPr lang="en-US" sz="800" dirty="0"/>
          </a:p>
        </p:txBody>
      </p:sp>
      <p:sp>
        <p:nvSpPr>
          <p:cNvPr id="19" name="Text 14"/>
          <p:cNvSpPr/>
          <p:nvPr/>
        </p:nvSpPr>
        <p:spPr>
          <a:xfrm>
            <a:off x="5294376" y="1261872"/>
            <a:ext cx="201168" cy="228600"/>
          </a:xfrm>
          <a:prstGeom prst="rect">
            <a:avLst/>
          </a:prstGeom>
          <a:noFill/>
          <a:ln/>
        </p:spPr>
        <p:txBody>
          <a:bodyPr wrap="square" lIns="0" tIns="0" rIns="0" bIns="0" rtlCol="0" anchor="ctr"/>
          <a:lstStyle/>
          <a:p>
            <a:pPr marL="0" indent="0" algn="ctr">
              <a:buNone/>
            </a:pPr>
            <a:r>
              <a:rPr lang="en-US" sz="1200" dirty="0">
                <a:solidFill>
                  <a:srgbClr val="2563EB"/>
                </a:solidFill>
              </a:rPr>
              <a:t>→</a:t>
            </a:r>
            <a:endParaRPr lang="en-US" sz="1200" dirty="0"/>
          </a:p>
        </p:txBody>
      </p:sp>
      <p:sp>
        <p:nvSpPr>
          <p:cNvPr id="20" name="Shape 15"/>
          <p:cNvSpPr/>
          <p:nvPr/>
        </p:nvSpPr>
        <p:spPr>
          <a:xfrm>
            <a:off x="5477256" y="987552"/>
            <a:ext cx="1572768" cy="868680"/>
          </a:xfrm>
          <a:prstGeom prst="roundRect">
            <a:avLst>
              <a:gd name="adj" fmla="val 9474"/>
            </a:avLst>
          </a:prstGeom>
          <a:solidFill>
            <a:srgbClr val="1A3A5C"/>
          </a:solidFill>
          <a:ln w="12700">
            <a:solidFill>
              <a:srgbClr val="1A3A5C"/>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044184" y="1033272"/>
            <a:ext cx="320040" cy="320040"/>
          </a:xfrm>
          <a:prstGeom prst="rect">
            <a:avLst/>
          </a:prstGeom>
        </p:spPr>
      </p:pic>
      <p:sp>
        <p:nvSpPr>
          <p:cNvPr id="22" name="Text 16"/>
          <p:cNvSpPr/>
          <p:nvPr/>
        </p:nvSpPr>
        <p:spPr>
          <a:xfrm>
            <a:off x="5477256" y="1371600"/>
            <a:ext cx="1572768" cy="438912"/>
          </a:xfrm>
          <a:prstGeom prst="rect">
            <a:avLst/>
          </a:prstGeom>
          <a:noFill/>
          <a:ln/>
        </p:spPr>
        <p:txBody>
          <a:bodyPr wrap="square" lIns="0" tIns="0" rIns="0" bIns="0" rtlCol="0" anchor="t"/>
          <a:lstStyle/>
          <a:p>
            <a:pPr marL="0" indent="0" algn="ctr">
              <a:buNone/>
            </a:pPr>
            <a:r>
              <a:rPr lang="en-US" sz="800" dirty="0">
                <a:solidFill>
                  <a:srgbClr val="DBEAFE"/>
                </a:solidFill>
                <a:latin typeface="Calibri" pitchFamily="34" charset="0"/>
                <a:ea typeface="Calibri" pitchFamily="34" charset="-122"/>
                <a:cs typeface="Calibri" pitchFamily="34" charset="-120"/>
              </a:rPr>
              <a:t>Modelling</a:t>
            </a:r>
            <a:endParaRPr lang="en-US" sz="800" dirty="0"/>
          </a:p>
        </p:txBody>
      </p:sp>
      <p:sp>
        <p:nvSpPr>
          <p:cNvPr id="23" name="Text 17"/>
          <p:cNvSpPr/>
          <p:nvPr/>
        </p:nvSpPr>
        <p:spPr>
          <a:xfrm>
            <a:off x="7013448" y="1261872"/>
            <a:ext cx="201168" cy="228600"/>
          </a:xfrm>
          <a:prstGeom prst="rect">
            <a:avLst/>
          </a:prstGeom>
          <a:noFill/>
          <a:ln/>
        </p:spPr>
        <p:txBody>
          <a:bodyPr wrap="square" lIns="0" tIns="0" rIns="0" bIns="0" rtlCol="0" anchor="ctr"/>
          <a:lstStyle/>
          <a:p>
            <a:pPr marL="0" indent="0" algn="ctr">
              <a:buNone/>
            </a:pPr>
            <a:r>
              <a:rPr lang="en-US" sz="1200" dirty="0">
                <a:solidFill>
                  <a:srgbClr val="2563EB"/>
                </a:solidFill>
              </a:rPr>
              <a:t>→</a:t>
            </a:r>
            <a:endParaRPr lang="en-US" sz="1200" dirty="0"/>
          </a:p>
        </p:txBody>
      </p:sp>
      <p:sp>
        <p:nvSpPr>
          <p:cNvPr id="24" name="Shape 18"/>
          <p:cNvSpPr/>
          <p:nvPr/>
        </p:nvSpPr>
        <p:spPr>
          <a:xfrm>
            <a:off x="7196328" y="987552"/>
            <a:ext cx="1572768" cy="868680"/>
          </a:xfrm>
          <a:prstGeom prst="roundRect">
            <a:avLst>
              <a:gd name="adj" fmla="val 9474"/>
            </a:avLst>
          </a:prstGeom>
          <a:solidFill>
            <a:srgbClr val="1A3A5C"/>
          </a:solidFill>
          <a:ln w="12700">
            <a:solidFill>
              <a:srgbClr val="1A3A5C"/>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7763256" y="1033272"/>
            <a:ext cx="320040" cy="320040"/>
          </a:xfrm>
          <a:prstGeom prst="rect">
            <a:avLst/>
          </a:prstGeom>
        </p:spPr>
      </p:pic>
      <p:sp>
        <p:nvSpPr>
          <p:cNvPr id="26" name="Text 19"/>
          <p:cNvSpPr/>
          <p:nvPr/>
        </p:nvSpPr>
        <p:spPr>
          <a:xfrm>
            <a:off x="7196328" y="1371600"/>
            <a:ext cx="1572768" cy="438912"/>
          </a:xfrm>
          <a:prstGeom prst="rect">
            <a:avLst/>
          </a:prstGeom>
          <a:noFill/>
          <a:ln/>
        </p:spPr>
        <p:txBody>
          <a:bodyPr wrap="square" lIns="0" tIns="0" rIns="0" bIns="0" rtlCol="0" anchor="t"/>
          <a:lstStyle/>
          <a:p>
            <a:pPr marL="0" indent="0" algn="ctr">
              <a:buNone/>
            </a:pPr>
            <a:r>
              <a:rPr lang="en-US" sz="800" dirty="0">
                <a:solidFill>
                  <a:srgbClr val="DBEAFE"/>
                </a:solidFill>
                <a:latin typeface="Calibri" pitchFamily="34" charset="0"/>
                <a:ea typeface="Calibri" pitchFamily="34" charset="-122"/>
                <a:cs typeface="Calibri" pitchFamily="34" charset="-120"/>
              </a:rPr>
              <a:t>Evaluation</a:t>
            </a:r>
            <a:endParaRPr lang="en-US" sz="800" dirty="0"/>
          </a:p>
        </p:txBody>
      </p:sp>
      <p:sp>
        <p:nvSpPr>
          <p:cNvPr id="27" name="Shape 20"/>
          <p:cNvSpPr/>
          <p:nvPr/>
        </p:nvSpPr>
        <p:spPr>
          <a:xfrm>
            <a:off x="320040" y="2011680"/>
            <a:ext cx="5120640" cy="2560320"/>
          </a:xfrm>
          <a:prstGeom prst="roundRect">
            <a:avLst>
              <a:gd name="adj" fmla="val 3571"/>
            </a:avLst>
          </a:prstGeom>
          <a:solidFill>
            <a:srgbClr val="F8FAFC"/>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28" name="Text 21"/>
          <p:cNvSpPr/>
          <p:nvPr/>
        </p:nvSpPr>
        <p:spPr>
          <a:xfrm>
            <a:off x="502920" y="2103120"/>
            <a:ext cx="4754880" cy="256032"/>
          </a:xfrm>
          <a:prstGeom prst="rect">
            <a:avLst/>
          </a:prstGeom>
          <a:noFill/>
          <a:ln/>
        </p:spPr>
        <p:txBody>
          <a:bodyPr wrap="square" lIns="0" tIns="0" rIns="0" bIns="0" rtlCol="0" anchor="ctr"/>
          <a:lstStyle/>
          <a:p>
            <a:pPr marL="0" indent="0" algn="l">
              <a:buNone/>
            </a:pPr>
            <a:r>
              <a:rPr lang="en-US" sz="1300" b="1" dirty="0">
                <a:solidFill>
                  <a:srgbClr val="1A3A5C"/>
                </a:solidFill>
                <a:latin typeface="Cambria" pitchFamily="34" charset="0"/>
                <a:ea typeface="Cambria" pitchFamily="34" charset="-122"/>
                <a:cs typeface="Cambria" pitchFamily="34" charset="-120"/>
              </a:rPr>
              <a:t>Key Findings</a:t>
            </a:r>
            <a:endParaRPr lang="en-US" sz="1300" dirty="0"/>
          </a:p>
        </p:txBody>
      </p:sp>
      <p:sp>
        <p:nvSpPr>
          <p:cNvPr id="29" name="Text 22"/>
          <p:cNvSpPr/>
          <p:nvPr/>
        </p:nvSpPr>
        <p:spPr>
          <a:xfrm>
            <a:off x="502920" y="2423160"/>
            <a:ext cx="4754880" cy="2011680"/>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Random Forest outperforms XGBoost on the held-out test set — higher Precision (84.1% vs 9.1%), F1 (80.9% vs 16.4%) and PR-AUC (0.820 vs 0.666); XGBoost only leads on Recall (85.3% vs </a:t>
            </a:r>
            <a:r>
              <a:rPr lang="en-US" sz="950">
                <a:solidFill>
                  <a:srgbClr val="1E293B"/>
                </a:solidFill>
                <a:latin typeface="Calibri" pitchFamily="34" charset="0"/>
                <a:ea typeface="Calibri" pitchFamily="34" charset="-122"/>
                <a:cs typeface="Calibri" pitchFamily="34" charset="-120"/>
              </a:rPr>
              <a:t>77.9%)</a:t>
            </a:r>
          </a:p>
          <a:p>
            <a:pPr marL="0" indent="0" algn="l">
              <a:buNone/>
            </a:pPr>
            <a:r>
              <a:rPr lang="en-US" sz="950" dirty="0">
                <a:solidFill>
                  <a:srgbClr val="1E293B"/>
                </a:solidFill>
                <a:latin typeface="Calibri" pitchFamily="34" charset="0"/>
                <a:ea typeface="Calibri" pitchFamily="34" charset="-122"/>
                <a:cs typeface="Calibri" pitchFamily="34" charset="-120"/>
              </a:rPr>
              <a:t>
✓  SMOTE oversampling inside CV folds was critical — prevented </a:t>
            </a:r>
            <a:r>
              <a:rPr lang="en-US" sz="950">
                <a:solidFill>
                  <a:srgbClr val="1E293B"/>
                </a:solidFill>
                <a:latin typeface="Calibri" pitchFamily="34" charset="0"/>
                <a:ea typeface="Calibri" pitchFamily="34" charset="-122"/>
                <a:cs typeface="Calibri" pitchFamily="34" charset="-120"/>
              </a:rPr>
              <a:t>evaluation bias</a:t>
            </a:r>
          </a:p>
          <a:p>
            <a:pPr marL="0" indent="0" algn="l">
              <a:buNone/>
            </a:pPr>
            <a:r>
              <a:rPr lang="en-US" sz="950" dirty="0">
                <a:solidFill>
                  <a:srgbClr val="1E293B"/>
                </a:solidFill>
                <a:latin typeface="Calibri" pitchFamily="34" charset="0"/>
                <a:ea typeface="Calibri" pitchFamily="34" charset="-122"/>
                <a:cs typeface="Calibri" pitchFamily="34" charset="-120"/>
              </a:rPr>
              <a:t>
✓  V14 and V10 show the strongest Random Forest feature importance, echoing their high correlation </a:t>
            </a:r>
            <a:r>
              <a:rPr lang="en-US" sz="950">
                <a:solidFill>
                  <a:srgbClr val="1E293B"/>
                </a:solidFill>
                <a:latin typeface="Calibri" pitchFamily="34" charset="0"/>
                <a:ea typeface="Calibri" pitchFamily="34" charset="-122"/>
                <a:cs typeface="Calibri" pitchFamily="34" charset="-120"/>
              </a:rPr>
              <a:t>with fraud</a:t>
            </a:r>
          </a:p>
          <a:p>
            <a:pPr marL="0" indent="0" algn="l">
              <a:buNone/>
            </a:pPr>
            <a:r>
              <a:rPr lang="en-US" sz="950" dirty="0">
                <a:solidFill>
                  <a:srgbClr val="1E293B"/>
                </a:solidFill>
                <a:latin typeface="Calibri" pitchFamily="34" charset="0"/>
                <a:ea typeface="Calibri" pitchFamily="34" charset="-122"/>
                <a:cs typeface="Calibri" pitchFamily="34" charset="-120"/>
              </a:rPr>
              <a:t>
✓  Fraud amount is NOT a reliable signal — fraudsters mimic normal </a:t>
            </a:r>
            <a:r>
              <a:rPr lang="en-US" sz="950">
                <a:solidFill>
                  <a:srgbClr val="1E293B"/>
                </a:solidFill>
                <a:latin typeface="Calibri" pitchFamily="34" charset="0"/>
                <a:ea typeface="Calibri" pitchFamily="34" charset="-122"/>
                <a:cs typeface="Calibri" pitchFamily="34" charset="-120"/>
              </a:rPr>
              <a:t>transaction sizes</a:t>
            </a:r>
          </a:p>
          <a:p>
            <a:pPr marL="0" indent="0" algn="l">
              <a:buNone/>
            </a:pPr>
            <a:r>
              <a:rPr lang="en-US" sz="950" dirty="0">
                <a:solidFill>
                  <a:srgbClr val="1E293B"/>
                </a:solidFill>
                <a:latin typeface="Calibri" pitchFamily="34" charset="0"/>
                <a:ea typeface="Calibri" pitchFamily="34" charset="-122"/>
                <a:cs typeface="Calibri" pitchFamily="34" charset="-120"/>
              </a:rPr>
              <a:t>
✓  All tree-based models showed stable cross-validation (F1 std &lt; 2.5%) — generalisation is reliable
</a:t>
            </a:r>
            <a:endParaRPr lang="en-US" sz="950" dirty="0"/>
          </a:p>
        </p:txBody>
      </p:sp>
      <p:sp>
        <p:nvSpPr>
          <p:cNvPr id="30" name="Shape 23"/>
          <p:cNvSpPr/>
          <p:nvPr/>
        </p:nvSpPr>
        <p:spPr>
          <a:xfrm>
            <a:off x="5577840" y="2011680"/>
            <a:ext cx="3246120" cy="2560320"/>
          </a:xfrm>
          <a:prstGeom prst="roundRect">
            <a:avLst>
              <a:gd name="adj" fmla="val 3571"/>
            </a:avLst>
          </a:prstGeom>
          <a:solidFill>
            <a:srgbClr val="DBEAFE"/>
          </a:solidFill>
          <a:ln w="635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31" name="Text 24"/>
          <p:cNvSpPr/>
          <p:nvPr/>
        </p:nvSpPr>
        <p:spPr>
          <a:xfrm>
            <a:off x="5760720" y="2103120"/>
            <a:ext cx="2926080" cy="256032"/>
          </a:xfrm>
          <a:prstGeom prst="rect">
            <a:avLst/>
          </a:prstGeom>
          <a:noFill/>
          <a:ln/>
        </p:spPr>
        <p:txBody>
          <a:bodyPr wrap="square" lIns="0" tIns="0" rIns="0" bIns="0" rtlCol="0" anchor="ctr"/>
          <a:lstStyle/>
          <a:p>
            <a:pPr marL="0" indent="0" algn="l">
              <a:buNone/>
            </a:pPr>
            <a:r>
              <a:rPr lang="en-US" sz="1300" b="1" dirty="0">
                <a:solidFill>
                  <a:srgbClr val="1A3A5C"/>
                </a:solidFill>
                <a:latin typeface="Cambria" pitchFamily="34" charset="0"/>
                <a:ea typeface="Cambria" pitchFamily="34" charset="-122"/>
                <a:cs typeface="Cambria" pitchFamily="34" charset="-120"/>
              </a:rPr>
              <a:t>Recommendations</a:t>
            </a:r>
            <a:endParaRPr lang="en-US" sz="1300" dirty="0"/>
          </a:p>
        </p:txBody>
      </p:sp>
      <p:sp>
        <p:nvSpPr>
          <p:cNvPr id="32" name="Text 25"/>
          <p:cNvSpPr/>
          <p:nvPr/>
        </p:nvSpPr>
        <p:spPr>
          <a:xfrm>
            <a:off x="5760720" y="2395728"/>
            <a:ext cx="2944368" cy="457200"/>
          </a:xfrm>
          <a:prstGeom prst="rect">
            <a:avLst/>
          </a:prstGeom>
          <a:noFill/>
          <a:ln/>
        </p:spPr>
        <p:txBody>
          <a:bodyPr wrap="square" lIns="0" tIns="0" rIns="0" bIns="0" rtlCol="0" anchor="t"/>
          <a:lstStyle/>
          <a:p>
            <a:pPr marL="0" indent="0" algn="l">
              <a:buNone/>
            </a:pPr>
            <a:r>
              <a:rPr lang="en-US" sz="1000" b="1" dirty="0">
                <a:solidFill>
                  <a:srgbClr val="2563EB"/>
                </a:solidFill>
                <a:latin typeface="Cambria" pitchFamily="34" charset="0"/>
                <a:ea typeface="Cambria" pitchFamily="34" charset="-122"/>
                <a:cs typeface="Cambria" pitchFamily="34" charset="-120"/>
              </a:rPr>
              <a:t>01 </a:t>
            </a:r>
            <a:r>
              <a:rPr lang="en-US" sz="950" b="1" dirty="0">
                <a:solidFill>
                  <a:srgbClr val="1A3A5C"/>
                </a:solidFill>
                <a:latin typeface="Cambria" pitchFamily="34" charset="0"/>
                <a:ea typeface="Cambria" pitchFamily="34" charset="-122"/>
                <a:cs typeface="Cambria" pitchFamily="34" charset="-120"/>
              </a:rPr>
              <a:t>Deploy Random Forest — </a:t>
            </a:r>
            <a:r>
              <a:rPr lang="en-US" sz="900" dirty="0">
                <a:solidFill>
                  <a:srgbClr val="475569"/>
                </a:solidFill>
                <a:latin typeface="Calibri" pitchFamily="34" charset="0"/>
                <a:ea typeface="Calibri" pitchFamily="34" charset="-122"/>
                <a:cs typeface="Calibri" pitchFamily="34" charset="-120"/>
              </a:rPr>
              <a:t>As the primary real-time scoring model — best precision, F1 and PR-AUC on the test set.
</a:t>
            </a:r>
            <a:endParaRPr lang="en-US" sz="1000" dirty="0"/>
          </a:p>
        </p:txBody>
      </p:sp>
      <p:sp>
        <p:nvSpPr>
          <p:cNvPr id="33" name="Text 26"/>
          <p:cNvSpPr/>
          <p:nvPr/>
        </p:nvSpPr>
        <p:spPr>
          <a:xfrm>
            <a:off x="5760720" y="2926080"/>
            <a:ext cx="2944368" cy="457200"/>
          </a:xfrm>
          <a:prstGeom prst="rect">
            <a:avLst/>
          </a:prstGeom>
          <a:noFill/>
          <a:ln/>
        </p:spPr>
        <p:txBody>
          <a:bodyPr wrap="square" lIns="0" tIns="0" rIns="0" bIns="0" rtlCol="0" anchor="t"/>
          <a:lstStyle/>
          <a:p>
            <a:pPr marL="0" indent="0" algn="l">
              <a:buNone/>
            </a:pPr>
            <a:r>
              <a:rPr lang="en-US" sz="1000" b="1" dirty="0">
                <a:solidFill>
                  <a:srgbClr val="2563EB"/>
                </a:solidFill>
                <a:latin typeface="Cambria" pitchFamily="34" charset="0"/>
                <a:ea typeface="Cambria" pitchFamily="34" charset="-122"/>
                <a:cs typeface="Cambria" pitchFamily="34" charset="-120"/>
              </a:rPr>
              <a:t>02 </a:t>
            </a:r>
            <a:r>
              <a:rPr lang="en-US" sz="950" b="1" dirty="0">
                <a:solidFill>
                  <a:srgbClr val="1A3A5C"/>
                </a:solidFill>
                <a:latin typeface="Cambria" pitchFamily="34" charset="0"/>
                <a:ea typeface="Cambria" pitchFamily="34" charset="-122"/>
                <a:cs typeface="Cambria" pitchFamily="34" charset="-120"/>
              </a:rPr>
              <a:t>Reveal PCA features — </a:t>
            </a:r>
            <a:r>
              <a:rPr lang="en-US" sz="900" dirty="0">
                <a:solidFill>
                  <a:srgbClr val="475569"/>
                </a:solidFill>
                <a:latin typeface="Calibri" pitchFamily="34" charset="0"/>
                <a:ea typeface="Calibri" pitchFamily="34" charset="-122"/>
                <a:cs typeface="Calibri" pitchFamily="34" charset="-120"/>
              </a:rPr>
              <a:t>Work with bank to interpret V14/V10 for rule design.
</a:t>
            </a:r>
            <a:endParaRPr lang="en-US" sz="1000" dirty="0"/>
          </a:p>
        </p:txBody>
      </p:sp>
      <p:sp>
        <p:nvSpPr>
          <p:cNvPr id="34" name="Text 27"/>
          <p:cNvSpPr/>
          <p:nvPr/>
        </p:nvSpPr>
        <p:spPr>
          <a:xfrm>
            <a:off x="5760720" y="3456432"/>
            <a:ext cx="2944368" cy="457200"/>
          </a:xfrm>
          <a:prstGeom prst="rect">
            <a:avLst/>
          </a:prstGeom>
          <a:noFill/>
          <a:ln/>
        </p:spPr>
        <p:txBody>
          <a:bodyPr wrap="square" lIns="0" tIns="0" rIns="0" bIns="0" rtlCol="0" anchor="t"/>
          <a:lstStyle/>
          <a:p>
            <a:pPr marL="0" indent="0" algn="l">
              <a:buNone/>
            </a:pPr>
            <a:r>
              <a:rPr lang="en-US" sz="1000" b="1" dirty="0">
                <a:solidFill>
                  <a:srgbClr val="2563EB"/>
                </a:solidFill>
                <a:latin typeface="Cambria" pitchFamily="34" charset="0"/>
                <a:ea typeface="Cambria" pitchFamily="34" charset="-122"/>
                <a:cs typeface="Cambria" pitchFamily="34" charset="-120"/>
              </a:rPr>
              <a:t>03 </a:t>
            </a:r>
            <a:r>
              <a:rPr lang="en-US" sz="950" b="1" dirty="0">
                <a:solidFill>
                  <a:srgbClr val="1A3A5C"/>
                </a:solidFill>
                <a:latin typeface="Cambria" pitchFamily="34" charset="0"/>
                <a:ea typeface="Cambria" pitchFamily="34" charset="-122"/>
                <a:cs typeface="Cambria" pitchFamily="34" charset="-120"/>
              </a:rPr>
              <a:t>Monitor drift — </a:t>
            </a:r>
            <a:r>
              <a:rPr lang="en-US" sz="900" dirty="0">
                <a:solidFill>
                  <a:srgbClr val="475569"/>
                </a:solidFill>
                <a:latin typeface="Calibri" pitchFamily="34" charset="0"/>
                <a:ea typeface="Calibri" pitchFamily="34" charset="-122"/>
                <a:cs typeface="Calibri" pitchFamily="34" charset="-120"/>
              </a:rPr>
              <a:t>Retrain quarterly as fraud patterns evolve.
</a:t>
            </a:r>
            <a:endParaRPr lang="en-US" sz="1000" dirty="0"/>
          </a:p>
        </p:txBody>
      </p:sp>
      <p:sp>
        <p:nvSpPr>
          <p:cNvPr id="35" name="Text 28"/>
          <p:cNvSpPr/>
          <p:nvPr/>
        </p:nvSpPr>
        <p:spPr>
          <a:xfrm>
            <a:off x="5760720" y="3986784"/>
            <a:ext cx="2944368" cy="457200"/>
          </a:xfrm>
          <a:prstGeom prst="rect">
            <a:avLst/>
          </a:prstGeom>
          <a:noFill/>
          <a:ln/>
        </p:spPr>
        <p:txBody>
          <a:bodyPr wrap="square" lIns="0" tIns="0" rIns="0" bIns="0" rtlCol="0" anchor="t"/>
          <a:lstStyle/>
          <a:p>
            <a:pPr marL="0" indent="0" algn="l">
              <a:buNone/>
            </a:pPr>
            <a:r>
              <a:rPr lang="en-US" sz="1000" b="1" dirty="0">
                <a:solidFill>
                  <a:srgbClr val="2563EB"/>
                </a:solidFill>
                <a:latin typeface="Cambria" pitchFamily="34" charset="0"/>
                <a:ea typeface="Cambria" pitchFamily="34" charset="-122"/>
                <a:cs typeface="Cambria" pitchFamily="34" charset="-120"/>
              </a:rPr>
              <a:t>04 </a:t>
            </a:r>
            <a:r>
              <a:rPr lang="en-US" sz="950" b="1" dirty="0">
                <a:solidFill>
                  <a:srgbClr val="1A3A5C"/>
                </a:solidFill>
                <a:latin typeface="Cambria" pitchFamily="34" charset="0"/>
                <a:ea typeface="Cambria" pitchFamily="34" charset="-122"/>
                <a:cs typeface="Cambria" pitchFamily="34" charset="-120"/>
              </a:rPr>
              <a:t>Human-in-loop — </a:t>
            </a:r>
            <a:r>
              <a:rPr lang="en-US" sz="900" dirty="0">
                <a:solidFill>
                  <a:srgbClr val="475569"/>
                </a:solidFill>
                <a:latin typeface="Calibri" pitchFamily="34" charset="0"/>
                <a:ea typeface="Calibri" pitchFamily="34" charset="-122"/>
                <a:cs typeface="Calibri" pitchFamily="34" charset="-120"/>
              </a:rPr>
              <a:t>Flag borderline cases for analyst review.
</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7863840" y="4800600"/>
            <a:ext cx="1097280" cy="246888"/>
          </a:xfrm>
          <a:prstGeom prst="roundRect">
            <a:avLst>
              <a:gd name="adj" fmla="val 14815"/>
            </a:avLst>
          </a:prstGeom>
          <a:solidFill>
            <a:srgbClr val="1A3A5C"/>
          </a:solidFill>
          <a:ln w="12700">
            <a:solidFill>
              <a:srgbClr val="1A3A5C"/>
            </a:solidFill>
            <a:prstDash val="solid"/>
          </a:ln>
        </p:spPr>
        <p:txBody>
          <a:bodyPr/>
          <a:lstStyle/>
          <a:p>
            <a:endParaRPr lang="en-US"/>
          </a:p>
        </p:txBody>
      </p:sp>
      <p:sp>
        <p:nvSpPr>
          <p:cNvPr id="3" name="Text 1"/>
          <p:cNvSpPr/>
          <p:nvPr/>
        </p:nvSpPr>
        <p:spPr>
          <a:xfrm>
            <a:off x="7863840" y="4800600"/>
            <a:ext cx="1097280" cy="246888"/>
          </a:xfrm>
          <a:prstGeom prst="rect">
            <a:avLst/>
          </a:prstGeom>
          <a:noFill/>
          <a:ln/>
        </p:spPr>
        <p:txBody>
          <a:bodyPr wrap="square" lIns="0" tIns="0" rIns="0" bIns="0" rtlCol="0" anchor="ctr"/>
          <a:lstStyle/>
          <a:p>
            <a:pPr marL="0" indent="0" algn="ctr">
              <a:buNone/>
            </a:pPr>
            <a:r>
              <a:rPr lang="en-US" sz="750" b="1" dirty="0">
                <a:solidFill>
                  <a:srgbClr val="FFFFFF"/>
                </a:solidFill>
              </a:rPr>
              <a:t>HTW Berlin</a:t>
            </a:r>
            <a:endParaRPr lang="en-US" sz="750" dirty="0"/>
          </a:p>
        </p:txBody>
      </p:sp>
      <p:pic>
        <p:nvPicPr>
          <p:cNvPr id="4" name="Image 0" descr="preencoded.png"/>
          <p:cNvPicPr>
            <a:picLocks noChangeAspect="1"/>
          </p:cNvPicPr>
          <p:nvPr/>
        </p:nvPicPr>
        <p:blipFill>
          <a:blip r:embed="rId3"/>
          <a:stretch>
            <a:fillRect/>
          </a:stretch>
        </p:blipFill>
        <p:spPr>
          <a:xfrm>
            <a:off x="457200" y="320040"/>
            <a:ext cx="594360" cy="594360"/>
          </a:xfrm>
          <a:prstGeom prst="rect">
            <a:avLst/>
          </a:prstGeom>
        </p:spPr>
      </p:pic>
      <p:sp>
        <p:nvSpPr>
          <p:cNvPr id="5" name="Text 2"/>
          <p:cNvSpPr/>
          <p:nvPr/>
        </p:nvSpPr>
        <p:spPr>
          <a:xfrm>
            <a:off x="1143000" y="320040"/>
            <a:ext cx="7498080" cy="59436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6" name="Shape 3"/>
          <p:cNvSpPr/>
          <p:nvPr/>
        </p:nvSpPr>
        <p:spPr>
          <a:xfrm>
            <a:off x="365760" y="1005840"/>
            <a:ext cx="8412480" cy="749808"/>
          </a:xfrm>
          <a:prstGeom prst="roundRect">
            <a:avLst>
              <a:gd name="adj" fmla="val 12195"/>
            </a:avLst>
          </a:prstGeom>
          <a:solidFill>
            <a:srgbClr val="1E3A5F"/>
          </a:solidFill>
          <a:ln w="6350">
            <a:solidFill>
              <a:srgbClr val="2D5A8E"/>
            </a:solidFill>
            <a:prstDash val="solid"/>
          </a:ln>
        </p:spPr>
        <p:txBody>
          <a:bodyPr/>
          <a:lstStyle/>
          <a:p>
            <a:endParaRPr lang="en-US"/>
          </a:p>
        </p:txBody>
      </p:sp>
      <p:sp>
        <p:nvSpPr>
          <p:cNvPr id="7" name="Shape 4"/>
          <p:cNvSpPr/>
          <p:nvPr/>
        </p:nvSpPr>
        <p:spPr>
          <a:xfrm>
            <a:off x="365760" y="1005840"/>
            <a:ext cx="475488" cy="749808"/>
          </a:xfrm>
          <a:prstGeom prst="roundRect">
            <a:avLst>
              <a:gd name="adj" fmla="val 19231"/>
            </a:avLst>
          </a:prstGeom>
          <a:solidFill>
            <a:srgbClr val="2563EB"/>
          </a:solidFill>
          <a:ln w="12700">
            <a:solidFill>
              <a:srgbClr val="2563EB"/>
            </a:solidFill>
            <a:prstDash val="solid"/>
          </a:ln>
        </p:spPr>
        <p:txBody>
          <a:bodyPr/>
          <a:lstStyle/>
          <a:p>
            <a:endParaRPr lang="en-US"/>
          </a:p>
        </p:txBody>
      </p:sp>
      <p:sp>
        <p:nvSpPr>
          <p:cNvPr id="8" name="Text 5"/>
          <p:cNvSpPr/>
          <p:nvPr/>
        </p:nvSpPr>
        <p:spPr>
          <a:xfrm>
            <a:off x="365760" y="1005840"/>
            <a:ext cx="475488" cy="74980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sp>
        <p:nvSpPr>
          <p:cNvPr id="9" name="Text 6"/>
          <p:cNvSpPr/>
          <p:nvPr/>
        </p:nvSpPr>
        <p:spPr>
          <a:xfrm>
            <a:off x="960120" y="1060704"/>
            <a:ext cx="7680960" cy="256032"/>
          </a:xfrm>
          <a:prstGeom prst="rect">
            <a:avLst/>
          </a:prstGeom>
          <a:noFill/>
          <a:ln/>
        </p:spPr>
        <p:txBody>
          <a:bodyPr wrap="square" lIns="0" tIns="0" rIns="0" bIns="0" rtlCol="0" anchor="ctr"/>
          <a:lstStyle/>
          <a:p>
            <a:pPr marL="0" indent="0" algn="l">
              <a:buNone/>
            </a:pPr>
            <a:r>
              <a:rPr lang="en-US" sz="1100" b="1" dirty="0">
                <a:solidFill>
                  <a:srgbClr val="DBEAFE"/>
                </a:solidFill>
                <a:latin typeface="Cambria" pitchFamily="34" charset="0"/>
                <a:ea typeface="Cambria" pitchFamily="34" charset="-122"/>
                <a:cs typeface="Cambria" pitchFamily="34" charset="-120"/>
              </a:rPr>
              <a:t>Metrics matter more than accuracy</a:t>
            </a:r>
            <a:endParaRPr lang="en-US" sz="1100" dirty="0"/>
          </a:p>
        </p:txBody>
      </p:sp>
      <p:sp>
        <p:nvSpPr>
          <p:cNvPr id="10" name="Text 7"/>
          <p:cNvSpPr/>
          <p:nvPr/>
        </p:nvSpPr>
        <p:spPr>
          <a:xfrm>
            <a:off x="960120" y="1335024"/>
            <a:ext cx="7680960" cy="365760"/>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Recall &amp; PR-AUC are the right metrics for imbalanced fraud detection. Accuracy alone is misleading.</a:t>
            </a:r>
            <a:endParaRPr lang="en-US" sz="900" dirty="0"/>
          </a:p>
        </p:txBody>
      </p:sp>
      <p:sp>
        <p:nvSpPr>
          <p:cNvPr id="11" name="Shape 8"/>
          <p:cNvSpPr/>
          <p:nvPr/>
        </p:nvSpPr>
        <p:spPr>
          <a:xfrm>
            <a:off x="365760" y="1810512"/>
            <a:ext cx="8412480" cy="749808"/>
          </a:xfrm>
          <a:prstGeom prst="roundRect">
            <a:avLst>
              <a:gd name="adj" fmla="val 12195"/>
            </a:avLst>
          </a:prstGeom>
          <a:solidFill>
            <a:srgbClr val="1E3A5F"/>
          </a:solidFill>
          <a:ln w="6350">
            <a:solidFill>
              <a:srgbClr val="2D5A8E"/>
            </a:solidFill>
            <a:prstDash val="solid"/>
          </a:ln>
        </p:spPr>
        <p:txBody>
          <a:bodyPr/>
          <a:lstStyle/>
          <a:p>
            <a:endParaRPr lang="en-US"/>
          </a:p>
        </p:txBody>
      </p:sp>
      <p:sp>
        <p:nvSpPr>
          <p:cNvPr id="12" name="Shape 9"/>
          <p:cNvSpPr/>
          <p:nvPr/>
        </p:nvSpPr>
        <p:spPr>
          <a:xfrm>
            <a:off x="365760" y="1810512"/>
            <a:ext cx="475488" cy="749808"/>
          </a:xfrm>
          <a:prstGeom prst="roundRect">
            <a:avLst>
              <a:gd name="adj" fmla="val 19231"/>
            </a:avLst>
          </a:prstGeom>
          <a:solidFill>
            <a:srgbClr val="2563EB"/>
          </a:solidFill>
          <a:ln w="12700">
            <a:solidFill>
              <a:srgbClr val="2563EB"/>
            </a:solidFill>
            <a:prstDash val="solid"/>
          </a:ln>
        </p:spPr>
        <p:txBody>
          <a:bodyPr/>
          <a:lstStyle/>
          <a:p>
            <a:endParaRPr lang="en-US"/>
          </a:p>
        </p:txBody>
      </p:sp>
      <p:sp>
        <p:nvSpPr>
          <p:cNvPr id="13" name="Text 10"/>
          <p:cNvSpPr/>
          <p:nvPr/>
        </p:nvSpPr>
        <p:spPr>
          <a:xfrm>
            <a:off x="365760" y="1810512"/>
            <a:ext cx="475488" cy="74980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sp>
        <p:nvSpPr>
          <p:cNvPr id="14" name="Text 11"/>
          <p:cNvSpPr/>
          <p:nvPr/>
        </p:nvSpPr>
        <p:spPr>
          <a:xfrm>
            <a:off x="960120" y="1865376"/>
            <a:ext cx="7680960" cy="256032"/>
          </a:xfrm>
          <a:prstGeom prst="rect">
            <a:avLst/>
          </a:prstGeom>
          <a:noFill/>
          <a:ln/>
        </p:spPr>
        <p:txBody>
          <a:bodyPr wrap="square" lIns="0" tIns="0" rIns="0" bIns="0" rtlCol="0" anchor="ctr"/>
          <a:lstStyle/>
          <a:p>
            <a:pPr marL="0" indent="0" algn="l">
              <a:buNone/>
            </a:pPr>
            <a:r>
              <a:rPr lang="en-US" sz="1100" b="1" dirty="0">
                <a:solidFill>
                  <a:srgbClr val="DBEAFE"/>
                </a:solidFill>
                <a:latin typeface="Cambria" pitchFamily="34" charset="0"/>
                <a:ea typeface="Cambria" pitchFamily="34" charset="-122"/>
                <a:cs typeface="Cambria" pitchFamily="34" charset="-120"/>
              </a:rPr>
              <a:t>Data preparation is decisive</a:t>
            </a:r>
            <a:endParaRPr lang="en-US" sz="1100" dirty="0"/>
          </a:p>
        </p:txBody>
      </p:sp>
      <p:sp>
        <p:nvSpPr>
          <p:cNvPr id="15" name="Text 12"/>
          <p:cNvSpPr/>
          <p:nvPr/>
        </p:nvSpPr>
        <p:spPr>
          <a:xfrm>
            <a:off x="960120" y="2139696"/>
            <a:ext cx="7680960" cy="365760"/>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SMOTE inside CV folds + RobustScaling + 3-sigma capping was the winning combination for this dataset.</a:t>
            </a:r>
            <a:endParaRPr lang="en-US" sz="900" dirty="0"/>
          </a:p>
        </p:txBody>
      </p:sp>
      <p:sp>
        <p:nvSpPr>
          <p:cNvPr id="16" name="Shape 13"/>
          <p:cNvSpPr/>
          <p:nvPr/>
        </p:nvSpPr>
        <p:spPr>
          <a:xfrm>
            <a:off x="365760" y="2615184"/>
            <a:ext cx="8412480" cy="749808"/>
          </a:xfrm>
          <a:prstGeom prst="roundRect">
            <a:avLst>
              <a:gd name="adj" fmla="val 12195"/>
            </a:avLst>
          </a:prstGeom>
          <a:solidFill>
            <a:srgbClr val="1E3A5F"/>
          </a:solidFill>
          <a:ln w="6350">
            <a:solidFill>
              <a:srgbClr val="2D5A8E"/>
            </a:solidFill>
            <a:prstDash val="solid"/>
          </a:ln>
        </p:spPr>
        <p:txBody>
          <a:bodyPr/>
          <a:lstStyle/>
          <a:p>
            <a:endParaRPr lang="en-US"/>
          </a:p>
        </p:txBody>
      </p:sp>
      <p:sp>
        <p:nvSpPr>
          <p:cNvPr id="17" name="Shape 14"/>
          <p:cNvSpPr/>
          <p:nvPr/>
        </p:nvSpPr>
        <p:spPr>
          <a:xfrm>
            <a:off x="365760" y="2615184"/>
            <a:ext cx="475488" cy="749808"/>
          </a:xfrm>
          <a:prstGeom prst="roundRect">
            <a:avLst>
              <a:gd name="adj" fmla="val 19231"/>
            </a:avLst>
          </a:prstGeom>
          <a:solidFill>
            <a:srgbClr val="2563EB"/>
          </a:solidFill>
          <a:ln w="12700">
            <a:solidFill>
              <a:srgbClr val="2563EB"/>
            </a:solidFill>
            <a:prstDash val="solid"/>
          </a:ln>
        </p:spPr>
        <p:txBody>
          <a:bodyPr/>
          <a:lstStyle/>
          <a:p>
            <a:endParaRPr lang="en-US"/>
          </a:p>
        </p:txBody>
      </p:sp>
      <p:sp>
        <p:nvSpPr>
          <p:cNvPr id="18" name="Text 15"/>
          <p:cNvSpPr/>
          <p:nvPr/>
        </p:nvSpPr>
        <p:spPr>
          <a:xfrm>
            <a:off x="365760" y="2615184"/>
            <a:ext cx="475488" cy="74980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sp>
        <p:nvSpPr>
          <p:cNvPr id="19" name="Text 16"/>
          <p:cNvSpPr/>
          <p:nvPr/>
        </p:nvSpPr>
        <p:spPr>
          <a:xfrm>
            <a:off x="960120" y="2670048"/>
            <a:ext cx="7680960" cy="256032"/>
          </a:xfrm>
          <a:prstGeom prst="rect">
            <a:avLst/>
          </a:prstGeom>
          <a:noFill/>
          <a:ln/>
        </p:spPr>
        <p:txBody>
          <a:bodyPr wrap="square" lIns="0" tIns="0" rIns="0" bIns="0" rtlCol="0" anchor="ctr"/>
          <a:lstStyle/>
          <a:p>
            <a:pPr marL="0" indent="0" algn="l">
              <a:buNone/>
            </a:pPr>
            <a:r>
              <a:rPr lang="en-US" sz="1100" b="1" dirty="0">
                <a:solidFill>
                  <a:srgbClr val="DBEAFE"/>
                </a:solidFill>
                <a:latin typeface="Cambria" pitchFamily="34" charset="0"/>
                <a:ea typeface="Cambria" pitchFamily="34" charset="-122"/>
                <a:cs typeface="Cambria" pitchFamily="34" charset="-120"/>
              </a:rPr>
              <a:t>Random Forest wins on the test set</a:t>
            </a:r>
            <a:endParaRPr lang="en-US" sz="1100" dirty="0"/>
          </a:p>
        </p:txBody>
      </p:sp>
      <p:sp>
        <p:nvSpPr>
          <p:cNvPr id="20" name="Text 17"/>
          <p:cNvSpPr/>
          <p:nvPr/>
        </p:nvSpPr>
        <p:spPr>
          <a:xfrm>
            <a:off x="960120" y="2944368"/>
            <a:ext cx="7680960" cy="365760"/>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Random Forest leads on Precision (84.1%), F1 (80.9%) and PR-AUC (0.820) on held-out test data; XGBoost leads only on Recall (85.3%).</a:t>
            </a:r>
            <a:endParaRPr lang="en-US" sz="900" dirty="0"/>
          </a:p>
        </p:txBody>
      </p:sp>
      <p:sp>
        <p:nvSpPr>
          <p:cNvPr id="21" name="Shape 18"/>
          <p:cNvSpPr/>
          <p:nvPr/>
        </p:nvSpPr>
        <p:spPr>
          <a:xfrm>
            <a:off x="365760" y="3419856"/>
            <a:ext cx="8412480" cy="749808"/>
          </a:xfrm>
          <a:prstGeom prst="roundRect">
            <a:avLst>
              <a:gd name="adj" fmla="val 12195"/>
            </a:avLst>
          </a:prstGeom>
          <a:solidFill>
            <a:srgbClr val="1E3A5F"/>
          </a:solidFill>
          <a:ln w="6350">
            <a:solidFill>
              <a:srgbClr val="2D5A8E"/>
            </a:solidFill>
            <a:prstDash val="solid"/>
          </a:ln>
        </p:spPr>
        <p:txBody>
          <a:bodyPr/>
          <a:lstStyle/>
          <a:p>
            <a:endParaRPr lang="en-US"/>
          </a:p>
        </p:txBody>
      </p:sp>
      <p:sp>
        <p:nvSpPr>
          <p:cNvPr id="22" name="Shape 19"/>
          <p:cNvSpPr/>
          <p:nvPr/>
        </p:nvSpPr>
        <p:spPr>
          <a:xfrm>
            <a:off x="365760" y="3419856"/>
            <a:ext cx="475488" cy="749808"/>
          </a:xfrm>
          <a:prstGeom prst="roundRect">
            <a:avLst>
              <a:gd name="adj" fmla="val 19231"/>
            </a:avLst>
          </a:prstGeom>
          <a:solidFill>
            <a:srgbClr val="2563EB"/>
          </a:solidFill>
          <a:ln w="12700">
            <a:solidFill>
              <a:srgbClr val="2563EB"/>
            </a:solidFill>
            <a:prstDash val="solid"/>
          </a:ln>
        </p:spPr>
        <p:txBody>
          <a:bodyPr/>
          <a:lstStyle/>
          <a:p>
            <a:endParaRPr lang="en-US"/>
          </a:p>
        </p:txBody>
      </p:sp>
      <p:sp>
        <p:nvSpPr>
          <p:cNvPr id="23" name="Text 20"/>
          <p:cNvSpPr/>
          <p:nvPr/>
        </p:nvSpPr>
        <p:spPr>
          <a:xfrm>
            <a:off x="365760" y="3419856"/>
            <a:ext cx="475488" cy="74980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04</a:t>
            </a:r>
            <a:endParaRPr lang="en-US" sz="1100" dirty="0"/>
          </a:p>
        </p:txBody>
      </p:sp>
      <p:sp>
        <p:nvSpPr>
          <p:cNvPr id="24" name="Text 21"/>
          <p:cNvSpPr/>
          <p:nvPr/>
        </p:nvSpPr>
        <p:spPr>
          <a:xfrm>
            <a:off x="960120" y="3474720"/>
            <a:ext cx="7680960" cy="256032"/>
          </a:xfrm>
          <a:prstGeom prst="rect">
            <a:avLst/>
          </a:prstGeom>
          <a:noFill/>
          <a:ln/>
        </p:spPr>
        <p:txBody>
          <a:bodyPr wrap="square" lIns="0" tIns="0" rIns="0" bIns="0" rtlCol="0" anchor="ctr"/>
          <a:lstStyle/>
          <a:p>
            <a:pPr marL="0" indent="0" algn="l">
              <a:buNone/>
            </a:pPr>
            <a:r>
              <a:rPr lang="en-US" sz="1100" b="1" dirty="0">
                <a:solidFill>
                  <a:srgbClr val="DBEAFE"/>
                </a:solidFill>
                <a:latin typeface="Cambria" pitchFamily="34" charset="0"/>
                <a:ea typeface="Cambria" pitchFamily="34" charset="-122"/>
                <a:cs typeface="Cambria" pitchFamily="34" charset="-120"/>
              </a:rPr>
              <a:t>Stability validates generalisation</a:t>
            </a:r>
            <a:endParaRPr lang="en-US" sz="1100" dirty="0"/>
          </a:p>
        </p:txBody>
      </p:sp>
      <p:sp>
        <p:nvSpPr>
          <p:cNvPr id="25" name="Text 22"/>
          <p:cNvSpPr/>
          <p:nvPr/>
        </p:nvSpPr>
        <p:spPr>
          <a:xfrm>
            <a:off x="960120" y="3749040"/>
            <a:ext cx="7680960" cy="365760"/>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Low cross-validation std (&lt;0.021 PR-AUC) for tree-based models confirms they will perform reliably on new production data.</a:t>
            </a:r>
            <a:endParaRPr lang="en-US" sz="900" dirty="0"/>
          </a:p>
        </p:txBody>
      </p:sp>
      <p:sp>
        <p:nvSpPr>
          <p:cNvPr id="26" name="Shape 23"/>
          <p:cNvSpPr/>
          <p:nvPr/>
        </p:nvSpPr>
        <p:spPr>
          <a:xfrm>
            <a:off x="365760" y="4224528"/>
            <a:ext cx="8412480" cy="749808"/>
          </a:xfrm>
          <a:prstGeom prst="roundRect">
            <a:avLst>
              <a:gd name="adj" fmla="val 12195"/>
            </a:avLst>
          </a:prstGeom>
          <a:solidFill>
            <a:srgbClr val="1E3A5F"/>
          </a:solidFill>
          <a:ln w="6350">
            <a:solidFill>
              <a:srgbClr val="2D5A8E"/>
            </a:solidFill>
            <a:prstDash val="solid"/>
          </a:ln>
        </p:spPr>
        <p:txBody>
          <a:bodyPr/>
          <a:lstStyle/>
          <a:p>
            <a:endParaRPr lang="en-US"/>
          </a:p>
        </p:txBody>
      </p:sp>
      <p:sp>
        <p:nvSpPr>
          <p:cNvPr id="27" name="Shape 24"/>
          <p:cNvSpPr/>
          <p:nvPr/>
        </p:nvSpPr>
        <p:spPr>
          <a:xfrm>
            <a:off x="365760" y="4224528"/>
            <a:ext cx="475488" cy="749808"/>
          </a:xfrm>
          <a:prstGeom prst="roundRect">
            <a:avLst>
              <a:gd name="adj" fmla="val 19231"/>
            </a:avLst>
          </a:prstGeom>
          <a:solidFill>
            <a:srgbClr val="2563EB"/>
          </a:solidFill>
          <a:ln w="12700">
            <a:solidFill>
              <a:srgbClr val="2563EB"/>
            </a:solidFill>
            <a:prstDash val="solid"/>
          </a:ln>
        </p:spPr>
        <p:txBody>
          <a:bodyPr/>
          <a:lstStyle/>
          <a:p>
            <a:endParaRPr lang="en-US"/>
          </a:p>
        </p:txBody>
      </p:sp>
      <p:sp>
        <p:nvSpPr>
          <p:cNvPr id="28" name="Text 25"/>
          <p:cNvSpPr/>
          <p:nvPr/>
        </p:nvSpPr>
        <p:spPr>
          <a:xfrm>
            <a:off x="365760" y="4224528"/>
            <a:ext cx="475488" cy="74980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05</a:t>
            </a:r>
            <a:endParaRPr lang="en-US" sz="1100" dirty="0"/>
          </a:p>
        </p:txBody>
      </p:sp>
      <p:sp>
        <p:nvSpPr>
          <p:cNvPr id="29" name="Text 26"/>
          <p:cNvSpPr/>
          <p:nvPr/>
        </p:nvSpPr>
        <p:spPr>
          <a:xfrm>
            <a:off x="960120" y="4279392"/>
            <a:ext cx="7680960" cy="256032"/>
          </a:xfrm>
          <a:prstGeom prst="rect">
            <a:avLst/>
          </a:prstGeom>
          <a:noFill/>
          <a:ln/>
        </p:spPr>
        <p:txBody>
          <a:bodyPr wrap="square" lIns="0" tIns="0" rIns="0" bIns="0" rtlCol="0" anchor="ctr"/>
          <a:lstStyle/>
          <a:p>
            <a:pPr marL="0" indent="0" algn="l">
              <a:buNone/>
            </a:pPr>
            <a:r>
              <a:rPr lang="en-US" sz="1100" b="1" dirty="0">
                <a:solidFill>
                  <a:srgbClr val="DBEAFE"/>
                </a:solidFill>
                <a:latin typeface="Cambria" pitchFamily="34" charset="0"/>
                <a:ea typeface="Cambria" pitchFamily="34" charset="-122"/>
                <a:cs typeface="Cambria" pitchFamily="34" charset="-120"/>
              </a:rPr>
              <a:t>CRISP-DM keeps decisions justified</a:t>
            </a:r>
            <a:endParaRPr lang="en-US" sz="1100" dirty="0"/>
          </a:p>
        </p:txBody>
      </p:sp>
      <p:sp>
        <p:nvSpPr>
          <p:cNvPr id="30" name="Text 27"/>
          <p:cNvSpPr/>
          <p:nvPr/>
        </p:nvSpPr>
        <p:spPr>
          <a:xfrm>
            <a:off x="960120" y="4553712"/>
            <a:ext cx="7680960" cy="365760"/>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Every preprocessing, modelling, and evaluation choice traces back to a business or statistical rationale.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7863840" y="4800600"/>
            <a:ext cx="1097280" cy="246888"/>
          </a:xfrm>
          <a:prstGeom prst="roundRect">
            <a:avLst>
              <a:gd name="adj" fmla="val 14815"/>
            </a:avLst>
          </a:prstGeom>
          <a:solidFill>
            <a:srgbClr val="1A3A5C"/>
          </a:solidFill>
          <a:ln w="12700">
            <a:solidFill>
              <a:srgbClr val="1A3A5C"/>
            </a:solidFill>
            <a:prstDash val="solid"/>
          </a:ln>
        </p:spPr>
        <p:txBody>
          <a:bodyPr/>
          <a:lstStyle/>
          <a:p>
            <a:endParaRPr lang="en-US"/>
          </a:p>
        </p:txBody>
      </p:sp>
      <p:sp>
        <p:nvSpPr>
          <p:cNvPr id="4" name="Shape 2"/>
          <p:cNvSpPr/>
          <p:nvPr/>
        </p:nvSpPr>
        <p:spPr>
          <a:xfrm>
            <a:off x="0" y="0"/>
            <a:ext cx="411480" cy="5143500"/>
          </a:xfrm>
          <a:prstGeom prst="rect">
            <a:avLst/>
          </a:prstGeom>
          <a:solidFill>
            <a:srgbClr val="2563EB"/>
          </a:solidFill>
          <a:ln w="12700">
            <a:solidFill>
              <a:srgbClr val="2563EB"/>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85800" y="502920"/>
            <a:ext cx="914400" cy="914400"/>
          </a:xfrm>
          <a:prstGeom prst="rect">
            <a:avLst/>
          </a:prstGeom>
        </p:spPr>
      </p:pic>
      <p:sp>
        <p:nvSpPr>
          <p:cNvPr id="6" name="Text 3"/>
          <p:cNvSpPr/>
          <p:nvPr/>
        </p:nvSpPr>
        <p:spPr>
          <a:xfrm>
            <a:off x="685800" y="1508760"/>
            <a:ext cx="7955280" cy="731520"/>
          </a:xfrm>
          <a:prstGeom prst="rect">
            <a:avLst/>
          </a:prstGeom>
          <a:noFill/>
          <a:ln/>
        </p:spPr>
        <p:txBody>
          <a:bodyPr wrap="square" lIns="0" tIns="0" rIns="0" bIns="0" rtlCol="0" anchor="ctr"/>
          <a:lstStyle/>
          <a:p>
            <a:pPr marL="0" indent="0" algn="l">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7" name="Text 4"/>
          <p:cNvSpPr/>
          <p:nvPr/>
        </p:nvSpPr>
        <p:spPr>
          <a:xfrm>
            <a:off x="685800" y="2240280"/>
            <a:ext cx="7955280" cy="384048"/>
          </a:xfrm>
          <a:prstGeom prst="rect">
            <a:avLst/>
          </a:prstGeom>
          <a:noFill/>
          <a:ln/>
        </p:spPr>
        <p:txBody>
          <a:bodyPr wrap="square" lIns="0" tIns="0" rIns="0" bIns="0" rtlCol="0" anchor="ctr"/>
          <a:lstStyle/>
          <a:p>
            <a:pPr marL="0" indent="0" algn="l">
              <a:buNone/>
            </a:pPr>
            <a:r>
              <a:rPr lang="en-US" sz="2000" dirty="0">
                <a:solidFill>
                  <a:srgbClr val="93C5FD"/>
                </a:solidFill>
                <a:latin typeface="Calibri" pitchFamily="34" charset="0"/>
                <a:ea typeface="Calibri" pitchFamily="34" charset="-122"/>
                <a:cs typeface="Calibri" pitchFamily="34" charset="-120"/>
              </a:rPr>
              <a:t>Questions &amp; Discussion</a:t>
            </a:r>
            <a:endParaRPr lang="en-US" sz="2000" dirty="0"/>
          </a:p>
        </p:txBody>
      </p:sp>
      <p:sp>
        <p:nvSpPr>
          <p:cNvPr id="8" name="Shape 5"/>
          <p:cNvSpPr/>
          <p:nvPr/>
        </p:nvSpPr>
        <p:spPr>
          <a:xfrm>
            <a:off x="685800" y="2743200"/>
            <a:ext cx="4572000" cy="36576"/>
          </a:xfrm>
          <a:prstGeom prst="rect">
            <a:avLst/>
          </a:prstGeom>
          <a:solidFill>
            <a:srgbClr val="3B82F6"/>
          </a:solidFill>
          <a:ln w="12700">
            <a:solidFill>
              <a:srgbClr val="3B82F6"/>
            </a:solidFill>
            <a:prstDash val="solid"/>
          </a:ln>
        </p:spPr>
        <p:txBody>
          <a:bodyPr/>
          <a:lstStyle/>
          <a:p>
            <a:endParaRPr lang="en-US"/>
          </a:p>
        </p:txBody>
      </p:sp>
      <p:sp>
        <p:nvSpPr>
          <p:cNvPr id="17" name="Text 14"/>
          <p:cNvSpPr/>
          <p:nvPr/>
        </p:nvSpPr>
        <p:spPr>
          <a:xfrm>
            <a:off x="685800" y="4480560"/>
            <a:ext cx="7772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MPMD2.2 — Data Mining for Business  ·  HTW Berlin  </a:t>
            </a:r>
            <a:r>
              <a:rPr lang="en-US" sz="900">
                <a:solidFill>
                  <a:srgbClr val="94A3B8"/>
                </a:solidFill>
                <a:latin typeface="Calibri" pitchFamily="34" charset="0"/>
                <a:ea typeface="Calibri" pitchFamily="34" charset="-122"/>
                <a:cs typeface="Calibri" pitchFamily="34" charset="-120"/>
              </a:rPr>
              <a:t>·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872</TotalTime>
  <Words>4038</Words>
  <Application>Microsoft Office PowerPoint</Application>
  <PresentationFormat>On-screen Show (16:9)</PresentationFormat>
  <Paragraphs>368</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 with CRISP-DM</dc:title>
  <dc:subject>PptxGenJS Presentation</dc:subject>
  <dc:creator>HTW Berlin — MPMD2.2</dc:creator>
  <cp:lastModifiedBy>Ngoc Duong</cp:lastModifiedBy>
  <cp:revision>11</cp:revision>
  <dcterms:created xsi:type="dcterms:W3CDTF">2026-06-29T18:57:39Z</dcterms:created>
  <dcterms:modified xsi:type="dcterms:W3CDTF">2026-07-09T09:45:07Z</dcterms:modified>
</cp:coreProperties>
</file>